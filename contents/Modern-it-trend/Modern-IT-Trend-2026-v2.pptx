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1645920"/>
            <a:ext cx="23774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2026 EDITION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모던 IT 트렌드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클라우드와 AI가 바꾸는 우리의 미래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74904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NXT Cloud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Technical Training Team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대학생  •  교수  •  교직원  •  공공기관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IT 인프라의 진화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PC 시대부터 AI 시대까지, 40년의 여정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23160"/>
            <a:ext cx="320040" cy="3200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8288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🖥️ PC 시대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1980s~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개인용 컴퓨터 보급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데스크탑 중심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423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280160"/>
            <a:ext cx="2011680" cy="10058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🏢 온프레미스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1990s-2000s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자체 서버실 운영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높은 초기 비용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1280160"/>
            <a:ext cx="2011680" cy="10058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☁️ 클라우드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2006~ AWS 시작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필요한 만큼 빌려 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스케일 업/다운 자유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42316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1280160"/>
            <a:ext cx="2194560" cy="100584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🤖 AI + 클라우드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2020s~ 현재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서비스 기본 탑재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에이전트 시대 개막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743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1980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2743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743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4023360" cy="13716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🔙 과거: 온프레미스 시대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서버 구매에 수억원 투자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설치까지 3~6개월 소요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예측 불가한 트래픽 대응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IT팀 = 하드웨어 관리자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4023360" cy="13716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✨ 현재: 클라우드 + AI 시대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657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클릭 몇 번으로 서버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5분 만에 글로벌 배포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자동 확장/축소 (Auto-scaling)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IT팀 = AI 서비스 아키텍트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AI vs Human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우리가 기억하는 인간과 AI의 대결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1997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체스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43000" y="3547872"/>
            <a:ext cx="128016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3474720"/>
            <a:ext cx="182880" cy="1828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퀴즈쇼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547872"/>
            <a:ext cx="128016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47472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바둑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3547872"/>
            <a:ext cx="128016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347472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코딩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3547872"/>
            <a:ext cx="128016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347472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???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1997: 체스의 종말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IBM Deep Blue vs 세계 챔피언 카스파로프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029200" cy="27432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대결 결과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194560" cy="73152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1996년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4:2 인간 승리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920240"/>
            <a:ext cx="2194560" cy="73152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1997년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3.5:2.5 AI 승리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그 이후...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인간이 거의 경쟁하지 않음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AI가 너무 강해짐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371600"/>
            <a:ext cx="3108960" cy="274320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💡 의미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컴퓨터가 인간을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이길 수 있다는 것을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최초로 증명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2011680" cy="27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"계산" 영역의 정복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2011: 퀴즈쇼의 충격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IBM Watson vs Jeopardy! 역대 최강자들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20116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🤖 Watson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IBM 개발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AI 슈퍼컴퓨터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$77,147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VS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2286000" cy="20116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👤 Ken Jennings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1920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74연승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역대 최다 우승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2651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$24,000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286000" cy="20116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👤 Brad Rutter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최고 상금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역대 상금왕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$21,600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10058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결과: 승부가 안 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"개빠름, 너무 많은 걸 알고 있음"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인간에게 하는 질문과 같은 형식을 이해하고 답변 → 이게 2011년 상황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"지식 검색 + 추론" 영역 정복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2016: 바둑, 신의 영역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AlphaGo vs 이세돌 9단 - 세기의 대국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206240" cy="27432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알파고의 37수 (Move 37)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김성룡 9단: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"지금 어디에 뒀죠?"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이희성 9단: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"충격적인 자리에 뒀어요.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이 수는 조금 이상하다고 해야 되는 것 아닌가요?"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최유진 아나운서: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"없는 수예요. 프로의 감각에서는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생각하기조차도 힘든 수가 나왔습니다."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274320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이세돌의 78수 - 신의 한 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이세돌 피셜: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"1,2,3국 안 되더라.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뒤에 가면 할 수 있는 게 없고,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앞에는 경우의 수가 너무 많다.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따라서 50~100수 사이를 노린다.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이 사이에서 오로지 저 녀석을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혼란시킬 수를 둔다.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되네, 성공했네.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근데 이미 3:1..."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4206240"/>
            <a:ext cx="2743200" cy="457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최종 결과: 4:1 AI 승리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2024-2025: 코딩의 시대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AI가 프로그래머를 위협하다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82880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2024년 12월: OpenAI o3 모델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Codeforces 전세계 175위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상위 0.2% 그랜드마스터 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99.8 퍼센타일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(99.9%의 사용자를 능가)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114800" cy="18288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2025년 7월: AtCoder World Tour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🥇 1등: Psyho (슬로베니아)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🥈 2등: OpenAI AHC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인간이 아직 이겼다!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...단 한 명.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841248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🏆 우승자 Psyho의 메시지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"인류가 승리했습니다 (현재로서는).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나는 죽을 것 같지만요.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인간이 이기려면 3일 동안 거의 잠도 못 자고 사투를 벌여야 하는 상황이 온 거예요."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체스, 퀴즈, 바둑, 코딩에서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시작된 변화가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219456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이제 모든 곳으로 퍼집니다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글쓰기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디자인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분석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0332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연구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비즈니스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0644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의료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법률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3291840"/>
            <a:ext cx="9144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0956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교육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AI는 특정 분야의 이야기가 아닙니다. 모든 분야의 이야기입니다.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시대의 인간의 역할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질문을 바꿔야 할 때입니다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인간 vs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경쟁과 대립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</a:rPr>
              <a:t>"AI를 어떻게 이길 것인가?"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계속 AI와 경쟁해야 할까요?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밤잠을 설쳐가며 AI를 이기려고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노력해야 할까요?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900000">
            <a:off x="731520" y="1645920"/>
            <a:ext cx="3383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2560320"/>
          </a:xfrm>
          <a:prstGeom prst="roundRect">
            <a:avLst/>
          </a:prstGeom>
          <a:solidFill>
            <a:srgbClr val="D1FAE5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인간 + AI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협력과 상생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</a:rPr>
              <a:t>"AI를 어떻게 활용할 것인가?"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AI와 함께 일하며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더 큰 가치를 만들어내는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새로운 시대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✓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640080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더 이상 '인간 vs AI'가 아니라 '인간 + AI'의 시대입니다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왜 여러분에게 중요한가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모든 분야에서 AI와 클라우드 활용 능력이 필수가 됩니다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26517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대학생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AI를 활용하는 인재가 취업 시장에서 경쟁력을 갖습니다.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2011680" cy="26517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교수/연구자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연구 가설 검증, 데이터 분석, 논문 작성까지 AI가 혁신합니다.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26517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교직원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반복적인 행정 업무를 자동화하고, 가치 있는 업무에 집중합니다.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371600"/>
            <a:ext cx="2011680" cy="26517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37160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866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공공기관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468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정책 시뮬레이션, 민원 처리 자동화, 데이터 기반 의사결정.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4251960"/>
            <a:ext cx="6400800" cy="4572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251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공통점: AI를 도구로 활용하는 능력이 핵심 역량이 됩니다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그래서, 우리는 무엇을 해야 하는가?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28016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☁️ 클라우드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빠르게 시작하고, 실패 시 데미지를 줄이고,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인터넷이 연결된 모든 곳을 시장으로 삼게 해줌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</a:rPr>
              <a:t>+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28016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🤖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단순 '개발'을 넘어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무엇인가를 '구현'하는 것을 가능하게 해줌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6400800" cy="4572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 둘을 합쳐서 사용해야 성과를 낼 수 있습니다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697480" cy="1554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전문 도메인 확보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무엇을 만들지 정하기 위해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관심사와 전문 영역을 개발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063240"/>
            <a:ext cx="2697480" cy="1554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31546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팀 리더가 되기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AI를 활용하고 관리하며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결과물을 만들어내는 매니저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697480" cy="1554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1546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서비스 운영 경험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977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클라우드 배포와 유지보수로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실제 사용자가 있는 서비스 운영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</a:rPr>
              <a:t>💡 내 컴퓨터 안에서 단순 구현만으로는 성과를 내기 어렵습니다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클라우드의 진화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인프라 혁명의 역사와 현재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클라우드 이전: 온프레미스 시대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직접 서버를 사고, 설치하고, 관리하던 시절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막대한 초기 비용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서버 1대에 수천만원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데이터센터 구축에 수십억원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201168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37160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긴 준비 시간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서버 주문부터 설치까지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3~6개월 소요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확장의 어려움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514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트래픽 급증 시 대응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사전 예측 필수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371600"/>
            <a:ext cx="201168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1371600"/>
            <a:ext cx="20116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866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유지보수 부담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514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24/7 관리 인력 필요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IT팀 = 하드웨어 관리자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4114800"/>
            <a:ext cx="6400800" cy="54864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"서버가 터졌어요!" → 긴급 하드웨어 구매 → 3개월 후 도착 → 이미 늦음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2006년: AWS의 탄생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"필요한 만큼만 빌려 쓴다" - 클라우드 혁명의 시작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7373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2006.03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331720"/>
            <a:ext cx="155448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S3 출시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무제한 스토리지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2006.08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331720"/>
            <a:ext cx="155448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EC2 출시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가상 서버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7373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2009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331720"/>
            <a:ext cx="155448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RDS 출시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관리형 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73736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2014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331720"/>
            <a:ext cx="155448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Lambda 출시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서버리스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18872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💡 핵심 변화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서버 구매 → 클릭 몇 번으로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3개월 대기 → 5분 만에 전 세계 배포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고정 비용 → 사용한 만큼만 지불 (Pay-as-you-go)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사례 1: Netflix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DVD 대여점에서 글로벌 스트리밍 제국으로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210312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73152" cy="2103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❌ 2008년: 데이터센터 장애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3일간 DVD 배송 중단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수백만 달러 손실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고객 신뢰도 하락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"다시는 이런 일 없도록"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210312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2016년: 100% AWS 전환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전 세계 2억+ 구독자 서비스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190개국 동시 스트리밍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99.99% 가동률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트래픽 폭증에도 자동 대응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274320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2억+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글로벌 구독자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657600"/>
            <a:ext cx="274320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190개국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서비스 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657600"/>
            <a:ext cx="274320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350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전세계 인터넷 트래픽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사례 2: Spotify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5억 사용자의 개인화된 음악 경험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1억+ 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실시간 스트리밍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201168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37160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5억+ 사용자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전 세계 동시 접속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AI 추천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개인 맞춤 플레이리스트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371600"/>
            <a:ext cx="201168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137160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8660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30ms 응답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즉각적인 재생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1371600"/>
          </a:xfrm>
          <a:prstGeom prst="roundRect">
            <a:avLst/>
          </a:prstGeom>
          <a:solidFill>
            <a:srgbClr val="1DB95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GCP (Google Cloud Platform) 활용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F9D8"/>
                </a:solidFill>
              </a:rPr>
              <a:t>• BigQuery: 페타바이트급 데이터 분석으로 "Discover Weekly" 추천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3F9D8"/>
                </a:solidFill>
              </a:rPr>
              <a:t>• Dataflow: 실시간 스트리밍 데이터 처리 (사용자 행동 분석)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3F9D8"/>
                </a:solidFill>
              </a:rPr>
              <a:t>• GKE: 마이크로서비스 800개 이상 운영, 초당 수백만 요청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클라우드의 3대 이점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왜 모든 기업이 클라우드로 이동하는가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10896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비용 효율성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초기 투자 없음 (CAPEX → OPEX)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사용한 만큼만 지불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유휴 자원 비용 제거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743200" cy="31089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확장성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트래픽 폭증 시 자동 확장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글로벌 배포 수 분 내 완료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수요 감소 시 자동 축소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743200" cy="310896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속도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인프라 구축 수 분 완료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새 기능 빠른 출시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실험과 혁신 가속화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클라우드 서비스 모델의 진화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관리 범위에 따른 서비스 분류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76809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관리 부담 감소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320040" cy="3200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68880"/>
            <a:ext cx="2011680" cy="21031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IaaS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Infrastructure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 a Service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46304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AWS EC2, Azure VM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가상 서버 제공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사용자가 OS부터 관리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9659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2468880"/>
            <a:ext cx="2011680" cy="21031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PaaS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 a Service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3383280"/>
            <a:ext cx="146304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Heroku, AWS Elastic Beanstalk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개발 플랫폼 제공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코드만 배포하면 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965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468880"/>
            <a:ext cx="2011680" cy="21031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SaaS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Software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 a Service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3383280"/>
            <a:ext cx="146304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Gmail, Salesforce, Slack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완성된 서비스 제공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그냥 사용만 하면 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196596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2468880"/>
            <a:ext cx="2011680" cy="21031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AIaaS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408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 a 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3383280"/>
            <a:ext cx="1463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ChatGPT API, AWS Bedrock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AI 기능 API 제공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AI 전문가 없이도 AI 구현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한국의 클라우드 현황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정부와 기업의 클라우드 전환 가속화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8288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🏛️ 정부/공공기관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공공기관 클라우드 전환 의무화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행정안전부 G-클라우드 추진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교육부 에듀테크 클라우드 확대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마이데이터 사업 본격화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182880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🏢 기업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네이버 클라우드, 카카오 클라우드 성장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삼성 SDS, LG CNS 클라우드 사업 확대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금융권 클라우드 규제 완화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스타트업 90%+ 클라우드 네이티브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841248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🇰🇷 국내 클라우드 시장 규모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2024년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10조원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2028년 (예상)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20조원+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연평균 성장률 20%+ | 금융, 헬스케어, 제조 분야 급성장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Section 1 핵심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클라우드 = 모든 혁신의 기반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🔄  온프레미스 → 클라우드: 소유에서 구독으로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🚀  Netflix, Spotify: 클라우드 없이는 불가능했던 서비스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💡  IaaS → PaaS → SaaS → AIaaS: 점점 쉬워지는 기술 활용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🇰🇷  한국: 정부/기업 모두 클라우드 전환 가속화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B5FD"/>
                </a:solidFill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AI의 도전장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B5FD"/>
                </a:solidFill>
              </a:rPr>
              <a:t>게임에서 업무로, 경쟁에서 협력으로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발전의 역사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70년간의 여정, 그리고 폭발적 성장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92808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1956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3716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탄생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다트머스 회의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89280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1997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2286000"/>
            <a:ext cx="13716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딥블루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체스 챔피언 격파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8928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2011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286000"/>
            <a:ext cx="13716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왓슨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제퍼디 우승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89280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2016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2286000"/>
            <a:ext cx="13716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알파고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바둑 정복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1892808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2022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2286000"/>
            <a:ext cx="1371600" cy="10058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ChatGPT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대중화 시작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💡 핵심 인사이트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60년간 '게임'에서 AI를 테스트 → 2022년부터 '실제 업무'로 전환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이제 AI는 실험실이 아닌 우리 책상 위에 있습니다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2022년 11월: ChatGPT의 등장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역사상 가장 빠르게 성장한 서비스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Netflix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5715000" cy="54864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371600"/>
            <a:ext cx="5715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83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1억 명 달성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Facebook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148840"/>
            <a:ext cx="411480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4.5년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1억 명 달성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Instagram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926080"/>
            <a:ext cx="2743200" cy="54864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2.5년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1억 명 달성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ChatGPT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0" y="3703320"/>
            <a:ext cx="685800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703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2개월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1억 명 달성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65176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1.8억+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주간 활성 사용자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749040"/>
            <a:ext cx="265176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$100B+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4612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OpenAI 기업가치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749040"/>
            <a:ext cx="265176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3504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Fortune 500 도입률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LLM은 어떻게 작동하는가?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복잡한 기술, 단순한 원리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0116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토큰화 (Tokenization)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문장을 작은 조각으로 분해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"안녕하세요" → [안녕, 하세요]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743200" cy="20116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컨텍스트 윈도우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한 번에 처리할 수 있는 텍스트 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GPT-4: 128K 토큰 (책 1권 분량)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20116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확률 기반 예측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다음에 올 단어를 확률로 예측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"오늘 날씨가" → "좋다" (78%)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🤔 쉽게 말하면?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LLM = "엄청나게 많은 책을 읽고, 문맥을 이해하며, 다음에 올 말을 예측하는 시스템"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단순한 예측이지만, 규모가 커지면 '이해'처럼 보이는 능력이 생깁니다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활용의 3단계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여러분은 어느 단계에 있나요?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73152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성장 방향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Lv.1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743200" cy="169164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도구로 사용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ChatGPT에게 질문하기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번역, 요약, 아이디어 요청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23774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"이 이메일 영어로 번역해줘"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Lv.2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017520"/>
            <a:ext cx="2743200" cy="16916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원리 이해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프롬프트 엔지니어링 학습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효과적인 지시 방법 습득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4160520"/>
            <a:ext cx="23774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"역할-맥락-형식을 구조화"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24688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Lv.3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2743200" cy="169164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직접 구축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AI 에이전트 설계 및 구현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API 연동, 자동화 워크플로우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160520"/>
            <a:ext cx="23774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"AI 기반 업무 자동화 시스템"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기업은 AI를 어떻게 활용하는가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실제 비즈니스 적용 영역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고객 경험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 챗봇/상담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개인화 추천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음성 비서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280160"/>
            <a:ext cx="20574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2801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17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생산성 향상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문서 자동 작성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코드 생성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데이터 분석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20574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2801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5488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의사결정 지원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시장 분석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위험 예측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전략 제안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280160"/>
            <a:ext cx="20574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2801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417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4944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운영 최적화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품질 검사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재고 관리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일정 최적화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8229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McKinsey 2024: AI 도입 기업의 생산성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평균 40% 향상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| 도입률 72%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"AI를 도입하지 않는 것이 더 큰 리스크가 되는 시대"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사례: 두산의 생성형 AI 혁신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제조업에서의 AI 활용 사례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4630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🏭 두산그룹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에너지, 인프라, 로봇 등 사업 영역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전통 제조업 → AI 기반 디지털 전환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2024년 그룹 전체 AI 도입 선언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114800" cy="14630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AI 적용 분야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• 기술 문서 자동 번역/생성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• 설계 도면 분석 및 오류 검출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• 고객 문의 자동 응대 시스템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💡 도입 효과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2743200" cy="12801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문서 작업 시간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8시간 → 30분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82880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93% 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291840"/>
            <a:ext cx="2743200" cy="12801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번역 비용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건당 10만원 → 건당 1천원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4069080"/>
            <a:ext cx="1828800" cy="36576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99%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2743200" cy="12801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고객 응대 속도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평균 2일 → 실시간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069080"/>
            <a:ext cx="1828800" cy="36576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즉시 대응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에이전트란?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단순 챗봇을 넘어, 자율적으로 작업하는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73152" cy="1828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💬 일반 AI (ChatGPT)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질문하면 답변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한 번에 하나의 작업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사용자가 모든 것을 지시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결과물 직접 확인/수정 필요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114800" cy="182880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73152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🤖 AI 에이전트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목표를 주면 스스로 계획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여러 작업을 순차적/병렬 실행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도구(Tool) 활용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스스로 검증하고 수정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8412480" cy="12344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📋 예시: "다음 주 회의 준비해줘"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일반 AI: "회의 준비 체크리스트를 알려드릴게요..." (텍스트만 제공)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AI 에이전트: 캘린더 확인 → 참석자에게 메일 발송 → 회의실 예약 → 아젠다 문서 생성 → 슬랙 알림 (실제 실행)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MCP: AI와 세상을 연결하는 표준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Model Context Protocol - AI 에이전트의 핵심 기술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0972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모델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←→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 서버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←→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286000" cy="10972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외부 도구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554480" cy="6400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📁 파일 시스템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743200"/>
            <a:ext cx="1554480" cy="6400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 웹 브라우저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43200"/>
            <a:ext cx="1554480" cy="6400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🗄️ 데이터베이스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2743200"/>
            <a:ext cx="1554480" cy="6400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 API 호출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2743200"/>
            <a:ext cx="1554480" cy="6400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 슬랙/이메일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🎯 핵심 포인트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MCP = AI가 '손'과 '눈'을 가지게 해주는 표준 프로토콜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AI가 실제 세상과 상호작용할 수 있게 됨 (파일 읽기/쓰기, 웹 검색, API 호출 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에이전트 워크플로우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Human-in-the-Loop: 사람이 방향을 잡고, AI가 실행한다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사용자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목표 제시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명확한 지시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에이전트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계획 &amp; 실행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7784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도구 활용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MCP 연동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0" y="12344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결과물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중간 산출물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2514600"/>
            <a:ext cx="6400800" cy="45720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🔄 피드백 루프: 검토 → 방향 수정 → 재지시 (반복)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4114800" cy="1554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🧑‍💼 Human-in-the-Loop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AI가 자율 실행해도 사람이 '감독'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매 단계마다 방향성 확인 필수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잘못된 방향 → 즉시 수정 지시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최종 책임은 항상 사람에게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108960"/>
            <a:ext cx="4114800" cy="15544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⚠️ 왜 중요한가?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AI는 '확신 있게' 틀릴 수 있음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방치하면 엉뚱한 방향으로 폭주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중간 점검 없으면 시간/비용 낭비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결국 사람의 판단력이 품질 결정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💡 AI는 비서이고, 여러분은 팀장입니다. 팀장은 비서에게 일을 맡기되, 방향을 계속 체크합니다.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AI를 잘 활용하는 사람의 조건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도구가 아무리 좋아도, 목적지를 모르면 소용없다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058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완성된 결과를 그릴 줄 아는 사람  +  🗺️ 거기까지의 과정을 설계할 줄 아는 사람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= AI로 각 단계를 가속화하여 10배의 생산성을 얻는 사람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114800" cy="150876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514600"/>
            <a:ext cx="73152" cy="1508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AI를 잘 쓰는 사람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만들고 싶은 것이 명확함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완성까지의 단계를 알고 있음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어디서 AI를 쓸지 판단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결과물의 품질을 평가할 수 있음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4114800" cy="150876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514600"/>
            <a:ext cx="73152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AI를 못 쓰는 사람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뭘 만들지 자체가 불명확함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과정을 모르니 지시도 못함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 결과물 좋은지 나쁜지 판단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"AI가 알아서 해주겠지" 기대만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73152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그래서 도메인 지식이 중요합니다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내가 뭘 하고 싶은지, 그걸 위해 뭐가 필요한지 모르면 → AI는 그냥 비싼 장난감일 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983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코딩의 패러다임 변화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"0에서 1"에서 "Plan-Generate-Modify-Repeat"으로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82880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과거: 0에서 1 코딩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빈 파일에서 시작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모든 코드를 직접 작성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문법, 로직, 디버깅 모두 사람이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시간 대부분을 '타이핑'에 소비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114800" cy="182880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현재: PGMR 사이클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Plan: 무엇을 만들지 설계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Generate: AI가 코드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Modify: 인간이 검토/수정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Repeat: 반복하여 완성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2344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PGMR 사이클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554480" cy="50292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3840480"/>
            <a:ext cx="1554480" cy="50292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3840480"/>
            <a:ext cx="1554480" cy="50292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3840480"/>
            <a:ext cx="1554480" cy="50292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Repeat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Section 2 핵심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AI는 도구가 아니라 동료입니다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🚀  ChatGPT: 역사상 가장 빠른 성장, AI 대중화의 시작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🏭  기업들의 AI 도입: 생산성 40% 향상, 필수 경쟁력으로 부상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🤖  AI 에이전트: 단순 답변 → 자율적 작업 수행으로 진화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🔌  MCP: AI가 실제 세상과 상호작용하는 표준 등장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💻  코딩의 변화: 0→1 작성에서 Plan-Generate-Modify-Repeat으로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BF7D0"/>
                </a:solidFill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지금 우리가 서 있는 곳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F7D0"/>
                </a:solidFill>
              </a:rPr>
              <a:t>2026년, AI 에이전트 시대의 개막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F7D0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2026년 AI 현황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AI는 더 이상 미래가 아닌, 현재입니다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13716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$500B+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글로벌 AI 시장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2026년 예상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2057400" cy="13716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2801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173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85%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AI 도입 기업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Fortune 500 기준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2057400" cy="13716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2801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173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AI 일자리 영향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업무 자동화 가능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2057400" cy="13716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12801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4173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10억+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1965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생성형 AI 사용자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286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전 세계 월간 사용자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🏢 주요 플레이어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16002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GPT-5.2, Sora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$150B+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03120" y="3200400"/>
            <a:ext cx="16002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Anthropic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Claude 4.5 Opus/Sonnet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38404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$60B+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0" y="3200400"/>
            <a:ext cx="16002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Gemini 3 Pro/Flash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38404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빅테크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77840" y="3200400"/>
            <a:ext cx="16002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Llama 4 Maverick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38404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오픈소스 리더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15200" y="3200400"/>
            <a:ext cx="16002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xAI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Grok 4 Heavy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38404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$50B+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 도구 생태계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용도별로 최적화된 AI 서비스들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범용 AI 어시스턴트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ChatGPT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Claude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Gemini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Copilot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280160"/>
            <a:ext cx="20574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2801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71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6032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코딩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GitHub Copilot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Cursor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Claude 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Windsurf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20574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2801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371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이미지 생성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Midjourney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DALL-E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Stable Diffusion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Ideogram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280160"/>
            <a:ext cx="20574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0" y="12801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371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4944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영상/음성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Sora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Runway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866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ElevenLabs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Suno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8229600" cy="59436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각 도구의 강점을 파악하고, 목적에 맞게 선택하는 것이 중요합니다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코딩 AI 시장의 격전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개발자 생산성을 10배로 만드는 도구들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2194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GitHub Copilot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Microsoft/GitHub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가장 넓은 사용자층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VS Code 통합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1600200" cy="36576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1.8M+ 유료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280160"/>
            <a:ext cx="2057400" cy="2194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280160"/>
            <a:ext cx="20574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Cursor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Cursor Inc.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10312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1945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AI-네이티브 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코드베이스 이해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017520"/>
            <a:ext cx="1600200" cy="36576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급성장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2057400" cy="2194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280160"/>
            <a:ext cx="20574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Anthropic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10312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1945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에이전틱 코딩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터미널 기반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017520"/>
            <a:ext cx="1600200" cy="36576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2024 출시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1280160"/>
            <a:ext cx="2057400" cy="2194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0" y="1280160"/>
            <a:ext cx="2057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Windsurf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10312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21945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무료 대안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빠른 응답 속도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78040" y="3017520"/>
            <a:ext cx="160020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성장 중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703320"/>
            <a:ext cx="8229600" cy="960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코딩 AI 도입 효과 (GitHub 2024 연구)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코드 작성 속도 55% ↑  |  작업 완료율 26% ↑  |  개발자 만족도 75%+  |  "비개발자도 개발 가능"의 시대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AI의 일상화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이미 우리 삶에 깊이 들어온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🔍 검색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키워드 입력 → 링크 클릭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질문 → 답변 직접 제공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✍️ 글쓰기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빈 문서에서 시작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초안 생성 → 수정/보완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🖼️ 이미지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디자이너에게 의뢰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텍스트 → 이미지 생성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🌐 번역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단어 단위 번역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맥락 이해한 자연스러운 번역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📚 학습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책/강의 수동 탐색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맞춤형 튜터링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417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💻 코딩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과거: 구글링 → 복붙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현재: 자연어로 설명 → 코드 생성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교육계의 변화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AI와 함께하는 새로운 교육 패러다임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8288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🎓 학생의 변화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AI 튜터로 24시간 학습 지원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과제/리포트에 AI 활용 보편화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"AI 활용 능력"이 새로운 역량으로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암기보다 활용/응용 능력 중시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114800" cy="182880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👨‍🏫 교수/교사의 변화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AI 보조 강의 자료 제작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평가 방식 재설계 필요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"AI와 협업한 결과물" 평가 기준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비판적 사고/검증 능력 교육 강화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3258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⚠️ 핵심 과제: AI 시대의 평가란?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"AI가 대신 해줄 수 있는 것"을 시험 보는 것이 의미가 있는가?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새로운 평가 기준: 문제 정의 능력, AI 활용 능력, 결과물 검증 능력, 창의적 응용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과정 중심 평가, 포트폴리오 평가의 중요성 증가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사례: 스탠포드 CS146S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"The Modern Software Developer" - AI 시대 개발자 교육의 새 표준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18872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🎓 Stanford University | Fall 2025 | Mihail Eric (前 Amazon Alexa Tech Lead)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"최초의 종합 대학 과정: 코딩 LLM이 소프트웨어 개발 생명주기 전체를 어떻게 변화시키는지 다룬다"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AI 코딩 도구 활용이 이제 정규 대학 커리큘럼으로 편입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💡 핵심 철학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743200" cy="1051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97180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Human-Agent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"바이브 코딩"이 아닌 체계적인 AI 협업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971800"/>
            <a:ext cx="2743200" cy="1051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297180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개발자 = AI 팀 매니저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열정적인 AI 인턴들을 관리하는 매니저가 되어라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2743200" cy="10515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명확한 컨텍스트 제공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AI 결과물 품질은 입력의 명확성에 비례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486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📌 시사점: 세계 최고 대학이 "AI와 함께 코딩하는 법"을 정규 과목으로 가르치기 시작했다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공공기관의 변화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디지털 정부와 AI 행정의 시대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민원 처리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AI 챗봇 상담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24시간 민원 접수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205740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2801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정책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빅데이터 +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정책 시뮬레이션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205740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2801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문서 작업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보고서 초안 생성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회의록 자동 작성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2057400" cy="16459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12801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번역/통역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다국어 민원 지원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실시간 통역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229600" cy="150876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🇰🇷 한국 정부의 AI 추진 현황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디지털플랫폼정부 추진 - 공공 AI 서비스 확대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행정안전부: AI 기반 행정 효율화 프로젝트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교육부: AI 디지털교과서 도입 (2025~)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• 각 부처별 생성형 AI 활용 가이드라인 수립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기업의 변화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AI-First 전략이 생존의 조건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46304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AI 도입 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수작업 데이터 분석 (며칠 소요)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고객 응대 인력 부족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의사결정에 주관적 판단 의존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반복 업무에 인력 낭비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114800" cy="146304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AI 도입 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실시간 데이터 분석 및 인사이트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24/7 AI 고객 응대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데이터 기반 의사결정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창의적 업무에 인력 집중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산업별 AI 도입률 (2025-2026)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IT/테크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264408"/>
            <a:ext cx="5646420" cy="1828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83780" y="324612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금융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3538728"/>
            <a:ext cx="505206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89420" y="35204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유통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3813048"/>
            <a:ext cx="4457700" cy="1828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195060" y="37947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제조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4087368"/>
            <a:ext cx="4160520" cy="182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의료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4361688"/>
            <a:ext cx="3566160" cy="1828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3434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200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📑 출처: McKinsey "The State of AI 2025" | Gartner "AI Adoption Report 2025" | 78% 기업이 AI 도입, 23% 에이전트 AI 스케일링 중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우리의 위치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기회의 창이 열려있는 지금, 어디에 서 있는가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ChatGPT 등장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"신기하네"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2026 (NOW)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AI 에이전트 시대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"활용해야 생존"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1691640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완전 통합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"기본 소양"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41732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🚀 지금 시작하면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얼리 어답터로서 경쟁 우위 확보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 활용 역량이 차별화 요소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새로운 기회와 가능성 발견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변화를 주도하는 위치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114800" cy="141732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미루면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 활용자 vs 비활용자 격차 심화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"AI 문맹"이 새로운 문맹이 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취업/업무에서 경쟁력 하락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따라잡기 점점 어려워짐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Section 3 핵심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지금이 가장 빠른 시작점입니다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📈  AI 시장 $500B+ - 모든 산업에서 필수 기술로 자리매김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🛠️  다양한 AI 도구 생태계 - 목적에 맞는 선택이 중요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💻  코딩 AI 혁명 - 비개발자도 개발 가능한 시대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🏛️  교육/공공/기업 - 모든 영역에서 AI 도입 가속화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📍  2026년 지금 - 기회의 창이 열려있는 최적의 시작점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F3C7"/>
                </a:solidFill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새로운 역할의 정의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EF3C7"/>
                </a:solidFill>
              </a:rPr>
              <a:t>AI를 이기는 사람이 아니라, AI를 이끄는 사람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EF3C7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역할의 전환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소비자에서 생산자로, 사용자에서 제작자로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474720" cy="20116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👤 과거의 역할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소프트웨어 사용자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서비스 소비자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정보 검색자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도구에 적응하는 사람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20116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🚀 AI 시대의 역할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서비스 제작자/제공자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솔루션 설계자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AI 팀의 매니저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도구를 만들고 조합하는 사람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515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핵심 전환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"이 앱 어떻게 쓰지?" → "이런 앱을 만들어볼까?"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"이 문제 누가 해결해주지?" → "내가 AI와 함께 해결해볼까?"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개발자의 역할 변화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코더에서 아키텍트이자 감독관으로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23774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⌨️ 과거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코더 (Coder)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코드 한 줄 한 줄 직접 작성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문법 오류 수동 디버깅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스택오버플로우 복붙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라이브러리 문서 정독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23774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🎬 현재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아키텍트 + 감독관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전체 시스템 설계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AI에게 명확한 지시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결과물 검증 및 수정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품질 기준 관리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영화 감독처럼: 직접 연기하지 않지만, 무엇을 어떻게 찍을지 결정하고, 결과물의 품질을 책임진다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10x 생산성의 시대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 활용으로 10배의 효율을 달성하는 방법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9144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10x = 명확한 목표 × AI 가속화 × 빠른 반복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F7D0"/>
                </a:solidFill>
              </a:rPr>
              <a:t>목표가 불명확하면 AI도 소용없고, AI 없이는 속도가 안 나고, 반복 없이는 품질이 안 나온다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057400" cy="17373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42316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웹사이트 제작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Before: 2-3개월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After: 1-2주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114300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118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2423160"/>
            <a:ext cx="2057400" cy="17373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4231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데이터 분석 보고서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Before: 1주일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After: 반나절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611880"/>
            <a:ext cx="1143000" cy="4114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6118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2057400" cy="17373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4231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마케팅 콘텐츠 10개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Before: 5일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After: 반나절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611880"/>
            <a:ext cx="1143000" cy="4114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118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2423160"/>
            <a:ext cx="2057400" cy="17373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0" y="24231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앱 프로토타입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Before: 1개월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After: 3일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3611880"/>
            <a:ext cx="1143000" cy="4114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6118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⚠️ 단, AI가 모든 것을 해주는 게 아니라 '가속화'해주는 것 - 방향은 여전히 사람이 잡아야 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필수 역량 ①: 프롬프트 엔지니어링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효과적인 지시의 기술 - AI에게 원하는 것을 정확히 전달하기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82880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나쁜 프롬프트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"마케팅 글 써줘"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결과: 두루뭉술한 일반적인 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원하는 것과 거리가 먼 결과물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재작업 필요, 시간 낭비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182880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2588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좋은 프롬프트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"20대 대학생 대상, 인스타그램용,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AI 강의 홍보 글, 200자 이내,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친근한 말투, CTA 포함"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결과: 바로 사용 가능한 맞춤 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🔧 프롬프트 프레임워크: CRISPE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Context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배경/상황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Role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AI의 역할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제공할 정보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Steps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수행 단계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3504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Parameters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형식/길이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52360" y="3657600"/>
            <a:ext cx="1325880" cy="9144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37033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52360" y="4069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Example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4297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예시 제공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필수 역량 ②: 컨텍스트 관리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AI에게 올바른 맥락을 제공하는 기술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0584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🧠 AI는 '읽은 것'만 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컨텍스트 윈도우 안에 있는 정보만 활용 가능 → 필요한 정보를 명시적으로 제공해야 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"내 프로젝트 알지?" (X) vs "이 프로젝트는 React로 만든 쇼핑몰이고..." (O)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7432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51460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📁 프로젝트 컨텍스트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기술 스택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폴더 구조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코딩 컨벤션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514600"/>
            <a:ext cx="27432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5146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🏢 도메인 컨텍스트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비즈니스 규칙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용어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제약 조건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7432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25146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💬 대화 컨텍스트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이전 대화 내용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결정된 사항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피드백 이력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0292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팁: README, 스타일 가이드, 예시 코드를 AI에게 먼저 읽혀라 → 결과물 품질이 확 달라진다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필수 역량 ③: 검증과 판단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 결과물의 품질을 관리하는 기술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7724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AI는 자신감 있게 틀릴 수 있다 (Hallucination)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존재하지 않는 함수를 만들어내거나, 틀린 정보를 사실처럼 말하거나, 논리적 오류가 있는 코드를 생성할 수 있음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0574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28600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77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사실 확인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외부 소스로 정보 검증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공식 문서 대조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286000"/>
            <a:ext cx="20574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228600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377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743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로직 검토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코드/논리의 흐름 확인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엣지 케이스 테스트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20574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28600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377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결과 테스트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실제 실행해서 확인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예상 결과와 비교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2286000"/>
            <a:ext cx="205740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228600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2377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0" y="2743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동료 검토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다른 AI에게 검증 요청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또는 동료에게 리뷰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64008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최종 품질의 책임은 AI가 아닌 '나'에게 있다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AI는 초안을 만들어주는 것이고, 최종 결정과 책임은 항상 사람의 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대학생을 위한 AI 활용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취업, 프로젝트, 학습에 AI를 활용하는 방법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🎓 학습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AI 튜터로 개념 이해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코딩 과제 디버깅 도움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논문/자료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외국어 학습 파트너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💼 취업 준비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이력서 첨삭 및 최적화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자기소개서 피드백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면접 예상 질문 연습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포트폴리오 프로젝트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🚀 프로젝트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아이디어 브레인스토밍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MVP 빠르게 제작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기술 스택 선택 조언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버그 해결 및 최적화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91440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💡 오늘부터 시작하기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1. 관심 분야의 사이드 프로젝트 하나 시작하기  2. AI와 함께 문제 해결하는 습관 들이기  3. 결과물을 GitHub/포트폴리오에 정리하기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교수/연구자를 위한 AI 활용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연구, 논문, 강의에 AI를 활용하는 방법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📚 연구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문헌 리뷰 및 요약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연구 가설 정제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데이터 분석 코드 생성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실험 설계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📝 논문 작성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초안 구조화 지원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문장 다듬기/영문 교정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참고문헌 정리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리뷰어 코멘트 대응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🎓 강의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강의 자료 제작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퀴즈/과제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학생 질문 대응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새로운 평가 방식 설계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91440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주의사항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AI 생성 콘텐츠의 표절/윤리 문제 인식 | AI 활용 범위의 학술적 기준 확인 | 학생들의 AI 활용 가이드라인 수립 필요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교직원/공공기관을 위한 AI 활용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업무 자동화와 의사결정 지원에 AI 활용하기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📋 문서 작업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보고서 초안 작성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회의록 요약/정리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공문서 검토/교정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데이터 정리/분석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🤝 민원/소통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FAQ 자동 응답 구축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민원 분류/우선순위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다국어 번역 지원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맞춤형 안내문 생성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22860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의사결정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정책 영향 분석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예산 시뮬레이션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리스크 평가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벤치마킹 자료 조사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91440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🔒 보안 및 규정 준수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개인정보/민감정보 입력 금지 | 기관 승인된 AI 도구만 사용 | 결과물의 정확성 반드시 검증 | 내부 AI 활용 가이드라인 숙지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Section 4 핵심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팀장이 되어라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🔄  역할 전환: 소비자 → 생산자, 사용자 → 제작자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🎬  개발자 = 아키텍트 + 감독관 (직접 코딩 &lt; 설계와 검증)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⚡  10x 생산성: 명확한 목표 × AI 가속화 × 빠른 반복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🛠️  필수 역량: 프롬프트 엔지니어링, 컨텍스트 관리, 검증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🎯  핵심: 도메인 지식 + AI 활용 능력 = 경쟁력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배운 5가지 핵심 메시지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클라우드가 모든 혁신의 기반이다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인프라 걱정 없이 아이디어에 집중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AI는 도구가 아니라 동료다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협업하고, 감독하고, 관리하는 대상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도메인 지식이 AI 활용의 핵심이다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뭘 만들지 모르면 AI도 소용없다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지금이 가장 빠른 시작점이다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기회의 창이 열려있는 최적의 시점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팀장이 되어라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이기는 게 아니라 이끄는 사람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내일부터 시작할 3가지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오늘 배운 것을 실천으로 옮기기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도구 하나 제대로 써보기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ChatGPT, Claude, Gemini 중 하나를 선택해서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실제 업무/학습에 매일 활용해보기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7432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작은 프로젝트 하나 시작하기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관심 분야에서 AI와 함께 만들 수 있는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간단한 프로젝트 시작 (웹페이지, 분석, 콘텐츠 등)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256032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4173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결과물 공유하고 피드백 받기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GitHub, 블로그, SNS에 과정 기록하고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피드백 받으며 개선해나가기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4008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"1년 후의 나는 오늘 시작한 나에게 감사할 것이다"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Q&amp;A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</a:rPr>
              <a:t>궁금한 점을 자유롭게 질문해주세요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💬 AI, 클라우드, 커리어, 학습 방법 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무엇이든 질문해주세요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Modern IT Trend 2026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감사합니다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오늘이 여러분의 AI 여정의 시작입니다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3200400"/>
            <a:ext cx="4572000" cy="118872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📧 강의 자료 및 후속 과정 문의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NxtCloud 테크니컬 트레이닝팀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4023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glen.lee@nxtcloud.kr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Modern IT Trend 2026 | NxtCloud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모던 IT 트렌드 2026 - Section 1 Enhanced</dc:title>
  <dc:subject>Opening</dc:subject>
  <dc:creator>NXT Cloud</dc:creator>
  <cp:lastModifiedBy>NXT Cloud</cp:lastModifiedBy>
  <cp:revision>1</cp:revision>
  <dcterms:created xsi:type="dcterms:W3CDTF">2026-01-25T15:47:55Z</dcterms:created>
  <dcterms:modified xsi:type="dcterms:W3CDTF">2026-01-25T15:47:55Z</dcterms:modified>
</cp:coreProperties>
</file>
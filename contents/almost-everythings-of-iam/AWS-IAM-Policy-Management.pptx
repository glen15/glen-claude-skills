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IAM 정책을 제대로 이해하지 못하면 두 가지 극단적인 상황이 발생합니다.</a:t>
            </a:r>
            <a:br/>
            <a:br/>
            <a:r>
              <a:t>첫째, 너무 관대한 정책으로 보안 사고가 발생합니다. 2019년 Capital One 사건이 대표적입니다. 과도한 권한을 가진 IAM Role이 악용되어 1억 명 이상의 고객 데이터가 유출되었습니다. 이 사건의 핵심은 EC2 메타데이터 서비스를 통해 Role의 임시 자격증명을 탈취한 것입니다.</a:t>
            </a:r>
            <a:br/>
            <a:br/>
            <a:r>
              <a:t>둘째, 너무 엄격한 정책으로 개발 생산성이 떨어집니다. '일단 Administrator 권한 주고 나중에 줄이자'는 접근은 절대 '나중'이 오지 않습니다.</a:t>
            </a:r>
            <a:br/>
            <a:br/>
            <a:r>
              <a:t>오늘 세션의 목표는 '최소 권한 원칙(Principle of Least Privilege)'을 실제로 구현할 수 있는 실무 능력을 기르는 것입니다. 정책 하나하나의 의미를 이해하고, 왜 그렇게 써야 하는지 알면 자신만의 정책을 작성할 수 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IAM을 '누가, 무엇을, 어떤 조건에서'라는 프레임으로 이해하면 됩니다.</a:t>
            </a:r>
            <a:br/>
            <a:br/>
            <a:r>
              <a:t>많은 분들이 IAM을 단순히 '사용자 관리'로 생각하시는데, 실제로는 AWS의 모든 API 호출에 대한 접근 제어 시스템입니다. AWS 콘솔에서 버튼을 클릭하든, CLI로 명령을 실행하든, SDK로 코드를 작성하든 모든 작업은 결국 AWS API 호출이고, IAM이 그 모든 호출을 검증합니다.</a:t>
            </a:r>
            <a:br/>
            <a:br/>
            <a:r>
              <a:t>재미있는 사실은 AWS의 모든 서비스가 IAM에 의존한다는 것입니다. S3, EC2, Lambda 할 것 없이 모두 IAM을 통해 인증과 인가를 처리합니다. 그래서 IAM을 'AWS의 수문장'이라고 부르기도 합니다.</a:t>
            </a:r>
            <a:br/>
            <a:br/>
            <a:r>
              <a:t>이번 섹션에서는 User, Group, Role, Policy라는 네 가지 핵심 개념을 확실히 잡고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네 가지 구성 요소를 실제 회사 조직에 비유해서 설명하겠습니다.</a:t>
            </a:r>
            <a:br/>
            <a:br/>
            <a:r>
              <a:t>[User] 회사의 직원입니다. 각 직원은 고유한 사원증(자격증명)을 가지고 있죠. AWS에서는 Access Key나 콘솔 비밀번호가 이에 해당합니다.</a:t>
            </a:r>
            <a:br/>
            <a:br/>
            <a:r>
              <a:t>[Group] 부서입니다. 개발팀, 운영팀처럼 같은 역할을 하는 사람들을 묶어서 권한을 관리하면 효율적입니다. 신입이 들어오면 그냥 해당 부서(Group)에 넣으면 됩니다.</a:t>
            </a:r>
            <a:br/>
            <a:br/>
            <a:r>
              <a:t>[Role] 여기가 중요합니다. Role은 '임시직 사원증'이라고 생각하세요. 정규직이 아닌 외부 컨설턴트가 와서 일할 때 임시 사원증을 발급하듯이, 서비스나 외부 사용자가 임시로 권한을 얻을 때 사용합니다. 가장 큰 특징은 영구적인 자격증명이 없다는 것입니다.</a:t>
            </a:r>
            <a:br/>
            <a:br/>
            <a:r>
              <a:t>[Policy] 회사의 보안 규정입니다. '서버실은 운영팀만 출입 가능' 같은 규칙을 JSON으로 작성한 것입니다.</a:t>
            </a:r>
            <a:br/>
            <a:br/>
            <a:r>
              <a:t>핵심 질문으로 돌아가면: 누가(Principal), 무엇을(Action/Resource), 어떤 조건에서(Condition) 할 수 있는가(Effect)? 이게 IAM의 전부입니다.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여기서 한 가지 중요한 개념적 차이를 짚고 가겠습니다.</a:t>
            </a:r>
            <a:br/>
            <a:br/>
            <a:r>
              <a:t>[사용자(User)]</a:t>
            </a:r>
            <a:br/>
            <a:r>
              <a:t>사람은 직접 AWS에 로그인합니다. 콘솔에서 작업하거나 CLI를 사용하죠. 이때 Policy를 직접 연결받거나, Role을 Assume해서 권한을 얻습니다.</a:t>
            </a:r>
            <a:br/>
            <a:br/>
            <a:r>
              <a:t>'Assume'이라는 단어가 생소하실 수 있는데, '그 역할을 맡는다'는 의미입니다. 마치 연극에서 배우가 특정 역할을 맡듯이, User가 Role을 Assume하면 그 Role의 권한을 임시로 얻게 됩니다.</a:t>
            </a:r>
            <a:br/>
            <a:br/>
            <a:r>
              <a:t>[서비스(Service)]</a:t>
            </a:r>
            <a:br/>
            <a:r>
              <a:t> Lambda나 EC2 같은 AWS 서비스는 태어날 때부터 아무 권한이 없습니다. 이게 핵심입니다! 서비스가 다른 AWS 리소스에 접근하려면 반드시 Role을 통해 권한을 위임받아야 합니다.</a:t>
            </a:r>
            <a:br/>
            <a:br/>
            <a:r>
              <a:t>왜 이렇게 설계했을까요? 보안 때문입니다. 만약 Lambda가 기본적으로 모든 권한을 가지고 있다면, 코드에 버그가 있거나 해킹당했을 때 모든 리소스가 위험해집니다. 권한이 없는 상태에서 시작해서 필요한 권한만 명시적으로 부여하는 것이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Lambda와 S3 예시를 실제 코드 레벨에서 설명하겠습니다.</a:t>
            </a:r>
            <a:br/>
            <a:br/>
            <a:r>
              <a:t>Lambda 함수 안에서 boto3(AWS SDK)를 사용해 S3에 접근하는 코드를 작성했다고 가정해봅시다:</a:t>
            </a:r>
            <a:br/>
            <a:br/>
            <a:r>
              <a:t>s3 = boto3.client('s3')</a:t>
            </a:r>
            <a:br/>
            <a:r>
              <a:t>s3.get_object(Bucket='my-bucket', Key='data.json')</a:t>
            </a:r>
            <a:br/>
            <a:br/>
            <a:r>
              <a:t>이 코드가 실행되면 내부적으로 무슨 일이 벌어질까요?</a:t>
            </a:r>
            <a:br/>
            <a:br/>
            <a:r>
              <a:t>1. Lambda 런타임이 연결된 Role의 임시 자격증명을 가져옵니다</a:t>
            </a:r>
            <a:br/>
            <a:r>
              <a:t>2. 이 자격증명으로 S3 API를 호출합니다</a:t>
            </a:r>
            <a:br/>
            <a:r>
              <a:t>3. S3는 IAM에게 '이 Role이 GetObject 권한이 있나요?'라고 물어봅니다</a:t>
            </a:r>
            <a:br/>
            <a:r>
              <a:t>4. IAM이 정책을 평가해서 Allow/Deny를 결정합니다</a:t>
            </a:r>
            <a:br/>
            <a:br/>
            <a:r>
              <a:t>EC2의 Instance Profile은 역사적 이유로 존재합니다. EC2가 처음 나왔을 때는 Role 개념이 없었고, 나중에 추가하다 보니 Instance Profile이라는 래퍼가 필요했습니다. 콘솔에서는 이 차이가 숨겨져 있어서 신경 쓸 일이 거의 없지만, CLI나 CloudFormation으로 작업할 때는 구분해야 합니다.</a:t>
            </a:r>
            <a:br/>
            <a:br/>
            <a:r>
              <a:t>최신 서비스(Lambda, ECS, Step Functions 등)는 이런 레거시 없이 Role을 직접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슬라이드는 오늘 발표에서 가장 중요한 내용입니다. 권한 상승(Privilege Escalation) 공격을 이해해야 방어할 수 있습니다.</a:t>
            </a:r>
            <a:br/>
            <a:br/>
            <a:r>
              <a:t>실제 공격 시나리오를 단계별로 설명하겠습니다:</a:t>
            </a:r>
            <a:br/>
            <a:br/>
            <a:r>
              <a:t>[1단계 - 초기 상태]</a:t>
            </a:r>
            <a:br/>
            <a:r>
              <a:t>공격자(또는 악의적 내부자)가 ec2:RunInstances와 iam:PassRole(*) 권한만 가지고 있습니다. 직접적으로 S3나 RDS에 접근할 권한은 없습니다.</a:t>
            </a:r>
            <a:br/>
            <a:br/>
            <a:r>
              <a:t>[2단계 - 공격 실행]</a:t>
            </a:r>
            <a:br/>
            <a:r>
              <a:t>공격자가 EC2 인스턴스를 생성하면서 AdministratorAccess Role을 연결합니다. PassRole에 와일드카드(*)가 있어서 어떤 Role이든 전달할 수 있죠.</a:t>
            </a:r>
            <a:br/>
            <a:br/>
            <a:r>
              <a:t>[3단계 - 권한 획득]</a:t>
            </a:r>
            <a:br/>
            <a:r>
              <a:t>EC2에 SSH로 접속해서 AWS CLI를 실행합니다. 이때 CLI 명령은 EC2에 연결된 Role(AdministratorAccess)의 권한으로 실행됩니다!</a:t>
            </a:r>
            <a:br/>
            <a:br/>
            <a:r>
              <a:t>[4단계 - 게임 오버]</a:t>
            </a:r>
            <a:br/>
            <a:r>
              <a:t>이제 공격자는 S3 버킷 전체 다운로드, RDS 스냅샷 생성, 심지어 새로운 관리자 계정 생성까지 할 수 있습니다.</a:t>
            </a:r>
            <a:br/>
            <a:br/>
            <a:r>
              <a:t>핵심: User의 '직접 권한'은 제한되어 있었지만, Role을 통해 '간접적으로' 관리자 권한을 획득한 것입니다. 이것이 PassRole 제어가 필수인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방어 전략을 구체적으로 설명하겠습니다. 단순히 '이렇게 하라'가 아니라 '왜 이렇게 해야 하는지'를 이해하는 것이 중요합니다.</a:t>
            </a:r>
            <a:br/>
            <a:br/>
            <a:r>
              <a:t>[1. IAM Write 권한 제한]</a:t>
            </a:r>
            <a:br/>
            <a:r>
              <a:t>사용자가 임의로 Role을 만들 수 있다면 PassRole 제한이 무의미해집니다. 'AdminRole-student01'이라는 Role을 만들어서 PassRole 패턴을 우회할 수 있으니까요. 그래서 iam:Create*, iam:Delete*, iam:Attach*, iam:Put* 등을 Deny합니다.</a:t>
            </a:r>
            <a:br/>
            <a:br/>
            <a:r>
              <a:t>[2. Role 사전 생성]</a:t>
            </a:r>
            <a:br/>
            <a:r>
              <a:t>관리자가 SafeRole-{username} 형태로 안전한 Role을 미리 만들어둡니다. 이 Role에는 필요한 최소 권한만 부여되어 있습니다. 사용자는 이 Role만 사용할 수 있습니다.</a:t>
            </a:r>
            <a:br/>
            <a:br/>
            <a:r>
              <a:t>[3. PassRole 제한]</a:t>
            </a:r>
            <a:br/>
            <a:r>
              <a:t>가장 핵심적인 방어입니다. 정책에서 PassRole을 허용하되, Resource를 특정 패턴으로 제한합니다:</a:t>
            </a:r>
            <a:br/>
            <a:r>
              <a:t>- arn:aws:iam::*:role/SafeRole-${aws:username}</a:t>
            </a:r>
            <a:br/>
            <a:br/>
            <a:r>
              <a:t>이렇게 하면 student01은 SafeRole-student01만 전달할 수 있습니다.</a:t>
            </a:r>
            <a:br/>
            <a:br/>
            <a:r>
              <a:t>[4. Instance Profile 제한]</a:t>
            </a:r>
            <a:br/>
            <a:r>
              <a:t>EC2용 추가 방어입니다. ec2:NewInstanceProfile 조건을 사용합니다.</a:t>
            </a:r>
            <a:br/>
            <a:br/>
            <a:r>
              <a:t>이 네 가지를 조합하면 권한 상승 공격을 원천 차단할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iam:PassRole은 IAM 정책에서 가장 오해받는 권한 중 하나입니다.</a:t>
            </a:r>
            <a:br/>
            <a:br/>
            <a:r>
              <a:t>많은 분들이 PassRole과 AttachPolicy를 혼동합니다:</a:t>
            </a:r>
            <a:br/>
            <a:br/>
            <a:r>
              <a:t>- AttachPolicy: Role에 정책을 '추가'하는 것 (Role의 권한을 변경)</a:t>
            </a:r>
            <a:br/>
            <a:r>
              <a:t>- PassRole: Role을 서비스에 '전달'하는 것 (Role 자체는 변경 없음)</a:t>
            </a:r>
            <a:br/>
            <a:br/>
            <a:r>
              <a:t>비유하자면:</a:t>
            </a:r>
            <a:br/>
            <a:r>
              <a:t>- AttachPolicy: 사원증에 새로운 출입 권한을 추가</a:t>
            </a:r>
            <a:br/>
            <a:r>
              <a:t>- PassRole: 기존 사원증을 다른 사람(서비스)에게 빌려줌</a:t>
            </a:r>
            <a:br/>
            <a:br/>
            <a:r>
              <a:t>PassRole이 위험한 이유는, 이미 강력한 권한을 가진 Role을 서비스에 '빌려줄' 수 있기 때문입니다. Role 자체를 수정하지 않아도, 그 Role을 내가 제어하는 서비스에 연결하면 간접적으로 그 권한을 사용할 수 있습니다.</a:t>
            </a:r>
            <a:br/>
            <a:br/>
            <a:r>
              <a:t>다음 슬라이드에서 PassRole의 동작 원리를 더 자세히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PassRole의 핵심 개념을 확실히 짚겠습니다.</a:t>
            </a:r>
            <a:br/>
            <a:br/>
            <a:r>
              <a:t>가장 중요한 점: User가 직접 Role을 '사용'하는 것이 아닙니다!</a:t>
            </a:r>
            <a:br/>
            <a:br/>
            <a:r>
              <a:t>User → (PassRole) → Service → (AssumeRole) → Role의 권한으로 동작</a:t>
            </a:r>
            <a:br/>
            <a:br/>
            <a:r>
              <a:t>이 흐름을 이해하면 PassRole의 위험성이 명확해집니다.</a:t>
            </a:r>
            <a:br/>
            <a:br/>
            <a:r>
              <a:t>[실제 예시 1: Lambda 함수 생성]</a:t>
            </a:r>
            <a:br/>
            <a:r>
              <a:t>aws lambda create-function --function-name my-func --role arn:aws:iam::123456789012:role/LambdaExecutionRole ...</a:t>
            </a:r>
            <a:br/>
            <a:br/>
            <a:r>
              <a:t>이 명령을 실행하면:</a:t>
            </a:r>
            <a:br/>
            <a:r>
              <a:t>1. User에게 lambda:CreateFunction 권한이 있는지 확인</a:t>
            </a:r>
            <a:br/>
            <a:r>
              <a:t>2. User에게 iam:PassRole 권한이 있는지 확인 (대상: LambdaExecutionRole)</a:t>
            </a:r>
            <a:br/>
            <a:r>
              <a:t>3. 둘 다 있으면 Lambda 함수 생성 + Role 연결</a:t>
            </a:r>
            <a:br/>
            <a:br/>
            <a:r>
              <a:t>[실제 예시 2: EC2 인스턴스 생성]</a:t>
            </a:r>
            <a:br/>
            <a:r>
              <a:t>aws ec2 run-instances --iam-instance-profile Name=MyProfile ...</a:t>
            </a:r>
            <a:br/>
            <a:br/>
            <a:r>
              <a:t>마찬가지로 ec2:RunInstances와 iam:PassRole 둘 다 필요합니다.</a:t>
            </a:r>
            <a:br/>
            <a:br/>
            <a:r>
              <a:t>[어떤 상황에서 PassRole이 필요한가?]</a:t>
            </a:r>
            <a:br/>
            <a:r>
              <a:t>- EC2에 Instance Profile 연결</a:t>
            </a:r>
            <a:br/>
            <a:r>
              <a:t>- Lambda에 Execution Role 연결</a:t>
            </a:r>
            <a:br/>
            <a:r>
              <a:t>- ECS Task에 Task Role/Execution Role 연결</a:t>
            </a:r>
            <a:br/>
            <a:r>
              <a:t>- Step Functions에 실행 Role 연결</a:t>
            </a:r>
            <a:br/>
            <a:r>
              <a:t>- CodeBuild에 Service Role 연결</a:t>
            </a:r>
            <a:br/>
            <a:br/>
            <a:r>
              <a:t>즉, AWS 서비스가 다른 서비스에 접근해야 할 때마다 PassRole이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PassRole과 AssumeRole의 차이를 명확히 정리하겠습니다. 면접에서도 자주 나오는 질문입니다.</a:t>
            </a:r>
            <a:br/>
            <a:br/>
            <a:r>
              <a:t>[iam:PassRole]</a:t>
            </a:r>
            <a:br/>
            <a:r>
              <a:t>- 누가: User</a:t>
            </a:r>
            <a:br/>
            <a:r>
              <a:t>- 무엇을: Service에 Role을 '전달'</a:t>
            </a:r>
            <a:br/>
            <a:r>
              <a:t>- 결과: Service가 Role 권한 획득</a:t>
            </a:r>
            <a:br/>
            <a:r>
              <a:t>- 언제: 리소스 생성/수정 시 Role 지정할 때</a:t>
            </a:r>
            <a:br/>
            <a:r>
              <a:t>- 예: Lambda 함수 생성 시 실행 Role 지정</a:t>
            </a:r>
            <a:br/>
            <a:br/>
            <a:r>
              <a:t>[sts:AssumeRole]</a:t>
            </a:r>
            <a:br/>
            <a:r>
              <a:t>- 누가: User 또는 Service</a:t>
            </a:r>
            <a:br/>
            <a:r>
              <a:t>- 무엇을: 직접 Role로 '전환'</a:t>
            </a:r>
            <a:br/>
            <a:r>
              <a:t>- 결과: 요청자가 임시 자격증명 획득</a:t>
            </a:r>
            <a:br/>
            <a:r>
              <a:t>- 언제: Cross-account 접근, Role switching</a:t>
            </a:r>
            <a:br/>
            <a:r>
              <a:t>- 예: 개발 계정에서 프로덕션 계정의 Role로 전환</a:t>
            </a:r>
            <a:br/>
            <a:br/>
            <a:r>
              <a:t>실제 차이를 코드로 보여드리겠습니다:</a:t>
            </a:r>
            <a:br/>
            <a:br/>
            <a:r>
              <a:t># PassRole (Lambda 생성 시 Role 지정 - User의 권한으로 실행)</a:t>
            </a:r>
            <a:br/>
            <a:r>
              <a:t>aws lambda create-function --role arn:aws:iam::123:role/MyRole</a:t>
            </a:r>
            <a:br/>
            <a:br/>
            <a:r>
              <a:t># AssumeRole (직접 Role 전환 - 임시 자격증명 획득)</a:t>
            </a:r>
            <a:br/>
            <a:r>
              <a:t>aws sts assume-role --role-arn arn:aws:iam::456:role/CrossAccountRole</a:t>
            </a:r>
            <a:br/>
            <a:br/>
            <a:r>
              <a:t>AssumeRole 후에는 반환된 임시 자격증명을 사용해서 해당 Role의 권한으로 작업합니다. 반면 PassRole은 서비스에 Role을 '건네주는' 것이므로, User가 직접 그 권한을 사용하지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정책의 구조를 살펴보겠습니다.</a:t>
            </a:r>
            <a:br/>
            <a:br/>
            <a:r>
              <a:t>IAM 정책은 결국 '규칙의 집합'입니다. 각 규칙(Statement)은 다섯 가지 요소로 구성됩니다:</a:t>
            </a:r>
            <a:br/>
            <a:br/>
            <a:r>
              <a:t>1. Principal - 누가 (Identity-based에서는 생략)</a:t>
            </a:r>
            <a:br/>
            <a:r>
              <a:t>2. Action - 무엇을</a:t>
            </a:r>
            <a:br/>
            <a:r>
              <a:t>3. Resource - 어떤 리소스에 대해</a:t>
            </a:r>
            <a:br/>
            <a:r>
              <a:t>4. Effect - 허용할지 거부할지</a:t>
            </a:r>
            <a:br/>
            <a:r>
              <a:t>5. Condition - 어떤 조건에서</a:t>
            </a:r>
            <a:br/>
            <a:br/>
            <a:r>
              <a:t>이 중에서 Condition이 오늘 발표의 핵심입니다. 왜냐하면 단순히 Allow/Deny만으로는 세밀한 제어가 불가능하기 때문입니다.</a:t>
            </a:r>
            <a:br/>
            <a:br/>
            <a:r>
              <a:t>예를 들어, 'EC2 인스턴스를 생성할 수 있다'만으로는 부족합니다. 't3.micro 타입만', '서울 리전에서만', '특정 태그가 있을 때만' 같은 조건을 걸어야 실질적인 비용/보안 통제가 가능합니다.</a:t>
            </a:r>
            <a:br/>
            <a:br/>
            <a:r>
              <a:t>Condition 작성법은 뒤에서 자세히 다루겠습니다. 일단 구조부터 확실히 잡고 갑시다.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정책의 두 가지 종류를 명확히 구분하겠습니다.</a:t>
            </a:r>
            <a:br/>
            <a:br/>
            <a:r>
              <a:t>[Identity-based Policy]</a:t>
            </a:r>
            <a:br/>
            <a:r>
              <a:t>- User, Group, Role에 연결</a:t>
            </a:r>
            <a:br/>
            <a:r>
              <a:t>- Principal 생략 (연결된 대상이 주체)</a:t>
            </a:r>
            <a:br/>
            <a:r>
              <a:t>- '이 사용자/역할은 무엇을 할 수 있는가?'</a:t>
            </a:r>
            <a:br/>
            <a:br/>
            <a:r>
              <a:t>[Resource-based Policy]</a:t>
            </a:r>
            <a:br/>
            <a:r>
              <a:t>- S3, SQS, Lambda, KMS 등 리소스에 직접 연결</a:t>
            </a:r>
            <a:br/>
            <a:r>
              <a:t>- Principal 필수 (누가 이 리소스에 접근할 수 있는가)</a:t>
            </a:r>
            <a:br/>
            <a:r>
              <a:t>- '이 리소스에 누가 접근할 수 있는가?'</a:t>
            </a:r>
            <a:br/>
            <a:br/>
            <a:r>
              <a:t>실무에서 가장 자주 보는 Resource-based Policy는 S3 버킷 정책입니다:</a:t>
            </a:r>
            <a:br/>
            <a:br/>
            <a:r>
              <a:t>{</a:t>
            </a:r>
            <a:br/>
            <a:r>
              <a:t>  "Principal": {"AWS": "arn:aws:iam::123456789012:user/alice"},</a:t>
            </a:r>
            <a:br/>
            <a:r>
              <a:t>  "Action": "s3:GetObject",</a:t>
            </a:r>
            <a:br/>
            <a:r>
              <a:t>  "Resource": "arn:aws:s3:::my-bucket/*"</a:t>
            </a:r>
            <a:br/>
            <a:r>
              <a:t>}</a:t>
            </a:r>
            <a:br/>
            <a:br/>
            <a:r>
              <a:t>이 정책은 S3 버킷에 직접 붙어서 'alice 사용자가 이 버킷의 객체를 읽을 수 있다'를 정의합니다.</a:t>
            </a:r>
            <a:br/>
            <a:br/>
            <a:r>
              <a:t>오늘은 주로 Identity-based Policy를 다룹니다. User나 Group에 연결해서 '이 사용자는 무엇을 할 수 있는가'를 정의하는 정책이죠.</a:t>
            </a:r>
            <a:br/>
            <a:br/>
            <a:r>
              <a:t>두 정책 유형은 상호 보완적입니다. 둘 다 Allow여야 실제로 접근이 허용됩니다(Cross-account 제외).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정책의 JSON 구조를 상세히 살펴보겠습니다.</a:t>
            </a:r>
            <a:br/>
            <a:br/>
            <a:r>
              <a:t>[Version: "2012-10-17"]</a:t>
            </a:r>
            <a:br/>
            <a:r>
              <a:t>이 값은 항상 고정입니다. 2012-10-17이 가장 최신 정책 언어 버전입니다. 다른 값을 쓰면 일부 기능(정책 변수 등)이 동작하지 않습니다.</a:t>
            </a:r>
            <a:br/>
            <a:br/>
            <a:r>
              <a:t>[Statement]</a:t>
            </a:r>
            <a:br/>
            <a:r>
              <a:t>규칙의 배열입니다. 하나의 정책에 여러 Statement를 넣을 수 있습니다. 각 Statement는 독립적으로 평가됩니다.</a:t>
            </a:r>
            <a:br/>
            <a:br/>
            <a:r>
              <a:t>[Sid]</a:t>
            </a:r>
            <a:br/>
            <a:r>
              <a:t>Statement ID입니다. 필수는 아니지만 강력히 권장합니다. 디버깅할 때 어떤 Statement가 적용되었는지 로그에서 확인할 수 있습니다. 예: "DenyExpensiveEC2", "AllowS3ReadOnly"</a:t>
            </a:r>
            <a:br/>
            <a:br/>
            <a:r>
              <a:t>[Principal]</a:t>
            </a:r>
            <a:br/>
            <a:r>
              <a:t>Identity-based Policy에서는 생략합니다. Resource-based Policy에서 '누가'를 지정할 때 사용합니다.</a:t>
            </a:r>
            <a:br/>
            <a:br/>
            <a:r>
              <a:t>[Action]</a:t>
            </a:r>
            <a:br/>
            <a:r>
              <a:t>AWS API 작업입니다. 형식은 '서비스:작업'입니다. 예: s3:GetObject, ec2:RunInstances</a:t>
            </a:r>
            <a:br/>
            <a:br/>
            <a:r>
              <a:t>[Resource]</a:t>
            </a:r>
            <a:br/>
            <a:r>
              <a:t>ARN(Amazon Resource Name)으로 대상 리소스를 지정합니다. 와일드카드(*)도 사용 가능합니다.</a:t>
            </a:r>
            <a:br/>
            <a:br/>
            <a:r>
              <a:t>[Effect]</a:t>
            </a:r>
            <a:br/>
            <a:r>
              <a:t>Allow 또는 Deny입니다. 대소문자 구분합니다!</a:t>
            </a:r>
            <a:br/>
            <a:br/>
            <a:r>
              <a:t>[Condition]</a:t>
            </a:r>
            <a:br/>
            <a:r>
              <a:t>추가 조건입니다. 다음 섹션에서 자세히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Action 작성법의 핵심을 설명하겠습니다.</a:t>
            </a:r>
            <a:br/>
            <a:br/>
            <a:r>
              <a:t>[기본 형식]</a:t>
            </a:r>
            <a:br/>
            <a:r>
              <a:t>Action은 '서비스:작업' 형식입니다. 서비스 접두사(s3, ec2, lambda 등)와 작업명(GetObject, RunInstances 등)으로 구성됩니다.</a:t>
            </a:r>
            <a:br/>
            <a:br/>
            <a:r>
              <a:t>[와일드카드 활용]</a:t>
            </a:r>
            <a:br/>
            <a:r>
              <a:t>s3:* → S3의 모든 작업</a:t>
            </a:r>
            <a:br/>
            <a:r>
              <a:t>ec2:Describe* → ec2:DescribeInstances, ec2:DescribeVpcs 등 조회 작업 전체</a:t>
            </a:r>
            <a:br/>
            <a:r>
              <a:t>* → AWS의 모든 작업 (위험!)</a:t>
            </a:r>
            <a:br/>
            <a:br/>
            <a:r>
              <a:t>[실무 팁]</a:t>
            </a:r>
            <a:br/>
            <a:r>
              <a:t>Read 작업(Get*, List*, Describe*)에는 와일드카드를 사용하는 것이 좋습니다. 새로운 조회 API가 추가되어도 자동으로 허용되기 때문입니다.</a:t>
            </a:r>
            <a:br/>
            <a:br/>
            <a:r>
              <a:t>Write 작업(Create*, Delete*, Put*, Update*)에는 명시적으로 나열하는 것이 안전합니다.</a:t>
            </a:r>
            <a:br/>
            <a:br/>
            <a:r>
              <a:t>[NotAction 주의]</a:t>
            </a:r>
            <a:br/>
            <a:r>
              <a:t>NotAction은 지정한 Action을 '제외한' 나머지를 의미합니다.</a:t>
            </a:r>
            <a:br/>
            <a:br/>
            <a:r>
              <a:t>중요: NotAction + Allow 조합은 매우 위험합니다!</a:t>
            </a:r>
            <a:br/>
            <a:r>
              <a:t>{"Effect": "Allow", "NotAction": "iam:*"}</a:t>
            </a:r>
            <a:br/>
            <a:br/>
            <a:r>
              <a:t>이 정책은 'IAM을 제외한 모든 작업 허용'입니다. 새로운 AWS 서비스가 출시되면 자동으로 허용됩니다. 보안상 큰 문제가 될 수 있습니다.</a:t>
            </a:r>
            <a:br/>
            <a:br/>
            <a:r>
              <a:t>대신 Deny + Action 조합을 권장합니다:</a:t>
            </a:r>
            <a:br/>
            <a:r>
              <a:t>{"Effect": "Deny", "Action": "iam:*"}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Resource 작성법을 실무 관점에서 설명하겠습니다.</a:t>
            </a:r>
            <a:br/>
            <a:br/>
            <a:r>
              <a:t>[ARN의 중요성]</a:t>
            </a:r>
            <a:br/>
            <a:r>
              <a:t>Resource는 ARN(Amazon Resource Name)으로 지정합니다. ARN은 AWS 리소스의 '주소'라고 생각하면 됩니다.</a:t>
            </a:r>
            <a:br/>
            <a:br/>
            <a:r>
              <a:t>[S3 버킷 예시 - 흔한 실수]</a:t>
            </a:r>
            <a:br/>
            <a:r>
              <a:t>버킷 자체와 버킷 내 객체는 다른 리소스입니다!</a:t>
            </a:r>
            <a:br/>
            <a:br/>
            <a:r>
              <a:t>❌ 잘못된 예:</a:t>
            </a:r>
            <a:br/>
            <a:r>
              <a:t>"Resource": "arn:aws:s3:::my-bucket"</a:t>
            </a:r>
            <a:br/>
            <a:r>
              <a:t>→ 버킷의 메타데이터만 접근 가능, 객체 접근 불가</a:t>
            </a:r>
            <a:br/>
            <a:br/>
            <a:r>
              <a:t>✅ 올바른 예:</a:t>
            </a:r>
            <a:br/>
            <a:r>
              <a:t>"Resource": [</a:t>
            </a:r>
            <a:br/>
            <a:r>
              <a:t>  "arn:aws:s3:::my-bucket",      // 버킷 자체 (ListBucket 등)</a:t>
            </a:r>
            <a:br/>
            <a:r>
              <a:t>  "arn:aws:s3:::my-bucket/*"     // 버킷 내 객체 (GetObject 등)</a:t>
            </a:r>
            <a:br/>
            <a:r>
              <a:t>]</a:t>
            </a:r>
            <a:br/>
            <a:br/>
            <a:r>
              <a:t>[정책 변수 활용]</a:t>
            </a:r>
            <a:br/>
            <a:r>
              <a:t>${aws:username}은 실행 시점의 사용자 이름으로 치환됩니다.</a:t>
            </a:r>
            <a:br/>
            <a:br/>
            <a:r>
              <a:t>"Resource": "arn:aws:s3:::company-home/${aws:username}/*"</a:t>
            </a:r>
            <a:br/>
            <a:br/>
            <a:r>
              <a:t>alice가 요청하면 → arn:aws:s3:::company-home/alice/*</a:t>
            </a:r>
            <a:br/>
            <a:r>
              <a:t>bob이 요청하면 → arn:aws:s3:::company-home/bob/*</a:t>
            </a:r>
            <a:br/>
            <a:br/>
            <a:r>
              <a:t>이를 통해 사용자별 개인 폴더를 자동으로 격리할 수 있습니다.</a:t>
            </a:r>
            <a:br/>
            <a:br/>
            <a:r>
              <a:t>[NotResource]</a:t>
            </a:r>
            <a:br/>
            <a:r>
              <a:t>NotAction과 마찬가지로 주의가 필요합니다. 지정한 리소스를 '제외한' 나머지에 적용됩니다.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ARN 형식을 외우실 필요는 없지만, 패턴은 이해해두세요.</a:t>
            </a:r>
            <a:br/>
            <a:br/>
            <a:r>
              <a:t>arn:aws:서비스:리전:계정ID:리소스타입/리소스이름</a:t>
            </a:r>
            <a:br/>
            <a:br/>
            <a:r>
              <a:t>[글로벌 서비스 - 리전 없음]</a:t>
            </a:r>
            <a:br/>
            <a:r>
              <a:t>IAM, S3 버킷, CloudFront, Route 53은 리전이 없습니다. 글로벌 서비스이기 때문입니다.</a:t>
            </a:r>
            <a:br/>
            <a:br/>
            <a:r>
              <a:t>arn:aws:s3:::my-bucket (리전과 계정ID 없음!)</a:t>
            </a:r>
            <a:br/>
            <a:r>
              <a:t>arn:aws:iam::123456789012:user/alice (리전 없음, 계정ID 있음)</a:t>
            </a:r>
            <a:br/>
            <a:br/>
            <a:r>
              <a:t>[리전 서비스]</a:t>
            </a:r>
            <a:br/>
            <a:r>
              <a:t>EC2, Lambda, RDS 등 대부분의 서비스는 리전별로 존재합니다.</a:t>
            </a:r>
            <a:br/>
            <a:br/>
            <a:r>
              <a:t>arn:aws:ec2:ap-northeast-2:123456789012:instance/i-0123456789abcdef0</a:t>
            </a:r>
            <a:br/>
            <a:r>
              <a:t>arn:aws:lambda:ap-northeast-2:123456789012:function:my-function</a:t>
            </a:r>
            <a:br/>
            <a:br/>
            <a:r>
              <a:t>[실무 팁]</a:t>
            </a:r>
            <a:br/>
            <a:r>
              <a:t>정책을 작성할 때 ARN을 외워서 쓰지 마세요. 콘솔에서 리소스를 선택하면 ARN을 복사할 수 있습니다. 또는 AWS 문서에서 정확한 형식을 확인하세요.</a:t>
            </a:r>
            <a:br/>
            <a:br/>
            <a:r>
              <a:t>특히 주의할 점:</a:t>
            </a:r>
            <a:br/>
            <a:r>
              <a:t>- S3 버킷 ARN에는 계정ID가 없습니다 (버킷 이름이 전역적으로 고유하기 때문)</a:t>
            </a:r>
            <a:br/>
            <a:r>
              <a:t>- IAM ARN에는 리전이 없습니다 (IAM은 글로벌 서비스이기 때문)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드디어 오늘 발표의 핵심인 Condition 섹션입니다.</a:t>
            </a:r>
            <a:br/>
            <a:br/>
            <a:r>
              <a:t>왜 Condition이 중요할까요?</a:t>
            </a:r>
            <a:br/>
            <a:br/>
            <a:r>
              <a:t>단순 Allow/Deny만으로는 실무 요구사항을 충족할 수 없습니다. 예를 들어:</a:t>
            </a:r>
            <a:br/>
            <a:br/>
            <a:r>
              <a:t>- 'EC2 생성 허용, 단 t3 시리즈만' → Condition 필요</a:t>
            </a:r>
            <a:br/>
            <a:r>
              <a:t>- 'MFA 인증했을 때만 콘솔 접근 허용' → Condition 필요  </a:t>
            </a:r>
            <a:br/>
            <a:r>
              <a:t>- '자신이 만든 리소스만 삭제 가능' → Condition 필요</a:t>
            </a:r>
            <a:br/>
            <a:r>
              <a:t>- '서울 리전에서만 작업 허용' → Condition 필요</a:t>
            </a:r>
            <a:br/>
            <a:br/>
            <a:r>
              <a:t>Condition이 없으면 이런 세밀한 제어가 불가능하고, 결국 너무 관대하거나 너무 엄격한 정책만 만들 수 있습니다.</a:t>
            </a:r>
            <a:br/>
            <a:br/>
            <a:r>
              <a:t>이번 섹션에서 다룰 내용:</a:t>
            </a:r>
            <a:br/>
            <a:r>
              <a:t>1. 조건 연산자 (StringEquals, StringLike, Bool, Null 등)</a:t>
            </a:r>
            <a:br/>
            <a:r>
              <a:t>2. 조건키 (글로벌 vs 서비스별)</a:t>
            </a:r>
            <a:br/>
            <a:r>
              <a:t>3. 실전 패턴 (리전 제한, 인스턴스 타입 제한, MFA 필수, 태그 기반 제어)</a:t>
            </a:r>
            <a:br/>
            <a:br/>
            <a:r>
              <a:t>각 패턴마다 '왜 이렇게 써야 하는지'를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주요 조건 연산자를 하나씩 설명하겠습니다.</a:t>
            </a:r>
            <a:br/>
            <a:br/>
            <a:r>
              <a:t>[StringEquals]</a:t>
            </a:r>
            <a:br/>
            <a:r>
              <a:t>정확히 일치해야 합니다. 대소문자를 구분합니다.</a:t>
            </a:r>
            <a:br/>
            <a:r>
              <a:t>"StringEquals": {"aws:RequestedRegion": "ap-northeast-2"}</a:t>
            </a:r>
            <a:br/>
            <a:r>
              <a:t>→ 서울 리전에서의 요청만 매칭</a:t>
            </a:r>
            <a:br/>
            <a:br/>
            <a:r>
              <a:t>[StringLike]</a:t>
            </a:r>
            <a:br/>
            <a:r>
              <a:t>와일드카드(*, ?)를 지원합니다.</a:t>
            </a:r>
            <a:br/>
            <a:r>
              <a:t>"StringLike": {"ec2:InstanceType": "t3.*"}</a:t>
            </a:r>
            <a:br/>
            <a:r>
              <a:t>→ t3.nano, t3.micro, t3.small 등 모두 매칭</a:t>
            </a:r>
            <a:br/>
            <a:br/>
            <a:r>
              <a:t>[StringNotEquals / StringNotLike]</a:t>
            </a:r>
            <a:br/>
            <a:r>
              <a:t>불일치를 검사합니다. Deny 정책에서 '~가 아니면 거부'할 때 사용합니다.</a:t>
            </a:r>
            <a:br/>
            <a:br/>
            <a:r>
              <a:t>[Bool]</a:t>
            </a:r>
            <a:br/>
            <a:r>
              <a:t>true/false 값을 비교합니다.</a:t>
            </a:r>
            <a:br/>
            <a:r>
              <a:t>"Bool": {"aws:MultiFactorAuthPresent": "true"}</a:t>
            </a:r>
            <a:br/>
            <a:r>
              <a:t>→ MFA 인증된 요청만 매칭</a:t>
            </a:r>
            <a:br/>
            <a:br/>
            <a:r>
              <a:t>[Null]</a:t>
            </a:r>
            <a:br/>
            <a:r>
              <a:t>키의 존재 여부를 확인합니다. 가장 중요한 연산자 중 하나입니다!</a:t>
            </a:r>
            <a:br/>
            <a:r>
              <a:t>"Null": {"aws:ResourceTag/username": "false"}</a:t>
            </a:r>
            <a:br/>
            <a:r>
              <a:t>→ username 태그가 존재하는 리소스만 매칭</a:t>
            </a:r>
            <a:br/>
            <a:br/>
            <a:r>
              <a:t>[ForAnyValue / ForAllValues]</a:t>
            </a:r>
            <a:br/>
            <a:r>
              <a:t>배열 값에 대한 연산입니다.</a:t>
            </a:r>
            <a:br/>
            <a:r>
              <a:t>- ForAnyValue: 하나라도 일치하면 true (OR)</a:t>
            </a:r>
            <a:br/>
            <a:r>
              <a:t>- ForAllValues: 모두 일치해야 true (AND)</a:t>
            </a:r>
            <a:br/>
            <a:br/>
            <a:r>
              <a:t>태그 키 검사에 많이 사용됩니다.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StringEquals와 StringLike의 차이를 정확히 이해해야 합니다. 실수하기 쉬운 부분입니다.</a:t>
            </a:r>
            <a:br/>
            <a:br/>
            <a:r>
              <a:t>[StringEquals - 정확한 일치]</a:t>
            </a:r>
            <a:br/>
            <a:r>
              <a:t>"StringEquals": {"ec2:InstanceType": "t3.micro"}</a:t>
            </a:r>
            <a:br/>
            <a:br/>
            <a:r>
              <a:t>이 조건은 오직 "t3.micro" 문자열만 매칭합니다.</a:t>
            </a:r>
            <a:br/>
            <a:r>
              <a:t>- t3.micro → 매칭 ✓</a:t>
            </a:r>
            <a:br/>
            <a:r>
              <a:t>- t3.small → 매칭 ✗</a:t>
            </a:r>
            <a:br/>
            <a:r>
              <a:t>- t3.micro.something → 매칭 ✗</a:t>
            </a:r>
            <a:br/>
            <a:br/>
            <a:r>
              <a:t>와일드카드를 써도 문자 그대로 해석됩니다!</a:t>
            </a:r>
            <a:br/>
            <a:r>
              <a:t>"StringEquals": {"ec2:InstanceType": "t3.*"}</a:t>
            </a:r>
            <a:br/>
            <a:r>
              <a:t>→ 문자열 "t3.*"만 매칭 (실제 인스턴스 타입 중 없음)</a:t>
            </a:r>
            <a:br/>
            <a:br/>
            <a:r>
              <a:t>[StringLike - 패턴 매칭]</a:t>
            </a:r>
            <a:br/>
            <a:r>
              <a:t>"StringLike": {"ec2:InstanceType": "t3.*"}</a:t>
            </a:r>
            <a:br/>
            <a:br/>
            <a:r>
              <a:t>와일드카드가 패턴으로 해석됩니다.</a:t>
            </a:r>
            <a:br/>
            <a:r>
              <a:t>- * → 0개 이상의 문자</a:t>
            </a:r>
            <a:br/>
            <a:r>
              <a:t>- ? → 정확히 1개 문자</a:t>
            </a:r>
            <a:br/>
            <a:br/>
            <a:r>
              <a:t>- t3.nano → 매칭 ✓</a:t>
            </a:r>
            <a:br/>
            <a:r>
              <a:t>- t3.micro → 매칭 ✓</a:t>
            </a:r>
            <a:br/>
            <a:r>
              <a:t>- t3.2xlarge → 매칭 ✓</a:t>
            </a:r>
            <a:br/>
            <a:r>
              <a:t>- t2.micro → 매칭 ✗</a:t>
            </a:r>
            <a:br/>
            <a:br/>
            <a:r>
              <a:t>[실무 팁]</a:t>
            </a:r>
            <a:br/>
            <a:r>
              <a:t>인스턴스 타입 패밀리(t3, m5 등)를 제한할 때는 StringLike + 와일드카드를 사용하세요.</a:t>
            </a:r>
            <a:br/>
            <a:r>
              <a:t>특정 타입만 허용할 때는 StringEquals + 배열을 사용하세요.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조건키에는 글로벌 키와 서비스별 키가 있습니다. 이 구분을 확실히 알아야 합니다.</a:t>
            </a:r>
            <a:br/>
            <a:br/>
            <a:r>
              <a:t>[글로벌 조건키 (aws:)]</a:t>
            </a:r>
            <a:br/>
            <a:r>
              <a:t>모든 AWS 서비스에서 사용 가능합니다.</a:t>
            </a:r>
            <a:br/>
            <a:br/>
            <a:r>
              <a:t>- aws:username → IAM 사용자 이름</a:t>
            </a:r>
            <a:br/>
            <a:r>
              <a:t>- aws:RequestedRegion → 요청한 AWS 리전</a:t>
            </a:r>
            <a:br/>
            <a:r>
              <a:t>- aws:MultiFactorAuthPresent → MFA 인증 여부</a:t>
            </a:r>
            <a:br/>
            <a:r>
              <a:t>- aws:ResourceTag/키 → 리소스에 붙은 태그 값</a:t>
            </a:r>
            <a:br/>
            <a:r>
              <a:t>- aws:RequestTag/키 → 요청에 포함된 태그 값</a:t>
            </a:r>
            <a:br/>
            <a:r>
              <a:t>- aws:TagKeys → 요청에 포함된 태그 키 목록</a:t>
            </a:r>
            <a:br/>
            <a:r>
              <a:t>- aws:SourceIp → 요청자 IP 주소</a:t>
            </a:r>
            <a:br/>
            <a:r>
              <a:t>- aws:ViaAWSService → AWS 서비스를 통한 요청인지</a:t>
            </a:r>
            <a:br/>
            <a:br/>
            <a:r>
              <a:t>[서비스별 조건키]</a:t>
            </a:r>
            <a:br/>
            <a:r>
              <a:t>특정 서비스에서만 사용 가능합니다.</a:t>
            </a:r>
            <a:br/>
            <a:br/>
            <a:r>
              <a:t>- ec2:InstanceType → EC2 인스턴스 타입</a:t>
            </a:r>
            <a:br/>
            <a:r>
              <a:t>- rds:DatabaseEngine → RDS 엔진 종류</a:t>
            </a:r>
            <a:br/>
            <a:r>
              <a:t>- s3:prefix → S3 객체 키 접두사</a:t>
            </a:r>
            <a:br/>
            <a:r>
              <a:t>- iam:PassedToService → PassRole 대상 서비스</a:t>
            </a:r>
            <a:br/>
            <a:br/>
            <a:r>
              <a:t>[매우 중요한 주의사항]</a:t>
            </a:r>
            <a:br/>
            <a:r>
              <a:t>서비스별 조건키는 모든 Action에서 지원되지 않습니다!</a:t>
            </a:r>
            <a:br/>
            <a:br/>
            <a:r>
              <a:t>ec2:InstanceType은 ec2:RunInstances에서는 사용 가능하지만,</a:t>
            </a:r>
            <a:br/>
            <a:r>
              <a:t>ec2:DescribeInstances에서는 사용 불가합니다.</a:t>
            </a:r>
            <a:br/>
            <a:br/>
            <a:r>
              <a:t>잘못된 조건키를 사용하면 조건이 무시되어 의도치 않은 허용이 발생합니다.</a:t>
            </a:r>
            <a:br/>
            <a:r>
              <a:t>반드시 AWS 공식 문서에서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내용은 정말 중요합니다. 많은 분들이 실수하는 부분이에요.</a:t>
            </a:r>
            <a:br/>
            <a:br/>
            <a:r>
              <a:t>조건키에는 두 가지 유형이 있습니다:</a:t>
            </a:r>
            <a:br/>
            <a:br/>
            <a:r>
              <a:t>[리소스 속성 조건키]</a:t>
            </a:r>
            <a:br/>
            <a:r>
              <a:t>리소스의 '현재 상태'를 평가합니다.</a:t>
            </a:r>
            <a:br/>
            <a:r>
              <a:t>ec2:InstanceType → 인스턴스의 현재 타입</a:t>
            </a:r>
            <a:br/>
            <a:br/>
            <a:r>
              <a:t>[요청 속성 조건키]</a:t>
            </a:r>
            <a:br/>
            <a:r>
              <a:t>'변경하려는 값'을 평가합니다.</a:t>
            </a:r>
            <a:br/>
            <a:r>
              <a:t>ec2:Attribute/InstanceType → 변경하려는 타입</a:t>
            </a:r>
            <a:br/>
            <a:br/>
            <a:r>
              <a:t>[왜 이게 중요한가?]</a:t>
            </a:r>
            <a:br/>
            <a:r>
              <a:t>잘못된 정책 예시를 보겠습니다:</a:t>
            </a:r>
            <a:br/>
            <a:br/>
            <a:r>
              <a:t>{</a:t>
            </a:r>
            <a:br/>
            <a:r>
              <a:t>  "Effect": "Allow",</a:t>
            </a:r>
            <a:br/>
            <a:r>
              <a:t>  "Action": "ec2:ModifyInstanceAttribute",</a:t>
            </a:r>
            <a:br/>
            <a:r>
              <a:t>  "Condition": {</a:t>
            </a:r>
            <a:br/>
            <a:r>
              <a:t>    "StringEquals": {</a:t>
            </a:r>
            <a:br/>
            <a:r>
              <a:t>      "ec2:InstanceType": ["t3.micro", "t3.small"]</a:t>
            </a:r>
            <a:br/>
            <a:r>
              <a:t>    }</a:t>
            </a:r>
            <a:br/>
            <a:r>
              <a:t>  }</a:t>
            </a:r>
            <a:br/>
            <a:r>
              <a:t>}</a:t>
            </a:r>
            <a:br/>
            <a:br/>
            <a:r>
              <a:t>이 정책의 의도: 't3.micro나 t3.small로만 변경 가능'</a:t>
            </a:r>
            <a:br/>
            <a:r>
              <a:t>실제 동작: '현재 t3.micro나 t3.small인 인스턴스의 속성만 변경 가능'</a:t>
            </a:r>
            <a:br/>
            <a:br/>
            <a:r>
              <a:t>완전히 다른 의미입니다! 현재 t3.micro인 인스턴스를 p4d.24xlarge로 변경하는 것도 허용됩니다.</a:t>
            </a:r>
            <a:br/>
            <a:br/>
            <a:r>
              <a:t>[올바른 정책]</a:t>
            </a:r>
            <a:br/>
            <a:r>
              <a:t>변경하려는 값을 제한하려면 ec2:Attribute/InstanceType을 사용해야 합니다.</a:t>
            </a:r>
            <a:br/>
            <a:br/>
            <a:r>
              <a:t>핵심: 현재 상태를 제어할지, 변경 값을 제어할지 명확히 구분하세요.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실전 패턴: 리전 제한입니다.</a:t>
            </a:r>
            <a:br/>
            <a:br/>
            <a:r>
              <a:t>교육이나 해커톤 환경에서 서울 리전만 사용하게 하고 싶을 때 사용하는 패턴입니다.</a:t>
            </a:r>
            <a:br/>
            <a:br/>
            <a:r>
              <a:t>[정책 구조 분석]</a:t>
            </a:r>
            <a:br/>
            <a:r>
              <a:t>{</a:t>
            </a:r>
            <a:br/>
            <a:r>
              <a:t>  "Sid": "DenyAlmostOutsideSeoul",</a:t>
            </a:r>
            <a:br/>
            <a:r>
              <a:t>  "Effect": "Deny",</a:t>
            </a:r>
            <a:br/>
            <a:r>
              <a:t>  "NotAction": [</a:t>
            </a:r>
            <a:br/>
            <a:r>
              <a:t>    "iam:*",</a:t>
            </a:r>
            <a:br/>
            <a:r>
              <a:t>    "cloudfront:*",</a:t>
            </a:r>
            <a:br/>
            <a:r>
              <a:t>    "route53:*",</a:t>
            </a:r>
            <a:br/>
            <a:r>
              <a:t>    "s3:ListAllMyBuckets"</a:t>
            </a:r>
            <a:br/>
            <a:r>
              <a:t>  ],</a:t>
            </a:r>
            <a:br/>
            <a:r>
              <a:t>  "Resource": "*",</a:t>
            </a:r>
            <a:br/>
            <a:r>
              <a:t>  "Condition": {</a:t>
            </a:r>
            <a:br/>
            <a:r>
              <a:t>    "StringNotEquals": {</a:t>
            </a:r>
            <a:br/>
            <a:r>
              <a:t>      "aws:RequestedRegion": "ap-northeast-2"</a:t>
            </a:r>
            <a:br/>
            <a:r>
              <a:t>    }</a:t>
            </a:r>
            <a:br/>
            <a:r>
              <a:t>  }</a:t>
            </a:r>
            <a:br/>
            <a:r>
              <a:t>}</a:t>
            </a:r>
            <a:br/>
            <a:br/>
            <a:r>
              <a:t>[왜 NotAction을 사용하는가?]</a:t>
            </a:r>
            <a:br/>
            <a:r>
              <a:t>IAM, CloudFront, Route 53은 글로벌 서비스입니다. 리전 개념이 없어요.</a:t>
            </a:r>
            <a:br/>
            <a:r>
              <a:t>aws:RequestedRegion 조건이 글로벌 서비스에 적용되면 조건 평가가 불가능해서 정책이 무시됩니다.</a:t>
            </a:r>
            <a:br/>
            <a:br/>
            <a:r>
              <a:t>그래서 글로벌 서비스를 NotAction으로 예외 처리합니다.</a:t>
            </a:r>
            <a:br/>
            <a:br/>
            <a:r>
              <a:t>[동작 방식]</a:t>
            </a:r>
            <a:br/>
            <a:r>
              <a:t>1. 서울 리전 요청 → Condition 불충족 → 이 Deny 정책 적용 안 됨 → 다른 Allow 정책으로 허용</a:t>
            </a:r>
            <a:br/>
            <a:r>
              <a:t>2. 다른 리전 요청 → Condition 충족 → Deny</a:t>
            </a:r>
            <a:br/>
            <a:r>
              <a:t>3. 글로벌 서비스 → NotAction이므로 이 정책 적용 안 됨</a:t>
            </a:r>
            <a:br/>
            <a:br/>
            <a:r>
              <a:t>[실무 팁]</a:t>
            </a:r>
            <a:br/>
            <a:r>
              <a:t>s3:ListAllMyBuckets는 버킷 목록 조회입니다. 글로벌 작업이라 예외 처리해야 합니다.</a:t>
            </a:r>
            <a:br/>
            <a:r>
              <a:t>실제로 버킷 내용 접근(GetObject 등)은 리전별 작업이라 리전 제한이 적용됩니다.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패턴: 인스턴스 타입 제한입니다.</a:t>
            </a:r>
            <a:br/>
            <a:br/>
            <a:r>
              <a:t>교육 환경에서 가장 많이 겪는 문제 중 하나가 비용 폭탄입니다. 학생이 실수로 p4d.24xlarge(시간당 $32!) 같은 인스턴스를 띄우면 큰 비용이 발생합니다.</a:t>
            </a:r>
            <a:br/>
            <a:br/>
            <a:r>
              <a:t>[정책 구조]</a:t>
            </a:r>
            <a:br/>
            <a:r>
              <a:t>{</a:t>
            </a:r>
            <a:br/>
            <a:r>
              <a:t>  "Sid": "DenyEc2Expensive",</a:t>
            </a:r>
            <a:br/>
            <a:r>
              <a:t>  "Effect": "Deny",</a:t>
            </a:r>
            <a:br/>
            <a:r>
              <a:t>  "Action": "ec2:RunInstances",</a:t>
            </a:r>
            <a:br/>
            <a:r>
              <a:t>  "Resource": "arn:aws:ec2:*:*:instance/*",</a:t>
            </a:r>
            <a:br/>
            <a:r>
              <a:t>  "Condition": {</a:t>
            </a:r>
            <a:br/>
            <a:r>
              <a:t>    "StringNotLike": {</a:t>
            </a:r>
            <a:br/>
            <a:r>
              <a:t>      "ec2:InstanceType": [</a:t>
            </a:r>
            <a:br/>
            <a:r>
              <a:t>        "t3.nano", "t3.micro", "t3.small", "t3.medium"</a:t>
            </a:r>
            <a:br/>
            <a:r>
              <a:t>      ]</a:t>
            </a:r>
            <a:br/>
            <a:r>
              <a:t>    }</a:t>
            </a:r>
            <a:br/>
            <a:r>
              <a:t>  }</a:t>
            </a:r>
            <a:br/>
            <a:r>
              <a:t>}</a:t>
            </a:r>
            <a:br/>
            <a:br/>
            <a:r>
              <a:t>[왜 Deny + StringNotLike 조합인가?]</a:t>
            </a:r>
            <a:br/>
            <a:r>
              <a:t>화이트리스트 방식입니다. 명시적으로 허용한 타입만 사용 가능하고, 나머지는 전부 차단됩니다.</a:t>
            </a:r>
            <a:br/>
            <a:br/>
            <a:r>
              <a:t>새로운 인스턴스 타입이 추가되어도 자동으로 차단됩니다. 안전한 방식이죠.</a:t>
            </a:r>
            <a:br/>
            <a:br/>
            <a:r>
              <a:t>[Resource가 instance/*인 이유]</a:t>
            </a:r>
            <a:br/>
            <a:r>
              <a:t>RunInstances는 여러 리소스(AMI, subnet, security-group 등)에 대한 권한이 필요합니다.</a:t>
            </a:r>
            <a:br/>
            <a:r>
              <a:t>ec2:InstanceType 조건은 instance 리소스에 대해서만 평가됩니다.</a:t>
            </a:r>
            <a:br/>
            <a:r>
              <a:t>다른 리소스(image/*, subnet/* 등)에 이 조건을 적용하면 조건 평가가 안 됩니다.</a:t>
            </a:r>
            <a:br/>
            <a:br/>
            <a:r>
              <a:t>[실무 팁]</a:t>
            </a:r>
            <a:br/>
            <a:r>
              <a:t>t3 시리즈 대신 t4g(ARM 기반)를 허용하면 비용을 더 절약할 수 있습니다.</a:t>
            </a:r>
            <a:br/>
            <a:r>
              <a:t>인스턴스 타입 목록은 주기적으로 검토하세요.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패턴: MFA 필수입니다.</a:t>
            </a:r>
            <a:br/>
            <a:br/>
            <a:r>
              <a:t>보안이 중요한 환경에서는 MFA 없이는 대부분의 작업을 차단해야 합니다.</a:t>
            </a:r>
            <a:br/>
            <a:br/>
            <a:r>
              <a:t>[정책의 핵심 로직]</a:t>
            </a:r>
            <a:br/>
            <a:r>
              <a:t>1. MFA 인증 없이 로그인 → 대부분의 작업 차단</a:t>
            </a:r>
            <a:br/>
            <a:r>
              <a:t>2. MFA 등록에 필요한 작업만 예외 허용</a:t>
            </a:r>
            <a:br/>
            <a:r>
              <a:t>3. AWS 서비스 간 호출은 예외 처리</a:t>
            </a:r>
            <a:br/>
            <a:br/>
            <a:r>
              <a:t>[정책 분석]</a:t>
            </a:r>
            <a:br/>
            <a:r>
              <a:t>"NotAction": [</a:t>
            </a:r>
            <a:br/>
            <a:r>
              <a:t>  "iam:CreateVirtualMFADevice",</a:t>
            </a:r>
            <a:br/>
            <a:r>
              <a:t>  "iam:EnableMFADevice",</a:t>
            </a:r>
            <a:br/>
            <a:r>
              <a:t>  "iam:ChangePassword"</a:t>
            </a:r>
            <a:br/>
            <a:r>
              <a:t>]</a:t>
            </a:r>
            <a:br/>
            <a:br/>
            <a:r>
              <a:t>왜 이 작업들을 예외 처리하는가?</a:t>
            </a:r>
            <a:br/>
            <a:r>
              <a:t>MFA를 등록하려면 이 작업들이 필요합니다. 이것마저 차단하면 영원히 MFA를 등록할 수 없죠.</a:t>
            </a:r>
            <a:br/>
            <a:br/>
            <a:r>
              <a:t>"Condition": {</a:t>
            </a:r>
            <a:br/>
            <a:r>
              <a:t>  "Bool": {</a:t>
            </a:r>
            <a:br/>
            <a:r>
              <a:t>    "aws:MultiFactorAuthPresent": "false",</a:t>
            </a:r>
            <a:br/>
            <a:r>
              <a:t>    "aws:ViaAWSService": "false"</a:t>
            </a:r>
            <a:br/>
            <a:r>
              <a:t>  }</a:t>
            </a:r>
            <a:br/>
            <a:r>
              <a:t>}</a:t>
            </a:r>
            <a:br/>
            <a:br/>
            <a:r>
              <a:t>[aws:ViaAWSService가 왜 필요한가?]</a:t>
            </a:r>
            <a:br/>
            <a:r>
              <a:t>AWS 서비스가 다른 서비스를 호출할 때(예: CloudFormation이 EC2를 호출)는 MFA 정보가 전달되지 않습니다.</a:t>
            </a:r>
            <a:br/>
            <a:r>
              <a:t>aws:ViaAWSService: true면 서비스 간 호출입니다.</a:t>
            </a:r>
            <a:br/>
            <a:br/>
            <a:r>
              <a:t>이 조건이 없으면 서비스 간 호출까지 차단되어 정상적인 AWS 기능이 동작하지 않습니다.</a:t>
            </a:r>
            <a:br/>
            <a:br/>
            <a:r>
              <a:t>[주의]</a:t>
            </a:r>
            <a:br/>
            <a:r>
              <a:t>Role을 Assume한 후에는 aws:MultiFactorAuthPresent가 false가 됩니다.</a:t>
            </a:r>
            <a:br/>
            <a:r>
              <a:t>역할 체인(Role chaining)에서 MFA 정보가 전달되지 않기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네 번째 패턴: 자기 리소스만 제어하기입니다. ABAC(Attribute-Based Access Control)라고도 불립니다.</a:t>
            </a:r>
            <a:br/>
            <a:br/>
            <a:r>
              <a:t>해커톤이나 공용 계정 환경에서 다른 참가자의 리소스를 건드리지 못하게 하는 패턴입니다.</a:t>
            </a:r>
            <a:br/>
            <a:br/>
            <a:r>
              <a:t>[동작 원리]</a:t>
            </a:r>
            <a:br/>
            <a:r>
              <a:t>1. 리소스 생성 시 username 태그를 자동으로 붙임 (별도 정책 또는 Lambda 필요)</a:t>
            </a:r>
            <a:br/>
            <a:r>
              <a:t>2. 작업 시 리소스의 username 태그와 요청자의 username을 비교</a:t>
            </a:r>
            <a:br/>
            <a:r>
              <a:t>3. 일치하면 허용, 불일치하면 거부</a:t>
            </a:r>
            <a:br/>
            <a:br/>
            <a:r>
              <a:t>[정책 분석]</a:t>
            </a:r>
            <a:br/>
            <a:r>
              <a:t>"Condition": {</a:t>
            </a:r>
            <a:br/>
            <a:r>
              <a:t>  "StringEquals": {</a:t>
            </a:r>
            <a:br/>
            <a:r>
              <a:t>    "aws:ResourceTag/username": "${aws:username}"</a:t>
            </a:r>
            <a:br/>
            <a:r>
              <a:t>  }</a:t>
            </a:r>
            <a:br/>
            <a:r>
              <a:t>}</a:t>
            </a:r>
            <a:br/>
            <a:br/>
            <a:r>
              <a:t>${aws:username}은 정책 변수입니다. 정책이 평가될 때 실제 사용자 이름으로 치환됩니다.</a:t>
            </a:r>
            <a:br/>
            <a:br/>
            <a:r>
              <a:t>alice가 요청 → aws:ResourceTag/username이 "alice"인 리소스만 조작 가능</a:t>
            </a:r>
            <a:br/>
            <a:r>
              <a:t>bob이 요청 → aws:ResourceTag/username이 "bob"인 리소스만 조작 가능</a:t>
            </a:r>
            <a:br/>
            <a:br/>
            <a:r>
              <a:t>[중요한 함정]</a:t>
            </a:r>
            <a:br/>
            <a:r>
              <a:t>태그가 없는 리소스는 어떻게 될까요?</a:t>
            </a:r>
            <a:br/>
            <a:br/>
            <a:r>
              <a:t>aws:ResourceTag/username 값이 없으면 조건 평가가 불가능합니다.</a:t>
            </a:r>
            <a:br/>
            <a:r>
              <a:t>조건 평가가 불가능하면 해당 Statement가 무시됩니다!</a:t>
            </a:r>
            <a:br/>
            <a:br/>
            <a:r>
              <a:t>즉, 태그 없는 리소스는 이 Allow 정책의 적용을 받지 않습니다.</a:t>
            </a:r>
            <a:br/>
            <a:r>
              <a:t>하지만 다른 Allow 정책이 있으면 접근될 수 있어요!</a:t>
            </a:r>
            <a:br/>
            <a:br/>
            <a:r>
              <a:t>그래서 별도로 '태그 없는 리소스 거부' 정책이 필요합니다. 다음 슬라이드에서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다섯 번째 패턴: 태그 변조 방지입니다.</a:t>
            </a:r>
            <a:br/>
            <a:br/>
            <a:r>
              <a:t>ABAC가 동작하려면 태그가 변조되지 않아야 합니다. 사용자가 자기 리소스의 username 태그를 다른 사람 이름으로 바꾸면 ABAC가 무력화됩니다.</a:t>
            </a:r>
            <a:br/>
            <a:br/>
            <a:r>
              <a:t>[정책 분석]</a:t>
            </a:r>
            <a:br/>
            <a:r>
              <a:t>{</a:t>
            </a:r>
            <a:br/>
            <a:r>
              <a:t>  "Sid": "DenyCostAllocationTagManagement",</a:t>
            </a:r>
            <a:br/>
            <a:r>
              <a:t>  "Effect": "Deny",</a:t>
            </a:r>
            <a:br/>
            <a:r>
              <a:t>  "Action": [</a:t>
            </a:r>
            <a:br/>
            <a:r>
              <a:t>    "ec2:CreateTags",</a:t>
            </a:r>
            <a:br/>
            <a:r>
              <a:t>    "ec2:DeleteTags",</a:t>
            </a:r>
            <a:br/>
            <a:r>
              <a:t>    "lambda:TagResource",</a:t>
            </a:r>
            <a:br/>
            <a:r>
              <a:t>    "lambda:UntagResource"</a:t>
            </a:r>
            <a:br/>
            <a:r>
              <a:t>  ],</a:t>
            </a:r>
            <a:br/>
            <a:r>
              <a:t>  "Condition": {</a:t>
            </a:r>
            <a:br/>
            <a:r>
              <a:t>    "ForAnyValue:StringEquals": {</a:t>
            </a:r>
            <a:br/>
            <a:r>
              <a:t>      "aws:TagKeys": ["username", "group"]</a:t>
            </a:r>
            <a:br/>
            <a:r>
              <a:t>    }</a:t>
            </a:r>
            <a:br/>
            <a:r>
              <a:t>  }</a:t>
            </a:r>
            <a:br/>
            <a:r>
              <a:t>}</a:t>
            </a:r>
            <a:br/>
            <a:br/>
            <a:r>
              <a:t>[ForAnyValue의 의미]</a:t>
            </a:r>
            <a:br/>
            <a:r>
              <a:t>aws:TagKeys는 요청에 포함된 태그 키들의 배열입니다.</a:t>
            </a:r>
            <a:br/>
            <a:r>
              <a:t>예: CreateTags로 {"Environment": "prod", "username": "alice"}를 추가하려 하면</a:t>
            </a:r>
            <a:br/>
            <a:r>
              <a:t>aws:TagKeys = ["Environment", "username"]</a:t>
            </a:r>
            <a:br/>
            <a:br/>
            <a:r>
              <a:t>ForAnyValue:StringEquals는 '배열 중 하나라도 일치하면 true'입니다.</a:t>
            </a:r>
            <a:br/>
            <a:r>
              <a:t>위 예시에서 username이 있으므로 조건 충족 → Deny</a:t>
            </a:r>
            <a:br/>
            <a:br/>
            <a:r>
              <a:t>[이 패턴이 중요한 이유]</a:t>
            </a:r>
            <a:br/>
            <a:r>
              <a:t>1. ABAC의 무결성 보장: 사용자가 태그를 변조해서 다른 사람의 리소스에 접근하는 것 방지</a:t>
            </a:r>
            <a:br/>
            <a:r>
              <a:t>2. 비용 추적: username, group 태그로 비용을 추적하는데, 이걸 변조하면 비용 분석이 불가능</a:t>
            </a:r>
            <a:br/>
            <a:br/>
            <a:r>
              <a:t>[주의]</a:t>
            </a:r>
            <a:br/>
            <a:r>
              <a:t>이 정책은 태그 생성도 막습니다. 리소스 생성 시 자동으로 태그를 붙이는 별도 메커니즘(Lambda, EventBridge 등)이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Null 조건 사용법입니다. ABAC 패턴에서 핵심적인 역할을 합니다.</a:t>
            </a:r>
            <a:br/>
            <a:br/>
            <a:r>
              <a:t>[Null 조건의 의미]</a:t>
            </a:r>
            <a:br/>
            <a:r>
              <a:t>"Null": {"aws:ResourceTag/username": "false"}</a:t>
            </a:r>
            <a:br/>
            <a:r>
              <a:t>→ username 태그가 null이 '아니다' → 태그가 존재한다</a:t>
            </a:r>
            <a:br/>
            <a:br/>
            <a:r>
              <a:t>"Null": {"aws:ResourceTag/username": "true"}</a:t>
            </a:r>
            <a:br/>
            <a:r>
              <a:t>→ username 태그가 null이다 → 태그가 존재하지 않는다</a:t>
            </a:r>
            <a:br/>
            <a:br/>
            <a:r>
              <a:t>직관적이지 않아서 헷갈리기 쉽습니다. 'null인가?'에 대한 답이라고 생각하세요.</a:t>
            </a:r>
            <a:br/>
            <a:br/>
            <a:r>
              <a:t>[왜 Null 조건이 필요한가?]</a:t>
            </a:r>
            <a:br/>
            <a:r>
              <a:t>앞서 설명한 ABAC 패턴에서, 태그가 없는 리소스는 조건 평가가 불가능합니다.</a:t>
            </a:r>
            <a:br/>
            <a:br/>
            <a:r>
              <a:t>{</a:t>
            </a:r>
            <a:br/>
            <a:r>
              <a:t>  "Effect": "Allow",</a:t>
            </a:r>
            <a:br/>
            <a:r>
              <a:t>  "Action": ["ec2:TerminateInstances"],</a:t>
            </a:r>
            <a:br/>
            <a:r>
              <a:t>  "Condition": {</a:t>
            </a:r>
            <a:br/>
            <a:r>
              <a:t>    "StringEquals": {</a:t>
            </a:r>
            <a:br/>
            <a:r>
              <a:t>      "aws:ResourceTag/username": "${aws:username}"</a:t>
            </a:r>
            <a:br/>
            <a:r>
              <a:t>    }</a:t>
            </a:r>
            <a:br/>
            <a:r>
              <a:t>  }</a:t>
            </a:r>
            <a:br/>
            <a:r>
              <a:t>}</a:t>
            </a:r>
            <a:br/>
            <a:br/>
            <a:r>
              <a:t>이 정책은 태그가 있는 리소스에만 적용됩니다. 태그 없는 리소스는 조건 평가가 안 되어 Statement가 무시됩니다.</a:t>
            </a:r>
            <a:br/>
            <a:br/>
            <a:r>
              <a:t>[태그 없는 리소스 차단 정책]</a:t>
            </a:r>
            <a:br/>
            <a:r>
              <a:t>{</a:t>
            </a:r>
            <a:br/>
            <a:r>
              <a:t>  "Effect": "Deny",</a:t>
            </a:r>
            <a:br/>
            <a:r>
              <a:t>  "Action": ["ec2:TerminateInstances"],</a:t>
            </a:r>
            <a:br/>
            <a:r>
              <a:t>  "Condition": {</a:t>
            </a:r>
            <a:br/>
            <a:r>
              <a:t>    "Null": {</a:t>
            </a:r>
            <a:br/>
            <a:r>
              <a:t>      "aws:ResourceTag/username": "true"  // 태그가 없으면</a:t>
            </a:r>
            <a:br/>
            <a:r>
              <a:t>    }</a:t>
            </a:r>
            <a:br/>
            <a:r>
              <a:t>  }</a:t>
            </a:r>
            <a:br/>
            <a:r>
              <a:t>}</a:t>
            </a:r>
            <a:br/>
            <a:br/>
            <a:r>
              <a:t>이 두 정책을 조합하면:</a:t>
            </a:r>
            <a:br/>
            <a:r>
              <a:t>1. 자기 태그가 붙은 리소스 → Allow 정책으로 허용</a:t>
            </a:r>
            <a:br/>
            <a:r>
              <a:t>2. 다른 사람 태그가 붙은 리소스 → Allow 조건 불충족, 암묵적 거부</a:t>
            </a:r>
            <a:br/>
            <a:r>
              <a:t>3. 태그 없는 리소스 → Deny 정책으로 명시적 거부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여러 Condition을 조합할 때 AND인지 OR인지 헷갈리기 쉽습니다. 정리해드리겠습니다.</a:t>
            </a:r>
            <a:br/>
            <a:br/>
            <a:r>
              <a:t>[규칙 1: 같은 블록 내 다른 조건키는 AND]</a:t>
            </a:r>
            <a:br/>
            <a:r>
              <a:t>"Condition": {</a:t>
            </a:r>
            <a:br/>
            <a:r>
              <a:t>  "StringEquals": {</a:t>
            </a:r>
            <a:br/>
            <a:r>
              <a:t>    "aws:RequestedRegion": "ap-northeast-2",</a:t>
            </a:r>
            <a:br/>
            <a:r>
              <a:t>    "ec2:InstanceType": "t3.micro"</a:t>
            </a:r>
            <a:br/>
            <a:r>
              <a:t>  }</a:t>
            </a:r>
            <a:br/>
            <a:r>
              <a:t>}</a:t>
            </a:r>
            <a:br/>
            <a:r>
              <a:t>→ (리전이 서울) AND (타입이 t3.micro)</a:t>
            </a:r>
            <a:br/>
            <a:br/>
            <a:r>
              <a:t>[규칙 2: 같은 조건키 내 여러 값은 OR]</a:t>
            </a:r>
            <a:br/>
            <a:r>
              <a:t>"ec2:InstanceType": ["t3.micro", "t3.small"]</a:t>
            </a:r>
            <a:br/>
            <a:r>
              <a:t>→ t3.micro OR t3.small</a:t>
            </a:r>
            <a:br/>
            <a:br/>
            <a:r>
              <a:t>[규칙 3: 다른 조건 연산자 블록 간에도 AND]</a:t>
            </a:r>
            <a:br/>
            <a:r>
              <a:t>"Condition": {</a:t>
            </a:r>
            <a:br/>
            <a:r>
              <a:t>  "StringEquals": {</a:t>
            </a:r>
            <a:br/>
            <a:r>
              <a:t>    "aws:RequestedRegion": "ap-northeast-2"</a:t>
            </a:r>
            <a:br/>
            <a:r>
              <a:t>  },</a:t>
            </a:r>
            <a:br/>
            <a:r>
              <a:t>  "IpAddress": {</a:t>
            </a:r>
            <a:br/>
            <a:r>
              <a:t>    "aws:SourceIp": "10.0.0.0/8"</a:t>
            </a:r>
            <a:br/>
            <a:r>
              <a:t>  }</a:t>
            </a:r>
            <a:br/>
            <a:r>
              <a:t>}</a:t>
            </a:r>
            <a:br/>
            <a:r>
              <a:t>→ (리전이 서울) AND (IP가 10.0.0.0/8 대역)</a:t>
            </a:r>
            <a:br/>
            <a:br/>
            <a:r>
              <a:t>[실무 예시]</a:t>
            </a:r>
            <a:br/>
            <a:r>
              <a:t>'서울 리전에서, t3.micro 또는 t3.small 타입만 허용'</a:t>
            </a:r>
            <a:br/>
            <a:br/>
            <a:r>
              <a:t>"Condition": {</a:t>
            </a:r>
            <a:br/>
            <a:r>
              <a:t>  "StringEquals": {</a:t>
            </a:r>
            <a:br/>
            <a:r>
              <a:t>    "aws:RequestedRegion": "ap-northeast-2",  // AND</a:t>
            </a:r>
            <a:br/>
            <a:r>
              <a:t>    "ec2:InstanceType": ["t3.micro", "t3.small"]  // OR</a:t>
            </a:r>
            <a:br/>
            <a:r>
              <a:t>  }</a:t>
            </a:r>
            <a:br/>
            <a:r>
              <a:t>}</a:t>
            </a:r>
            <a:br/>
            <a:br/>
            <a:r>
              <a:t>논리식으로 표현하면:</a:t>
            </a:r>
            <a:br/>
            <a:r>
              <a:t>(리전 == 서울) AND (타입 == t3.micro OR 타입 == t3.small)</a:t>
            </a:r>
            <a:br/>
            <a:br/>
            <a:r>
              <a:t>[복잡한 OR 조건을 만들려면?]</a:t>
            </a:r>
            <a:br/>
            <a:r>
              <a:t>Condition 내에서 순수한 OR는 만들 수 없습니다.</a:t>
            </a:r>
            <a:br/>
            <a:r>
              <a:t>여러 Statement로 분리해야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 평가가 불가능할 때의 동작을 정확히 이해해야 합니다. 많은 분들이 오해하는 부분입니다.</a:t>
            </a:r>
            <a:br/>
            <a:br/>
            <a:r>
              <a:t>[흔한 오해]</a:t>
            </a:r>
            <a:br/>
            <a:r>
              <a:t>'조건을 평가할 수 없으면 공허하게 참(vacuous truth)이 된다'</a:t>
            </a:r>
            <a:br/>
            <a:br/>
            <a:r>
              <a:t>[실제 동작]</a:t>
            </a:r>
            <a:br/>
            <a:r>
              <a:t>조건을 평가할 수 없으면 조건 불일치(mismatch)로 처리되어 해당 Statement가 무시됩니다.</a:t>
            </a:r>
            <a:br/>
            <a:br/>
            <a:r>
              <a:t>[조건 평가가 불가능한 상황]</a:t>
            </a:r>
            <a:br/>
            <a:r>
              <a:t>1. Action이 해당 조건키를 지원하지 않음</a:t>
            </a:r>
            <a:br/>
            <a:r>
              <a:t>   ec2:DescribeInstances에서 ec2:InstanceType 사용 → 평가 불가</a:t>
            </a:r>
            <a:br/>
            <a:br/>
            <a:r>
              <a:t>2. 조건키는 지원하지만 값이 존재하지 않음</a:t>
            </a:r>
            <a:br/>
            <a:r>
              <a:t>   태그 없는 리소스에서 aws:ResourceTag/username 사용 → 평가 불가</a:t>
            </a:r>
            <a:br/>
            <a:br/>
            <a:r>
              <a:t>[비유로 설명]</a:t>
            </a:r>
            <a:br/>
            <a:r>
              <a:t>'이 사람의 이름이 Jack이 아닌가?' (StringNotEquals)</a:t>
            </a:r>
            <a:br/>
            <a:br/>
            <a:r>
              <a:t>- 이름이 Tom → '네, Jack이 아닙니다' → 조건 충족</a:t>
            </a:r>
            <a:br/>
            <a:r>
              <a:t>- 이름이 Jack → '아니요, Jack입니다' → 조건 불충족</a:t>
            </a:r>
            <a:br/>
            <a:r>
              <a:t>- 이름표가 없음 → '판단 불가' → Statement 무시!</a:t>
            </a:r>
            <a:br/>
            <a:br/>
            <a:r>
              <a:t>세 번째 케이스가 핵심입니다. '판단 불가'는 '참'도 '거짓'도 아닙니다.</a:t>
            </a:r>
            <a:br/>
            <a:br/>
            <a:r>
              <a:t>[실무적 영향]</a:t>
            </a:r>
            <a:br/>
            <a:r>
              <a:t>Allow 정책에서 Statement가 무시되면 → 암묵적 거부 (다른 Allow가 없으면)</a:t>
            </a:r>
            <a:br/>
            <a:r>
              <a:t>Deny 정책에서 Statement가 무시되면 → 허용될 수 있음 (위험!)</a:t>
            </a:r>
            <a:br/>
            <a:br/>
            <a:r>
              <a:t>Deny 정책을 쓸 때는 조건 평가 불가 케이스를 반드시 고려하세요.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ec2:RunInstances가 왜 여러 Resource ARN을 필요로 하는지 설명하겠습니다.</a:t>
            </a:r>
            <a:br/>
            <a:br/>
            <a:r>
              <a:t>EC2 인스턴스를 생성하면 내부적으로 많은 일이 벌어집니다:</a:t>
            </a:r>
            <a:br/>
            <a:r>
              <a:t>1. AMI에서 루트 볼륨 복제</a:t>
            </a:r>
            <a:br/>
            <a:r>
              <a:t>2. 네트워크 인터페이스 생성 및 서브넷에 연결</a:t>
            </a:r>
            <a:br/>
            <a:r>
              <a:t>3. 보안 그룹 연결</a:t>
            </a:r>
            <a:br/>
            <a:r>
              <a:t>4. EBS 볼륨 생성 및 연결</a:t>
            </a:r>
            <a:br/>
            <a:r>
              <a:t>5. 키페어로 SSH 설정</a:t>
            </a:r>
            <a:br/>
            <a:r>
              <a:t>6. 인스턴스 메타데이터 생성</a:t>
            </a:r>
            <a:br/>
            <a:br/>
            <a:r>
              <a:t>이 모든 과정에서 각각의 리소스에 대한 권한이 필요합니다.</a:t>
            </a:r>
            <a:br/>
            <a:br/>
            <a:r>
              <a:t>[필요한 Resource ARN]</a:t>
            </a:r>
            <a:br/>
            <a:r>
              <a:t>"Resource": [</a:t>
            </a:r>
            <a:br/>
            <a:r>
              <a:t>  "arn:aws:ec2:*:*:instance/*",          // 생성될 인스턴스</a:t>
            </a:r>
            <a:br/>
            <a:r>
              <a:t>  "arn:aws:ec2:*::image/ami-*",          // AMI (계정ID 없음 주의)</a:t>
            </a:r>
            <a:br/>
            <a:r>
              <a:t>  "arn:aws:ec2:*:*:key-pair/*",          // SSH 키페어</a:t>
            </a:r>
            <a:br/>
            <a:r>
              <a:t>  "arn:aws:ec2:*:*:network-interface/*", // 네트워크 인터페이스</a:t>
            </a:r>
            <a:br/>
            <a:r>
              <a:t>  "arn:aws:ec2:*:*:security-group/*",    // 보안 그룹</a:t>
            </a:r>
            <a:br/>
            <a:r>
              <a:t>  "arn:aws:ec2:*:*:subnet/*",            // 서브넷</a:t>
            </a:r>
            <a:br/>
            <a:r>
              <a:t>  "arn:aws:ec2:*:*:volume/*"             // EBS 볼륨</a:t>
            </a:r>
            <a:br/>
            <a:r>
              <a:t>]</a:t>
            </a:r>
            <a:br/>
            <a:br/>
            <a:r>
              <a:t>[흔한 실수]</a:t>
            </a:r>
            <a:br/>
            <a:r>
              <a:t>"Resource": "arn:aws:ec2:*:*:instance/*"만 지정</a:t>
            </a:r>
            <a:br/>
            <a:r>
              <a:t>→ 인스턴스 생성은 되지만 AMI, 보안 그룹 등에 대한 권한이 없어서 실패</a:t>
            </a:r>
            <a:br/>
            <a:br/>
            <a:r>
              <a:t>[디버깅 팁]</a:t>
            </a:r>
            <a:br/>
            <a:r>
              <a:t>권한 오류가 나면 CloudTrail에서 정확히 어떤 리소스에 대한 권한이 부족한지 확인하세요.</a:t>
            </a:r>
            <a:br/>
            <a:br/>
            <a:r>
              <a:t>[AWS 문서 참고]</a:t>
            </a:r>
            <a:br/>
            <a:r>
              <a:t>각 Action의 Required Resources와 Dependent Actions 섹션을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정책 평가 순서입니다. 이 순서를 이해하면 복잡한 정책 조합도 예측할 수 있습니다.</a:t>
            </a:r>
            <a:br/>
            <a:br/>
            <a:r>
              <a:t>[평가 순서]</a:t>
            </a:r>
            <a:br/>
            <a:r>
              <a:t>1. 명시적 Deny → 무조건 거부 (최우선)</a:t>
            </a:r>
            <a:br/>
            <a:r>
              <a:t>2. 명시적 Allow → 허용</a:t>
            </a:r>
            <a:br/>
            <a:r>
              <a:t>3. 암묵적 Deny → 기본값 (아무 정책도 없으면)</a:t>
            </a:r>
            <a:br/>
            <a:br/>
            <a:r>
              <a:t>[핵심 원칙]</a:t>
            </a:r>
            <a:br/>
            <a:r>
              <a:t>Deny는 항상 Allow를 이깁니다. 어떤 정책에서 Allow하더라도 다른 정책에서 Deny하면 최종 결과는 Deny입니다.</a:t>
            </a:r>
            <a:br/>
            <a:br/>
            <a:r>
              <a:t>[예시]</a:t>
            </a:r>
            <a:br/>
            <a:r>
              <a:t>Policy A: s3:* Allow</a:t>
            </a:r>
            <a:br/>
            <a:r>
              <a:t>Policy B: s3:DeleteObject Deny</a:t>
            </a:r>
            <a:br/>
            <a:br/>
            <a:r>
              <a:t>결과:</a:t>
            </a:r>
            <a:br/>
            <a:r>
              <a:t>- s3:GetObject → Allow (Policy A)</a:t>
            </a:r>
            <a:br/>
            <a:r>
              <a:t>- s3:PutObject → Allow (Policy A)</a:t>
            </a:r>
            <a:br/>
            <a:r>
              <a:t>- s3:DeleteObject → Deny (Policy B가 우선)</a:t>
            </a:r>
            <a:br/>
            <a:br/>
            <a:r>
              <a:t>[이 원칙의 활용]</a:t>
            </a:r>
            <a:br/>
            <a:r>
              <a:t>1. '기본 허용, 특정 작업만 거부' 패턴이 가능합니다</a:t>
            </a:r>
            <a:br/>
            <a:r>
              <a:t>   PowerUserAccess + 특정 Deny 정책 조합</a:t>
            </a:r>
            <a:br/>
            <a:br/>
            <a:r>
              <a:t>2. SCP(Service Control Policy)로 조직 전체에 가드레일 적용</a:t>
            </a:r>
            <a:br/>
            <a:r>
              <a:t>   아무리 관리자 권한이 있어도 SCP의 Deny는 우회 불가</a:t>
            </a:r>
            <a:br/>
            <a:br/>
            <a:r>
              <a:t>[주의사항]</a:t>
            </a:r>
            <a:br/>
            <a:r>
              <a:t>Deny 정책을 너무 광범위하게 쓰면 나중에 예외를 추가하기 어렵습니다.</a:t>
            </a:r>
            <a:br/>
            <a:r>
              <a:t>Deny 안에 Deny가 있으면 취소되는 게 아니라 여전히 Deny입니다.</a:t>
            </a:r>
            <a:br/>
            <a:br/>
            <a:r>
              <a:t>Deny 정책은 신중하게, 최소한으로 사용하세요.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흔한 실수와 해결책을 정리했습니다. 실무에서 자주 겪는 문제들입니다.</a:t>
            </a:r>
            <a:br/>
            <a:br/>
            <a:r>
              <a:t>[1. Resource에 * 누락]</a:t>
            </a:r>
            <a:br/>
            <a:r>
              <a:t>증상: 정책이 동작하지 않음, AccessDenied</a:t>
            </a:r>
            <a:br/>
            <a:r>
              <a:t>원인: 일부 Action은 특정 Resource를 필수로 요구</a:t>
            </a:r>
            <a:br/>
            <a:r>
              <a:t>해결: 서비스별 Required Resources 확인</a:t>
            </a:r>
            <a:br/>
            <a:br/>
            <a:r>
              <a:t>예: iam:PassRole은 반드시 Role ARN이 필요</a:t>
            </a:r>
            <a:br/>
            <a:r>
              <a:t>"Resource": "*"로는 동작하지 않을 수 있음</a:t>
            </a:r>
            <a:br/>
            <a:br/>
            <a:r>
              <a:t>[2. NotAction 오용]</a:t>
            </a:r>
            <a:br/>
            <a:r>
              <a:t>증상: 의도치 않은 권한 허용</a:t>
            </a:r>
            <a:br/>
            <a:r>
              <a:t>원인: Allow + NotAction 조합의 위험성 미인지</a:t>
            </a:r>
            <a:br/>
            <a:r>
              <a:t>해결: Deny + Action 조합으로 변경</a:t>
            </a:r>
            <a:br/>
            <a:br/>
            <a:r>
              <a:t>[3. 조건키 오타]</a:t>
            </a:r>
            <a:br/>
            <a:r>
              <a:t>증상: 조건이 무시됨 (너무 관대하게 동작)</a:t>
            </a:r>
            <a:br/>
            <a:r>
              <a:t>원인: 조건키 이름 오타 (aws:RequestRegion vs aws:RequestedRegion)</a:t>
            </a:r>
            <a:br/>
            <a:r>
              <a:t>해결: AWS 문서에서 복사-붙여넣기</a:t>
            </a:r>
            <a:br/>
            <a:br/>
            <a:r>
              <a:t>[4. 정책 크기 초과]</a:t>
            </a:r>
            <a:br/>
            <a:r>
              <a:t>증상: 정책 저장 실패</a:t>
            </a:r>
            <a:br/>
            <a:r>
              <a:t>원인: 6,144자 제한 초과</a:t>
            </a:r>
            <a:br/>
            <a:r>
              <a:t>해결: 정책 분리, 중복 제거, 와일드카드 활용</a:t>
            </a:r>
            <a:br/>
            <a:br/>
            <a:r>
              <a:t>[5. 지원 안 되는 조건키 사용] ← 가장 위험!</a:t>
            </a:r>
            <a:br/>
            <a:r>
              <a:t>증상: 조건이 완전히 무시됨</a:t>
            </a:r>
            <a:br/>
            <a:r>
              <a:t>원인: 해당 Action이 조건키를 지원하지 않음</a:t>
            </a:r>
            <a:br/>
            <a:r>
              <a:t>해결: AWS 문서에서 Action별 지원 조건키 확인</a:t>
            </a:r>
            <a:br/>
            <a:br/>
            <a:r>
              <a:t>이 중 5번이 가장 위험합니다. 조건이 무시되면 의도치 않은 전체 허용이 발생할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FAQ 섹션입니다.</a:t>
            </a:r>
            <a:br/>
            <a:br/>
            <a:r>
              <a:t>이 섹션에서는 실무에서 자주 나오는 질문들을 다룹니다.</a:t>
            </a:r>
            <a:br/>
            <a:br/>
            <a:r>
              <a:t>특히 다음 질문들이 중요합니다:</a:t>
            </a:r>
            <a:br/>
            <a:br/>
            <a:r>
              <a:t>1. Allow+NotAction vs Deny+Action - 어떤 게 더 안전한가?</a:t>
            </a:r>
            <a:br/>
            <a:r>
              <a:t>2. 조건 평가가 불가능하면 어떻게 되는가?</a:t>
            </a:r>
            <a:br/>
            <a:r>
              <a:t>3. 여러 Condition의 AND/OR 조합</a:t>
            </a:r>
            <a:br/>
            <a:br/>
            <a:r>
              <a:t>이 질문들에 대한 답을 알면 대부분의 IAM 정책 작성 시 발생하는 문제를 해결할 수 있습니다.</a:t>
            </a:r>
            <a:br/>
            <a:br/>
            <a:r>
              <a:t>다음 슬라이드에서 가장 중요한 질문인 Allow+NotAction vs Deny+Action을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가장 많이 받는 질문입니다: Allow+NotAction vs Deny+Action, 어떤 게 더 안전한가?</a:t>
            </a:r>
            <a:br/>
            <a:br/>
            <a:r>
              <a:t>[결론부터]</a:t>
            </a:r>
            <a:br/>
            <a:r>
              <a:t>Deny+Action이 항상 더 안전합니다.</a:t>
            </a:r>
            <a:br/>
            <a:br/>
            <a:r>
              <a:t>[Allow+NotAction의 위험성]</a:t>
            </a:r>
            <a:br/>
            <a:r>
              <a:t>{"Effect": "Allow", "NotAction": ["iam:*"], "Resource": "*"}</a:t>
            </a:r>
            <a:br/>
            <a:br/>
            <a:r>
              <a:t>이 정책의 의미: 'IAM을 제외한 모든 작업 허용'</a:t>
            </a:r>
            <a:br/>
            <a:br/>
            <a:r>
              <a:t>문제점:</a:t>
            </a:r>
            <a:br/>
            <a:r>
              <a:t>1. 새로운 AWS 서비스가 출시되면 자동으로 허용됩니다</a:t>
            </a:r>
            <a:br/>
            <a:r>
              <a:t>   2024년에 새로 나온 서비스? 허용됩니다</a:t>
            </a:r>
            <a:br/>
            <a:r>
              <a:t>   2025년에 새로 나온 서비스? 허용됩니다</a:t>
            </a:r>
            <a:br/>
            <a:r>
              <a:t>   의도치 않은 권한 부여가 발생합니다</a:t>
            </a:r>
            <a:br/>
            <a:br/>
            <a:r>
              <a:t>2. 정책 작성자가 몰랐던 서비스도 허용됩니다</a:t>
            </a:r>
            <a:br/>
            <a:r>
              <a:t>   'AWS에 이런 서비스도 있었어?' → 이미 허용되어 있음</a:t>
            </a:r>
            <a:br/>
            <a:br/>
            <a:r>
              <a:t>[Deny+Action의 안전성]</a:t>
            </a:r>
            <a:br/>
            <a:r>
              <a:t>{"Effect": "Deny", "Action": ["iam:*"], "Resource": "*"}</a:t>
            </a:r>
            <a:br/>
            <a:br/>
            <a:r>
              <a:t>이 정책의 의미: 'IAM만 명시적으로 거부'</a:t>
            </a:r>
            <a:br/>
            <a:br/>
            <a:r>
              <a:t>장점:</a:t>
            </a:r>
            <a:br/>
            <a:r>
              <a:t>1. 신규 서비스가 추가되어도 영향 없음</a:t>
            </a:r>
            <a:br/>
            <a:r>
              <a:t>2. 다른 정책에서 명시적으로 Allow해야만 사용 가능</a:t>
            </a:r>
            <a:br/>
            <a:r>
              <a:t>3. 최소 권한 원칙(Principle of Least Privilege)에 부합</a:t>
            </a:r>
            <a:br/>
            <a:br/>
            <a:r>
              <a:t>[실무 권장]</a:t>
            </a:r>
            <a:br/>
            <a:r>
              <a:t>- 서비스 전체를 차단할 때: Deny + Action</a:t>
            </a:r>
            <a:br/>
            <a:r>
              <a:t>- 특정 Action만 허용할 때: Allow + Action</a:t>
            </a:r>
            <a:br/>
            <a:r>
              <a:t>- Allow + NotAction은 가급적 피하세요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정책 작성 전 체크리스트입니다. 새 정책을 만들 때마다 확인하세요.</a:t>
            </a:r>
            <a:br/>
            <a:br/>
            <a:r>
              <a:t>[1. 조건키 지원 여부 확인]</a:t>
            </a:r>
            <a:br/>
            <a:r>
              <a:t>가장 중요합니다! 지원 안 되는 조건키를 쓰면 조건이 무시됩니다.</a:t>
            </a:r>
            <a:br/>
            <a:r>
              <a:t>AWS 문서 → 해당 서비스 → 사용하려는 Action → 지원 조건키 확인</a:t>
            </a:r>
            <a:br/>
            <a:br/>
            <a:r>
              <a:t>[2. Allow+NotAction 대신 Deny+Action 검토]</a:t>
            </a:r>
            <a:br/>
            <a:r>
              <a:t>새 서비스 자동 허용 문제를 방지합니다.</a:t>
            </a:r>
            <a:br/>
            <a:r>
              <a:t>'이 정책이 의도치 않게 너무 많은 것을 허용하지 않는가?'</a:t>
            </a:r>
            <a:br/>
            <a:br/>
            <a:r>
              <a:t>[3. 현재 상태 vs 변경 값 구분]</a:t>
            </a:r>
            <a:br/>
            <a:r>
              <a:t>ec2:InstanceType vs ec2:Attribute/InstanceType</a:t>
            </a:r>
            <a:br/>
            <a:r>
              <a:t>어떤 것을 제어하려는 건지 명확히 하세요.</a:t>
            </a:r>
            <a:br/>
            <a:br/>
            <a:r>
              <a:t>[4. ForAnyValue/ForAllValues 필요성 검토]</a:t>
            </a:r>
            <a:br/>
            <a:r>
              <a:t>요청 값이 배열일 때만 필요합니다.</a:t>
            </a:r>
            <a:br/>
            <a:r>
              <a:t>ModifyInstanceAttribute의 인스턴스 타입은 단일 값 → 불필요</a:t>
            </a:r>
            <a:br/>
            <a:r>
              <a:t>CreateTags의 태그 키는 배열 → 필요할 수 있음</a:t>
            </a:r>
            <a:br/>
            <a:br/>
            <a:r>
              <a:t>[5. PassRole 필요성 확인]</a:t>
            </a:r>
            <a:br/>
            <a:r>
              <a:t>AWS 서비스에 Role을 전달하는 모든 작업에 필요합니다.</a:t>
            </a:r>
            <a:br/>
            <a:r>
              <a:t>'이 작업이 서비스에 Role을 연결하는가?'</a:t>
            </a:r>
            <a:br/>
            <a:br/>
            <a:r>
              <a:t>[6. Null 조건 필요성 검토]</a:t>
            </a:r>
            <a:br/>
            <a:r>
              <a:t>태그 기반 정책에서 태그 없는 리소스도 제어해야 할 수 있습니다.</a:t>
            </a:r>
            <a:br/>
            <a:r>
              <a:t>'태그가 없는 리소스는 어떻게 되는가?'</a:t>
            </a:r>
            <a:br/>
            <a:br/>
            <a:r>
              <a:t>이 체크리스트를 거치면 대부분의 IAM 정책 실수를 예방할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마지막으로 참고 자료를 안내드립니다.</a:t>
            </a:r>
            <a:br/>
            <a:br/>
            <a:r>
              <a:t>[IAM 글로벌 조건키 전체 목록]</a:t>
            </a:r>
            <a:br/>
            <a:r>
              <a:t>https://docs.aws.amazon.com/IAM/latest/UserGuide/reference_policies_condition-keys.html</a:t>
            </a:r>
            <a:br/>
            <a:br/>
            <a:r>
              <a:t>aws:로 시작하는 모든 조건키가 정리되어 있습니다.</a:t>
            </a:r>
            <a:br/>
            <a:r>
              <a:t>새로운 글로벌 조건키가 추가되면 여기에 업데이트됩니다.</a:t>
            </a:r>
            <a:br/>
            <a:br/>
            <a:r>
              <a:t>[서비스별 Actions, Resources, Condition Keys]</a:t>
            </a:r>
            <a:br/>
            <a:r>
              <a:t>https://docs.aws.amazon.com/service-authorization/latest/reference/</a:t>
            </a:r>
            <a:br/>
            <a:br/>
            <a:r>
              <a:t>이 문서가 가장 중요합니다!</a:t>
            </a:r>
            <a:br/>
            <a:r>
              <a:t>각 서비스의 모든 Action, 필요한 Resource, 지원하는 조건키가 정리되어 있습니다.</a:t>
            </a:r>
            <a:br/>
            <a:r>
              <a:t>새 정책을 작성할 때 반드시 참고하세요.</a:t>
            </a:r>
            <a:br/>
            <a:br/>
            <a:r>
              <a:t>[IAM Policy Simulator]</a:t>
            </a:r>
            <a:br/>
            <a:r>
              <a:t>https://policysim.aws.amazon.com/</a:t>
            </a:r>
            <a:br/>
            <a:br/>
            <a:r>
              <a:t>정책을 적용하기 전에 시뮬레이션할 수 있습니다.</a:t>
            </a:r>
            <a:br/>
            <a:r>
              <a:t>'이 사용자가 이 작업을 하면 어떻게 되는가?'를 테스트할 수 있습니다.</a:t>
            </a:r>
            <a:br/>
            <a:br/>
            <a:r>
              <a:t>[AWS Access Analyzer]</a:t>
            </a:r>
            <a:br/>
            <a:r>
              <a:t>IAM 콘솔 내에서 사용할 수 있습니다.</a:t>
            </a:r>
            <a:br/>
            <a:r>
              <a:t>정책의 잠재적 문제점을 자동으로 찾아줍니다.</a:t>
            </a:r>
            <a:br/>
            <a:r>
              <a:t>외부 접근 가능한 리소스도 식별해줍니다.</a:t>
            </a:r>
            <a:br/>
            <a:br/>
            <a:r>
              <a:t>[마지막으로 강조]</a:t>
            </a:r>
            <a:br/>
            <a:r>
              <a:t>새 정책을 작성할 때는 반드시 공식 문서에서 해당 Action이 지원하는 조건키를 확인하세요!</a:t>
            </a:r>
            <a:br/>
            <a:r>
              <a:t>이것만 지켜도 대부분의 IAM 정책 문제를 예방할 수 있습니다.</a:t>
            </a:r>
            <a:br/>
            <a:br/>
            <a:r>
              <a:t>감사합니다. 질문 있으시면 말씀해주세요.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p:spPr>
      </p:sp>
      <p:sp>
        <p:nvSpPr>
          <p:cNvPr id="3" name="Shape 1"/>
          <p:cNvSpPr/>
          <p:nvPr/>
        </p:nvSpPr>
        <p:spPr>
          <a:xfrm>
            <a:off x="3383280" y="1463040"/>
            <a:ext cx="2377440" cy="457200"/>
          </a:xfrm>
          <a:prstGeom prst="roundRect">
            <a:avLst/>
          </a:prstGeom>
          <a:solidFill>
            <a:srgbClr val="0F172A"/>
          </a:solidFill>
          <a:ln w="12700">
            <a:solidFill>
              <a:srgbClr val="38BDF8"/>
            </a:solidFill>
            <a:prstDash val="solid"/>
          </a:ln>
        </p:spPr>
      </p:sp>
      <p:sp>
        <p:nvSpPr>
          <p:cNvPr id="4" name="Text 2"/>
          <p:cNvSpPr/>
          <p:nvPr/>
        </p:nvSpPr>
        <p:spPr>
          <a:xfrm>
            <a:off x="3383280" y="1463040"/>
            <a:ext cx="2377440" cy="457200"/>
          </a:xfrm>
          <a:prstGeom prst="rect">
            <a:avLst/>
          </a:prstGeom>
          <a:noFill/>
          <a:ln/>
        </p:spPr>
        <p:txBody>
          <a:bodyPr wrap="square" rtlCol="0" anchor="ctr"/>
          <a:lstStyle/>
          <a:p>
            <a:pPr algn="ctr" indent="0" marL="0">
              <a:buNone/>
            </a:pPr>
            <a:r>
              <a:rPr lang="en-US" sz="1200" b="1" dirty="0">
                <a:solidFill>
                  <a:srgbClr val="38BDF8"/>
                </a:solidFill>
              </a:rPr>
              <a:t>IAM DEEP DIVE</a:t>
            </a:r>
            <a:endParaRPr lang="en-US" sz="1200" dirty="0"/>
          </a:p>
        </p:txBody>
      </p:sp>
      <p:sp>
        <p:nvSpPr>
          <p:cNvPr id="5" name="Text 3"/>
          <p:cNvSpPr/>
          <p:nvPr/>
        </p:nvSpPr>
        <p:spPr>
          <a:xfrm>
            <a:off x="457200" y="2103120"/>
            <a:ext cx="8229600" cy="822960"/>
          </a:xfrm>
          <a:prstGeom prst="rect">
            <a:avLst/>
          </a:prstGeom>
          <a:noFill/>
          <a:ln/>
        </p:spPr>
        <p:txBody>
          <a:bodyPr wrap="square" rtlCol="0" anchor="ctr"/>
          <a:lstStyle/>
          <a:p>
            <a:pPr algn="ctr" indent="0" marL="0">
              <a:buNone/>
            </a:pPr>
            <a:r>
              <a:rPr lang="en-US" sz="4800" b="1" dirty="0">
                <a:solidFill>
                  <a:srgbClr val="FFFFFF"/>
                </a:solidFill>
              </a:rPr>
              <a:t>AWS IAM 정책 관리 방법</a:t>
            </a:r>
            <a:endParaRPr lang="en-US" sz="4800" dirty="0"/>
          </a:p>
        </p:txBody>
      </p:sp>
      <p:sp>
        <p:nvSpPr>
          <p:cNvPr id="6" name="Text 4"/>
          <p:cNvSpPr/>
          <p:nvPr/>
        </p:nvSpPr>
        <p:spPr>
          <a:xfrm>
            <a:off x="914400" y="2926080"/>
            <a:ext cx="7315200" cy="457200"/>
          </a:xfrm>
          <a:prstGeom prst="rect">
            <a:avLst/>
          </a:prstGeom>
          <a:noFill/>
          <a:ln/>
        </p:spPr>
        <p:txBody>
          <a:bodyPr wrap="square" rtlCol="0" anchor="ctr"/>
          <a:lstStyle/>
          <a:p>
            <a:pPr algn="ctr" indent="0" marL="0">
              <a:buNone/>
            </a:pPr>
            <a:r>
              <a:rPr lang="en-US" sz="1800" dirty="0">
                <a:solidFill>
                  <a:srgbClr val="94A3B8"/>
                </a:solidFill>
              </a:rPr>
              <a:t>교육/해커톤/MSP 환경을 위한 IAM 커스텀 정책 가이드</a:t>
            </a:r>
            <a:endParaRPr lang="en-US" sz="1800" dirty="0"/>
          </a:p>
        </p:txBody>
      </p:sp>
      <p:sp>
        <p:nvSpPr>
          <p:cNvPr id="7" name="Shape 5"/>
          <p:cNvSpPr/>
          <p:nvPr/>
        </p:nvSpPr>
        <p:spPr>
          <a:xfrm>
            <a:off x="3840480" y="3566160"/>
            <a:ext cx="1463040" cy="36576"/>
          </a:xfrm>
          <a:prstGeom prst="rect">
            <a:avLst/>
          </a:prstGeom>
          <a:solidFill>
            <a:srgbClr val="38BDF8"/>
          </a:solidFill>
          <a:ln/>
        </p:spPr>
      </p:sp>
      <p:sp>
        <p:nvSpPr>
          <p:cNvPr id="8" name="Text 6"/>
          <p:cNvSpPr/>
          <p:nvPr/>
        </p:nvSpPr>
        <p:spPr>
          <a:xfrm>
            <a:off x="457200" y="3840480"/>
            <a:ext cx="8229600" cy="320040"/>
          </a:xfrm>
          <a:prstGeom prst="rect">
            <a:avLst/>
          </a:prstGeom>
          <a:noFill/>
          <a:ln/>
        </p:spPr>
        <p:txBody>
          <a:bodyPr wrap="square" rtlCol="0" anchor="ctr"/>
          <a:lstStyle/>
          <a:p>
            <a:pPr algn="ctr" indent="0" marL="0">
              <a:buNone/>
            </a:pPr>
            <a:r>
              <a:rPr lang="en-US" sz="1600" dirty="0">
                <a:solidFill>
                  <a:srgbClr val="FFFFFF"/>
                </a:solidFill>
              </a:rPr>
              <a:t>NXT Cloud</a:t>
            </a:r>
            <a:endParaRPr lang="en-US" sz="1600" dirty="0"/>
          </a:p>
        </p:txBody>
      </p:sp>
      <p:sp>
        <p:nvSpPr>
          <p:cNvPr id="9" name="Text 7"/>
          <p:cNvSpPr/>
          <p:nvPr/>
        </p:nvSpPr>
        <p:spPr>
          <a:xfrm>
            <a:off x="457200" y="4114800"/>
            <a:ext cx="8229600" cy="274320"/>
          </a:xfrm>
          <a:prstGeom prst="rect">
            <a:avLst/>
          </a:prstGeom>
          <a:noFill/>
          <a:ln/>
        </p:spPr>
        <p:txBody>
          <a:bodyPr wrap="square" rtlCol="0" anchor="ctr"/>
          <a:lstStyle/>
          <a:p>
            <a:pPr algn="ctr" indent="0" marL="0">
              <a:buNone/>
            </a:pPr>
            <a:r>
              <a:rPr lang="en-US" sz="1400" dirty="0">
                <a:solidFill>
                  <a:srgbClr val="64748B"/>
                </a:solidFill>
              </a:rPr>
              <a:t>Technical Training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63EB"/>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7200" b="1" dirty="0">
                <a:solidFill>
                  <a:srgbClr val="FFFFFF"/>
                </a:solidFill>
              </a:rPr>
              <a:t>01</a:t>
            </a:r>
            <a:endParaRPr lang="en-US" sz="7200" dirty="0"/>
          </a:p>
        </p:txBody>
      </p:sp>
      <p:sp>
        <p:nvSpPr>
          <p:cNvPr id="3" name="Text 1"/>
          <p:cNvSpPr/>
          <p:nvPr/>
        </p:nvSpPr>
        <p:spPr>
          <a:xfrm>
            <a:off x="457200" y="2560320"/>
            <a:ext cx="8229600" cy="640080"/>
          </a:xfrm>
          <a:prstGeom prst="rect">
            <a:avLst/>
          </a:prstGeom>
          <a:noFill/>
          <a:ln/>
        </p:spPr>
        <p:txBody>
          <a:bodyPr wrap="square" rtlCol="0" anchor="ctr"/>
          <a:lstStyle/>
          <a:p>
            <a:pPr algn="ctr" indent="0" marL="0">
              <a:buNone/>
            </a:pPr>
            <a:r>
              <a:rPr lang="en-US" sz="4000" b="1" dirty="0">
                <a:solidFill>
                  <a:srgbClr val="FFFFFF"/>
                </a:solidFill>
              </a:rPr>
              <a:t>IAM 기본 개념</a:t>
            </a:r>
            <a:endParaRPr lang="en-US" sz="4000" dirty="0"/>
          </a:p>
        </p:txBody>
      </p:sp>
      <p:sp>
        <p:nvSpPr>
          <p:cNvPr id="4" name="Text 2"/>
          <p:cNvSpPr/>
          <p:nvPr/>
        </p:nvSpPr>
        <p:spPr>
          <a:xfrm>
            <a:off x="457200" y="3200400"/>
            <a:ext cx="8229600" cy="365760"/>
          </a:xfrm>
          <a:prstGeom prst="rect">
            <a:avLst/>
          </a:prstGeom>
          <a:noFill/>
          <a:ln/>
        </p:spPr>
        <p:txBody>
          <a:bodyPr wrap="square" rtlCol="0" anchor="ctr"/>
          <a:lstStyle/>
          <a:p>
            <a:pPr algn="ctr" indent="0" marL="0">
              <a:buNone/>
            </a:pPr>
            <a:r>
              <a:rPr lang="en-US" sz="1800" dirty="0">
                <a:solidFill>
                  <a:srgbClr val="DBEAFE"/>
                </a:solidFill>
              </a:rPr>
              <a:t>User, Group, Role, Policy의 역할</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IAM 핵심 구성 요소</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Identity and Access Management: AWS 리소스 접근을 안전하게 제어</a:t>
            </a:r>
            <a:endParaRPr lang="en-US" sz="1400" dirty="0"/>
          </a:p>
        </p:txBody>
      </p:sp>
      <p:sp>
        <p:nvSpPr>
          <p:cNvPr id="4" name="Shape 2"/>
          <p:cNvSpPr/>
          <p:nvPr/>
        </p:nvSpPr>
        <p:spPr>
          <a:xfrm>
            <a:off x="365760" y="1280160"/>
            <a:ext cx="2011680" cy="2103120"/>
          </a:xfrm>
          <a:prstGeom prst="roundRect">
            <a:avLst/>
          </a:prstGeom>
          <a:solidFill>
            <a:srgbClr val="DBEAFE"/>
          </a:solidFill>
          <a:ln/>
        </p:spPr>
      </p:sp>
      <p:sp>
        <p:nvSpPr>
          <p:cNvPr id="5" name="Text 3"/>
          <p:cNvSpPr/>
          <p:nvPr/>
        </p:nvSpPr>
        <p:spPr>
          <a:xfrm>
            <a:off x="365760" y="141732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365760" y="1874520"/>
            <a:ext cx="2011680" cy="365760"/>
          </a:xfrm>
          <a:prstGeom prst="rect">
            <a:avLst/>
          </a:prstGeom>
          <a:noFill/>
          <a:ln/>
        </p:spPr>
        <p:txBody>
          <a:bodyPr wrap="square" rtlCol="0" anchor="ctr"/>
          <a:lstStyle/>
          <a:p>
            <a:pPr algn="ctr" indent="0" marL="0">
              <a:buNone/>
            </a:pPr>
            <a:r>
              <a:rPr lang="en-US" sz="1800" b="1" dirty="0">
                <a:solidFill>
                  <a:srgbClr val="2563EB"/>
                </a:solidFill>
              </a:rPr>
              <a:t>User</a:t>
            </a:r>
            <a:endParaRPr lang="en-US" sz="1800" dirty="0"/>
          </a:p>
        </p:txBody>
      </p:sp>
      <p:sp>
        <p:nvSpPr>
          <p:cNvPr id="7" name="Text 5"/>
          <p:cNvSpPr/>
          <p:nvPr/>
        </p:nvSpPr>
        <p:spPr>
          <a:xfrm>
            <a:off x="457200" y="2286000"/>
            <a:ext cx="1828800" cy="914400"/>
          </a:xfrm>
          <a:prstGeom prst="rect">
            <a:avLst/>
          </a:prstGeom>
          <a:noFill/>
          <a:ln/>
        </p:spPr>
        <p:txBody>
          <a:bodyPr wrap="square" rtlCol="0" anchor="ctr"/>
          <a:lstStyle/>
          <a:p>
            <a:pPr algn="ctr" indent="0" marL="0">
              <a:buNone/>
            </a:pPr>
            <a:r>
              <a:rPr lang="en-US" sz="1100" dirty="0">
                <a:solidFill>
                  <a:srgbClr val="334155"/>
                </a:solidFill>
              </a:rPr>
              <a:t>AWS에 접근하는</a:t>
            </a:r>
            <a:endParaRPr lang="en-US" sz="1100" dirty="0"/>
          </a:p>
          <a:p>
            <a:pPr algn="ctr" indent="0" marL="0">
              <a:buNone/>
            </a:pPr>
            <a:r>
              <a:rPr lang="en-US" sz="1100" dirty="0">
                <a:solidFill>
                  <a:srgbClr val="334155"/>
                </a:solidFill>
              </a:rPr>
              <a:t>개별 사용자</a:t>
            </a:r>
            <a:endParaRPr lang="en-US" sz="1100" dirty="0"/>
          </a:p>
        </p:txBody>
      </p:sp>
      <p:sp>
        <p:nvSpPr>
          <p:cNvPr id="8" name="Shape 6"/>
          <p:cNvSpPr/>
          <p:nvPr/>
        </p:nvSpPr>
        <p:spPr>
          <a:xfrm>
            <a:off x="2560320" y="1280160"/>
            <a:ext cx="2011680" cy="2103120"/>
          </a:xfrm>
          <a:prstGeom prst="roundRect">
            <a:avLst/>
          </a:prstGeom>
          <a:solidFill>
            <a:srgbClr val="D1FAE5"/>
          </a:solidFill>
          <a:ln/>
        </p:spPr>
      </p:sp>
      <p:sp>
        <p:nvSpPr>
          <p:cNvPr id="9" name="Text 7"/>
          <p:cNvSpPr/>
          <p:nvPr/>
        </p:nvSpPr>
        <p:spPr>
          <a:xfrm>
            <a:off x="2560320" y="141732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2560320" y="1874520"/>
            <a:ext cx="2011680" cy="365760"/>
          </a:xfrm>
          <a:prstGeom prst="rect">
            <a:avLst/>
          </a:prstGeom>
          <a:noFill/>
          <a:ln/>
        </p:spPr>
        <p:txBody>
          <a:bodyPr wrap="square" rtlCol="0" anchor="ctr"/>
          <a:lstStyle/>
          <a:p>
            <a:pPr algn="ctr" indent="0" marL="0">
              <a:buNone/>
            </a:pPr>
            <a:r>
              <a:rPr lang="en-US" sz="1800" b="1" dirty="0">
                <a:solidFill>
                  <a:srgbClr val="22C55E"/>
                </a:solidFill>
              </a:rPr>
              <a:t>Group</a:t>
            </a:r>
            <a:endParaRPr lang="en-US" sz="1800" dirty="0"/>
          </a:p>
        </p:txBody>
      </p:sp>
      <p:sp>
        <p:nvSpPr>
          <p:cNvPr id="11" name="Text 9"/>
          <p:cNvSpPr/>
          <p:nvPr/>
        </p:nvSpPr>
        <p:spPr>
          <a:xfrm>
            <a:off x="2651760" y="2286000"/>
            <a:ext cx="1828800" cy="914400"/>
          </a:xfrm>
          <a:prstGeom prst="rect">
            <a:avLst/>
          </a:prstGeom>
          <a:noFill/>
          <a:ln/>
        </p:spPr>
        <p:txBody>
          <a:bodyPr wrap="square" rtlCol="0" anchor="ctr"/>
          <a:lstStyle/>
          <a:p>
            <a:pPr algn="ctr" indent="0" marL="0">
              <a:buNone/>
            </a:pPr>
            <a:r>
              <a:rPr lang="en-US" sz="1100" dirty="0">
                <a:solidFill>
                  <a:srgbClr val="334155"/>
                </a:solidFill>
              </a:rPr>
              <a:t>동일한 권한을 가진</a:t>
            </a:r>
            <a:endParaRPr lang="en-US" sz="1100" dirty="0"/>
          </a:p>
          <a:p>
            <a:pPr algn="ctr" indent="0" marL="0">
              <a:buNone/>
            </a:pPr>
            <a:r>
              <a:rPr lang="en-US" sz="1100" dirty="0">
                <a:solidFill>
                  <a:srgbClr val="334155"/>
                </a:solidFill>
              </a:rPr>
              <a:t>User들의 집합</a:t>
            </a:r>
            <a:endParaRPr lang="en-US" sz="1100" dirty="0"/>
          </a:p>
        </p:txBody>
      </p:sp>
      <p:sp>
        <p:nvSpPr>
          <p:cNvPr id="12" name="Shape 10"/>
          <p:cNvSpPr/>
          <p:nvPr/>
        </p:nvSpPr>
        <p:spPr>
          <a:xfrm>
            <a:off x="4754880" y="1280160"/>
            <a:ext cx="2011680" cy="2103120"/>
          </a:xfrm>
          <a:prstGeom prst="roundRect">
            <a:avLst/>
          </a:prstGeom>
          <a:solidFill>
            <a:srgbClr val="EDE9FE"/>
          </a:solidFill>
          <a:ln/>
        </p:spPr>
      </p:sp>
      <p:sp>
        <p:nvSpPr>
          <p:cNvPr id="13" name="Text 11"/>
          <p:cNvSpPr/>
          <p:nvPr/>
        </p:nvSpPr>
        <p:spPr>
          <a:xfrm>
            <a:off x="4754880" y="141732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4754880" y="1874520"/>
            <a:ext cx="2011680" cy="365760"/>
          </a:xfrm>
          <a:prstGeom prst="rect">
            <a:avLst/>
          </a:prstGeom>
          <a:noFill/>
          <a:ln/>
        </p:spPr>
        <p:txBody>
          <a:bodyPr wrap="square" rtlCol="0" anchor="ctr"/>
          <a:lstStyle/>
          <a:p>
            <a:pPr algn="ctr" indent="0" marL="0">
              <a:buNone/>
            </a:pPr>
            <a:r>
              <a:rPr lang="en-US" sz="1800" b="1" dirty="0">
                <a:solidFill>
                  <a:srgbClr val="8B5CF6"/>
                </a:solidFill>
              </a:rPr>
              <a:t>Role</a:t>
            </a:r>
            <a:endParaRPr lang="en-US" sz="1800" dirty="0"/>
          </a:p>
        </p:txBody>
      </p:sp>
      <p:sp>
        <p:nvSpPr>
          <p:cNvPr id="15" name="Text 13"/>
          <p:cNvSpPr/>
          <p:nvPr/>
        </p:nvSpPr>
        <p:spPr>
          <a:xfrm>
            <a:off x="4846320" y="2286000"/>
            <a:ext cx="1828800" cy="914400"/>
          </a:xfrm>
          <a:prstGeom prst="rect">
            <a:avLst/>
          </a:prstGeom>
          <a:noFill/>
          <a:ln/>
        </p:spPr>
        <p:txBody>
          <a:bodyPr wrap="square" rtlCol="0" anchor="ctr"/>
          <a:lstStyle/>
          <a:p>
            <a:pPr algn="ctr" indent="0" marL="0">
              <a:buNone/>
            </a:pPr>
            <a:r>
              <a:rPr lang="en-US" sz="1100" dirty="0">
                <a:solidFill>
                  <a:srgbClr val="334155"/>
                </a:solidFill>
              </a:rPr>
              <a:t>서비스/외부 사용자가</a:t>
            </a:r>
            <a:endParaRPr lang="en-US" sz="1100" dirty="0"/>
          </a:p>
          <a:p>
            <a:pPr algn="ctr" indent="0" marL="0">
              <a:buNone/>
            </a:pPr>
            <a:r>
              <a:rPr lang="en-US" sz="1100" dirty="0">
                <a:solidFill>
                  <a:srgbClr val="334155"/>
                </a:solidFill>
              </a:rPr>
              <a:t>임시로 사용하는 권한</a:t>
            </a:r>
            <a:endParaRPr lang="en-US" sz="1100" dirty="0"/>
          </a:p>
        </p:txBody>
      </p:sp>
      <p:sp>
        <p:nvSpPr>
          <p:cNvPr id="16" name="Shape 14"/>
          <p:cNvSpPr/>
          <p:nvPr/>
        </p:nvSpPr>
        <p:spPr>
          <a:xfrm>
            <a:off x="6949440" y="1280160"/>
            <a:ext cx="2011680" cy="2103120"/>
          </a:xfrm>
          <a:prstGeom prst="roundRect">
            <a:avLst/>
          </a:prstGeom>
          <a:solidFill>
            <a:srgbClr val="FEF3C7"/>
          </a:solidFill>
          <a:ln/>
        </p:spPr>
      </p:sp>
      <p:sp>
        <p:nvSpPr>
          <p:cNvPr id="17" name="Text 15"/>
          <p:cNvSpPr/>
          <p:nvPr/>
        </p:nvSpPr>
        <p:spPr>
          <a:xfrm>
            <a:off x="6949440" y="141732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6949440" y="1874520"/>
            <a:ext cx="2011680" cy="365760"/>
          </a:xfrm>
          <a:prstGeom prst="rect">
            <a:avLst/>
          </a:prstGeom>
          <a:noFill/>
          <a:ln/>
        </p:spPr>
        <p:txBody>
          <a:bodyPr wrap="square" rtlCol="0" anchor="ctr"/>
          <a:lstStyle/>
          <a:p>
            <a:pPr algn="ctr" indent="0" marL="0">
              <a:buNone/>
            </a:pPr>
            <a:r>
              <a:rPr lang="en-US" sz="1800" b="1" dirty="0">
                <a:solidFill>
                  <a:srgbClr val="F59E0B"/>
                </a:solidFill>
              </a:rPr>
              <a:t>Policy</a:t>
            </a:r>
            <a:endParaRPr lang="en-US" sz="1800" dirty="0"/>
          </a:p>
        </p:txBody>
      </p:sp>
      <p:sp>
        <p:nvSpPr>
          <p:cNvPr id="19" name="Text 17"/>
          <p:cNvSpPr/>
          <p:nvPr/>
        </p:nvSpPr>
        <p:spPr>
          <a:xfrm>
            <a:off x="7040880" y="2286000"/>
            <a:ext cx="1828800" cy="914400"/>
          </a:xfrm>
          <a:prstGeom prst="rect">
            <a:avLst/>
          </a:prstGeom>
          <a:noFill/>
          <a:ln/>
        </p:spPr>
        <p:txBody>
          <a:bodyPr wrap="square" rtlCol="0" anchor="ctr"/>
          <a:lstStyle/>
          <a:p>
            <a:pPr algn="ctr" indent="0" marL="0">
              <a:buNone/>
            </a:pPr>
            <a:r>
              <a:rPr lang="en-US" sz="1100" dirty="0">
                <a:solidFill>
                  <a:srgbClr val="334155"/>
                </a:solidFill>
              </a:rPr>
              <a:t>권한을 정의하는</a:t>
            </a:r>
            <a:endParaRPr lang="en-US" sz="1100" dirty="0"/>
          </a:p>
          <a:p>
            <a:pPr algn="ctr" indent="0" marL="0">
              <a:buNone/>
            </a:pPr>
            <a:r>
              <a:rPr lang="en-US" sz="1100" dirty="0">
                <a:solidFill>
                  <a:srgbClr val="334155"/>
                </a:solidFill>
              </a:rPr>
              <a:t>JSON 문서</a:t>
            </a:r>
            <a:endParaRPr lang="en-US" sz="1100" dirty="0"/>
          </a:p>
        </p:txBody>
      </p:sp>
      <p:sp>
        <p:nvSpPr>
          <p:cNvPr id="20" name="Shape 18"/>
          <p:cNvSpPr/>
          <p:nvPr/>
        </p:nvSpPr>
        <p:spPr>
          <a:xfrm>
            <a:off x="365760" y="3566160"/>
            <a:ext cx="8412480" cy="822960"/>
          </a:xfrm>
          <a:prstGeom prst="roundRect">
            <a:avLst/>
          </a:prstGeom>
          <a:solidFill>
            <a:srgbClr val="F1F5F9"/>
          </a:solidFill>
          <a:ln/>
        </p:spPr>
      </p:sp>
      <p:sp>
        <p:nvSpPr>
          <p:cNvPr id="21" name="Text 19"/>
          <p:cNvSpPr/>
          <p:nvPr/>
        </p:nvSpPr>
        <p:spPr>
          <a:xfrm>
            <a:off x="548640" y="3703320"/>
            <a:ext cx="8046720" cy="548640"/>
          </a:xfrm>
          <a:prstGeom prst="rect">
            <a:avLst/>
          </a:prstGeom>
          <a:noFill/>
          <a:ln/>
        </p:spPr>
        <p:txBody>
          <a:bodyPr wrap="square" rtlCol="0" anchor="ctr"/>
          <a:lstStyle/>
          <a:p>
            <a:pPr indent="0" marL="0">
              <a:buNone/>
            </a:pPr>
            <a:r>
              <a:rPr lang="en-US" sz="1500" b="1" dirty="0">
                <a:solidFill>
                  <a:srgbClr val="1E293B"/>
                </a:solidFill>
              </a:rPr>
              <a:t>💡 핵심 질문: "누가(Who)", "무엇을(What)", "어떤 조건에서(Conditions)" 할 수 있는가?</a:t>
            </a:r>
            <a:endParaRPr lang="en-US" sz="1500" dirty="0"/>
          </a:p>
        </p:txBody>
      </p:sp>
      <p:sp>
        <p:nvSpPr>
          <p:cNvPr id="22" name="Text 20"/>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권한의 주체: User vs Service</a:t>
            </a:r>
            <a:endParaRPr lang="en-US" sz="3200" dirty="0"/>
          </a:p>
        </p:txBody>
      </p:sp>
      <p:sp>
        <p:nvSpPr>
          <p:cNvPr id="3" name="Shape 1"/>
          <p:cNvSpPr/>
          <p:nvPr/>
        </p:nvSpPr>
        <p:spPr>
          <a:xfrm>
            <a:off x="457200" y="1234440"/>
            <a:ext cx="3931920" cy="2194560"/>
          </a:xfrm>
          <a:prstGeom prst="roundRect">
            <a:avLst/>
          </a:prstGeom>
          <a:solidFill>
            <a:srgbClr val="DBEAFE"/>
          </a:solidFill>
          <a:ln/>
        </p:spPr>
      </p:sp>
      <p:sp>
        <p:nvSpPr>
          <p:cNvPr id="4" name="Text 2"/>
          <p:cNvSpPr/>
          <p:nvPr/>
        </p:nvSpPr>
        <p:spPr>
          <a:xfrm>
            <a:off x="640080" y="1371600"/>
            <a:ext cx="3566160" cy="411480"/>
          </a:xfrm>
          <a:prstGeom prst="rect">
            <a:avLst/>
          </a:prstGeom>
          <a:noFill/>
          <a:ln/>
        </p:spPr>
        <p:txBody>
          <a:bodyPr wrap="square" rtlCol="0" anchor="ctr"/>
          <a:lstStyle/>
          <a:p>
            <a:pPr indent="0" marL="0">
              <a:buNone/>
            </a:pPr>
            <a:r>
              <a:rPr lang="en-US" sz="1800" b="1" dirty="0">
                <a:solidFill>
                  <a:srgbClr val="2563EB"/>
                </a:solidFill>
              </a:rPr>
              <a:t>👤 User (사용자)</a:t>
            </a:r>
            <a:endParaRPr lang="en-US" sz="1800" dirty="0"/>
          </a:p>
        </p:txBody>
      </p:sp>
      <p:sp>
        <p:nvSpPr>
          <p:cNvPr id="5" name="Text 3"/>
          <p:cNvSpPr/>
          <p:nvPr/>
        </p:nvSpPr>
        <p:spPr>
          <a:xfrm>
            <a:off x="640080" y="1828800"/>
            <a:ext cx="3566160" cy="1371600"/>
          </a:xfrm>
          <a:prstGeom prst="rect">
            <a:avLst/>
          </a:prstGeom>
          <a:noFill/>
          <a:ln/>
        </p:spPr>
        <p:txBody>
          <a:bodyPr wrap="square" rtlCol="0" anchor="ctr"/>
          <a:lstStyle/>
          <a:p>
            <a:pPr indent="0" marL="0">
              <a:buNone/>
            </a:pPr>
            <a:r>
              <a:rPr lang="en-US" sz="1400" dirty="0">
                <a:solidFill>
                  <a:srgbClr val="334155"/>
                </a:solidFill>
              </a:rPr>
              <a:t>• Policy 직접 연결</a:t>
            </a:r>
            <a:endParaRPr lang="en-US" sz="1400" dirty="0"/>
          </a:p>
          <a:p>
            <a:pPr indent="0" marL="0">
              <a:buNone/>
            </a:pPr>
            <a:r>
              <a:rPr lang="en-US" sz="1400" dirty="0">
                <a:solidFill>
                  <a:srgbClr val="334155"/>
                </a:solidFill>
              </a:rPr>
              <a:t>• Role Assume 가능</a:t>
            </a:r>
            <a:endParaRPr lang="en-US" sz="1400" dirty="0"/>
          </a:p>
          <a:p>
            <a:pPr indent="0" marL="0">
              <a:buNone/>
            </a:pPr>
            <a:r>
              <a:rPr lang="en-US" sz="1400" dirty="0">
                <a:solidFill>
                  <a:srgbClr val="334155"/>
                </a:solidFill>
              </a:rPr>
              <a:t>• AWS 콘솔/CLI 접근</a:t>
            </a:r>
            <a:endParaRPr lang="en-US" sz="1400" dirty="0"/>
          </a:p>
        </p:txBody>
      </p:sp>
      <p:sp>
        <p:nvSpPr>
          <p:cNvPr id="6" name="Shape 4"/>
          <p:cNvSpPr/>
          <p:nvPr/>
        </p:nvSpPr>
        <p:spPr>
          <a:xfrm>
            <a:off x="4754880" y="1234440"/>
            <a:ext cx="3931920" cy="2194560"/>
          </a:xfrm>
          <a:prstGeom prst="roundRect">
            <a:avLst/>
          </a:prstGeom>
          <a:solidFill>
            <a:srgbClr val="FEF3C7"/>
          </a:solidFill>
          <a:ln/>
        </p:spPr>
      </p:sp>
      <p:sp>
        <p:nvSpPr>
          <p:cNvPr id="7" name="Text 5"/>
          <p:cNvSpPr/>
          <p:nvPr/>
        </p:nvSpPr>
        <p:spPr>
          <a:xfrm>
            <a:off x="4937760" y="1371600"/>
            <a:ext cx="3566160" cy="411480"/>
          </a:xfrm>
          <a:prstGeom prst="rect">
            <a:avLst/>
          </a:prstGeom>
          <a:noFill/>
          <a:ln/>
        </p:spPr>
        <p:txBody>
          <a:bodyPr wrap="square" rtlCol="0" anchor="ctr"/>
          <a:lstStyle/>
          <a:p>
            <a:pPr indent="0" marL="0">
              <a:buNone/>
            </a:pPr>
            <a:r>
              <a:rPr lang="en-US" sz="1800" b="1" dirty="0">
                <a:solidFill>
                  <a:srgbClr val="92400E"/>
                </a:solidFill>
              </a:rPr>
              <a:t>🔧 Service (AWS 서비스)</a:t>
            </a:r>
            <a:endParaRPr lang="en-US" sz="1800" dirty="0"/>
          </a:p>
        </p:txBody>
      </p:sp>
      <p:sp>
        <p:nvSpPr>
          <p:cNvPr id="8" name="Text 6"/>
          <p:cNvSpPr/>
          <p:nvPr/>
        </p:nvSpPr>
        <p:spPr>
          <a:xfrm>
            <a:off x="4937760" y="1828800"/>
            <a:ext cx="3566160" cy="1371600"/>
          </a:xfrm>
          <a:prstGeom prst="rect">
            <a:avLst/>
          </a:prstGeom>
          <a:noFill/>
          <a:ln/>
        </p:spPr>
        <p:txBody>
          <a:bodyPr wrap="square" rtlCol="0" anchor="ctr"/>
          <a:lstStyle/>
          <a:p>
            <a:pPr indent="0" marL="0">
              <a:buNone/>
            </a:pPr>
            <a:r>
              <a:rPr lang="en-US" sz="1400" dirty="0">
                <a:solidFill>
                  <a:srgbClr val="334155"/>
                </a:solidFill>
              </a:rPr>
              <a:t>• Lambda, EC2, ECS 등</a:t>
            </a:r>
            <a:endParaRPr lang="en-US" sz="1400" dirty="0"/>
          </a:p>
          <a:p>
            <a:pPr indent="0" marL="0">
              <a:buNone/>
            </a:pPr>
            <a:r>
              <a:rPr lang="en-US" sz="1400" dirty="0">
                <a:solidFill>
                  <a:srgbClr val="334155"/>
                </a:solidFill>
              </a:rPr>
              <a:t>• 자체 권한 없음</a:t>
            </a:r>
            <a:endParaRPr lang="en-US" sz="1400" dirty="0"/>
          </a:p>
          <a:p>
            <a:pPr indent="0" marL="0">
              <a:buNone/>
            </a:pPr>
            <a:r>
              <a:rPr lang="en-US" sz="1400" dirty="0">
                <a:solidFill>
                  <a:srgbClr val="334155"/>
                </a:solidFill>
              </a:rPr>
              <a:t>• Role Assume으로만 접근</a:t>
            </a:r>
            <a:endParaRPr lang="en-US" sz="1400" dirty="0"/>
          </a:p>
        </p:txBody>
      </p:sp>
      <p:sp>
        <p:nvSpPr>
          <p:cNvPr id="9" name="Shape 7"/>
          <p:cNvSpPr/>
          <p:nvPr/>
        </p:nvSpPr>
        <p:spPr>
          <a:xfrm>
            <a:off x="457200" y="3657600"/>
            <a:ext cx="8229600" cy="777240"/>
          </a:xfrm>
          <a:prstGeom prst="roundRect">
            <a:avLst/>
          </a:prstGeom>
          <a:solidFill>
            <a:srgbClr val="0F172A"/>
          </a:solidFill>
          <a:ln/>
        </p:spPr>
      </p:sp>
      <p:sp>
        <p:nvSpPr>
          <p:cNvPr id="10" name="Text 8"/>
          <p:cNvSpPr/>
          <p:nvPr/>
        </p:nvSpPr>
        <p:spPr>
          <a:xfrm>
            <a:off x="640080" y="3794760"/>
            <a:ext cx="7863840" cy="502920"/>
          </a:xfrm>
          <a:prstGeom prst="rect">
            <a:avLst/>
          </a:prstGeom>
          <a:noFill/>
          <a:ln/>
        </p:spPr>
        <p:txBody>
          <a:bodyPr wrap="square" rtlCol="0" anchor="ctr"/>
          <a:lstStyle/>
          <a:p>
            <a:pPr indent="0" marL="0">
              <a:buNone/>
            </a:pPr>
            <a:r>
              <a:rPr lang="en-US" sz="1400" b="1" dirty="0">
                <a:solidFill>
                  <a:srgbClr val="FFFFFF"/>
                </a:solidFill>
              </a:rPr>
              <a:t>⚠️ 서비스는 자체 권한이 없으므로 Role을 통해 권한을 위임받아야 함</a:t>
            </a:r>
            <a:endParaRPr lang="en-US" sz="1400" dirty="0"/>
          </a:p>
        </p:txBody>
      </p:sp>
      <p:sp>
        <p:nvSpPr>
          <p:cNvPr id="11" name="Text 9"/>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왜 서비스에 Role이 필요한가?</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Lambda 함수가 S3 버킷에서 파일을 읽어야 한다면?</a:t>
            </a:r>
            <a:endParaRPr lang="en-US" sz="1400" dirty="0"/>
          </a:p>
        </p:txBody>
      </p:sp>
      <p:sp>
        <p:nvSpPr>
          <p:cNvPr id="4" name="Shape 2"/>
          <p:cNvSpPr/>
          <p:nvPr/>
        </p:nvSpPr>
        <p:spPr>
          <a:xfrm>
            <a:off x="731520" y="1463040"/>
            <a:ext cx="2011680" cy="1097280"/>
          </a:xfrm>
          <a:prstGeom prst="roundRect">
            <a:avLst/>
          </a:prstGeom>
          <a:solidFill>
            <a:srgbClr val="FEF3C7"/>
          </a:solidFill>
          <a:ln/>
        </p:spPr>
      </p:sp>
      <p:sp>
        <p:nvSpPr>
          <p:cNvPr id="5" name="Text 3"/>
          <p:cNvSpPr/>
          <p:nvPr/>
        </p:nvSpPr>
        <p:spPr>
          <a:xfrm>
            <a:off x="731520" y="1600200"/>
            <a:ext cx="2011680" cy="914400"/>
          </a:xfrm>
          <a:prstGeom prst="rect">
            <a:avLst/>
          </a:prstGeom>
          <a:noFill/>
          <a:ln/>
        </p:spPr>
        <p:txBody>
          <a:bodyPr wrap="square" rtlCol="0" anchor="ctr"/>
          <a:lstStyle/>
          <a:p>
            <a:pPr algn="ctr" indent="0" marL="0">
              <a:buNone/>
            </a:pPr>
            <a:r>
              <a:rPr lang="en-US" sz="1400" b="1" dirty="0">
                <a:solidFill>
                  <a:srgbClr val="92400E"/>
                </a:solidFill>
              </a:rPr>
              <a:t>🔧 Lambda</a:t>
            </a:r>
            <a:endParaRPr lang="en-US" sz="1400" dirty="0"/>
          </a:p>
          <a:p>
            <a:pPr algn="ctr" indent="0" marL="0">
              <a:buNone/>
            </a:pPr>
            <a:r>
              <a:rPr lang="en-US" sz="1400" b="1" dirty="0">
                <a:solidFill>
                  <a:srgbClr val="92400E"/>
                </a:solidFill>
              </a:rPr>
              <a:t>Function</a:t>
            </a:r>
            <a:endParaRPr lang="en-US" sz="1400" dirty="0"/>
          </a:p>
        </p:txBody>
      </p:sp>
      <p:sp>
        <p:nvSpPr>
          <p:cNvPr id="6" name="Text 4"/>
          <p:cNvSpPr/>
          <p:nvPr/>
        </p:nvSpPr>
        <p:spPr>
          <a:xfrm>
            <a:off x="2743200" y="1737360"/>
            <a:ext cx="548640" cy="548640"/>
          </a:xfrm>
          <a:prstGeom prst="rect">
            <a:avLst/>
          </a:prstGeom>
          <a:noFill/>
          <a:ln/>
        </p:spPr>
        <p:txBody>
          <a:bodyPr wrap="square" rtlCol="0" anchor="ctr"/>
          <a:lstStyle/>
          <a:p>
            <a:pPr algn="ctr" indent="0" marL="0">
              <a:buNone/>
            </a:pPr>
            <a:r>
              <a:rPr lang="en-US" sz="2400" dirty="0">
                <a:solidFill>
                  <a:srgbClr val="94A3B8"/>
                </a:solidFill>
              </a:rPr>
              <a:t>→</a:t>
            </a:r>
            <a:endParaRPr lang="en-US" sz="2400" dirty="0"/>
          </a:p>
        </p:txBody>
      </p:sp>
      <p:sp>
        <p:nvSpPr>
          <p:cNvPr id="7" name="Text 5"/>
          <p:cNvSpPr/>
          <p:nvPr/>
        </p:nvSpPr>
        <p:spPr>
          <a:xfrm>
            <a:off x="2697480" y="2240280"/>
            <a:ext cx="640080" cy="274320"/>
          </a:xfrm>
          <a:prstGeom prst="rect">
            <a:avLst/>
          </a:prstGeom>
          <a:noFill/>
          <a:ln/>
        </p:spPr>
        <p:txBody>
          <a:bodyPr wrap="square" rtlCol="0" anchor="ctr"/>
          <a:lstStyle/>
          <a:p>
            <a:pPr algn="ctr" indent="0" marL="0">
              <a:buNone/>
            </a:pPr>
            <a:r>
              <a:rPr lang="en-US" sz="1000" dirty="0">
                <a:solidFill>
                  <a:srgbClr val="64748B"/>
                </a:solidFill>
              </a:rPr>
              <a:t>연결</a:t>
            </a:r>
            <a:endParaRPr lang="en-US" sz="1000" dirty="0"/>
          </a:p>
        </p:txBody>
      </p:sp>
      <p:sp>
        <p:nvSpPr>
          <p:cNvPr id="8" name="Shape 6"/>
          <p:cNvSpPr/>
          <p:nvPr/>
        </p:nvSpPr>
        <p:spPr>
          <a:xfrm>
            <a:off x="3383280" y="1463040"/>
            <a:ext cx="2377440" cy="1097280"/>
          </a:xfrm>
          <a:prstGeom prst="roundRect">
            <a:avLst/>
          </a:prstGeom>
          <a:solidFill>
            <a:srgbClr val="EDE9FE"/>
          </a:solidFill>
          <a:ln w="12700">
            <a:solidFill>
              <a:srgbClr val="8B5CF6"/>
            </a:solidFill>
            <a:prstDash val="dash"/>
          </a:ln>
        </p:spPr>
      </p:sp>
      <p:sp>
        <p:nvSpPr>
          <p:cNvPr id="9" name="Text 7"/>
          <p:cNvSpPr/>
          <p:nvPr/>
        </p:nvSpPr>
        <p:spPr>
          <a:xfrm>
            <a:off x="3383280" y="1600200"/>
            <a:ext cx="2377440" cy="914400"/>
          </a:xfrm>
          <a:prstGeom prst="rect">
            <a:avLst/>
          </a:prstGeom>
          <a:noFill/>
          <a:ln/>
        </p:spPr>
        <p:txBody>
          <a:bodyPr wrap="square" rtlCol="0" anchor="ctr"/>
          <a:lstStyle/>
          <a:p>
            <a:pPr algn="ctr" indent="0" marL="0">
              <a:buNone/>
            </a:pPr>
            <a:r>
              <a:rPr lang="en-US" sz="1400" b="1" dirty="0">
                <a:solidFill>
                  <a:srgbClr val="8B5CF6"/>
                </a:solidFill>
              </a:rPr>
              <a:t>🎭 Lambda</a:t>
            </a:r>
            <a:endParaRPr lang="en-US" sz="1400" dirty="0"/>
          </a:p>
          <a:p>
            <a:pPr algn="ctr" indent="0" marL="0">
              <a:buNone/>
            </a:pPr>
            <a:r>
              <a:rPr lang="en-US" sz="1400" b="1" dirty="0">
                <a:solidFill>
                  <a:srgbClr val="8B5CF6"/>
                </a:solidFill>
              </a:rPr>
              <a:t>ExecutionRole</a:t>
            </a:r>
            <a:endParaRPr lang="en-US" sz="1400" dirty="0"/>
          </a:p>
        </p:txBody>
      </p:sp>
      <p:sp>
        <p:nvSpPr>
          <p:cNvPr id="10" name="Text 8"/>
          <p:cNvSpPr/>
          <p:nvPr/>
        </p:nvSpPr>
        <p:spPr>
          <a:xfrm>
            <a:off x="5806440" y="1737360"/>
            <a:ext cx="548640" cy="548640"/>
          </a:xfrm>
          <a:prstGeom prst="rect">
            <a:avLst/>
          </a:prstGeom>
          <a:noFill/>
          <a:ln/>
        </p:spPr>
        <p:txBody>
          <a:bodyPr wrap="square" rtlCol="0" anchor="ctr"/>
          <a:lstStyle/>
          <a:p>
            <a:pPr algn="ctr" indent="0" marL="0">
              <a:buNone/>
            </a:pPr>
            <a:r>
              <a:rPr lang="en-US" sz="2400" dirty="0">
                <a:solidFill>
                  <a:srgbClr val="94A3B8"/>
                </a:solidFill>
              </a:rPr>
              <a:t>→</a:t>
            </a:r>
            <a:endParaRPr lang="en-US" sz="2400" dirty="0"/>
          </a:p>
        </p:txBody>
      </p:sp>
      <p:sp>
        <p:nvSpPr>
          <p:cNvPr id="11" name="Text 9"/>
          <p:cNvSpPr/>
          <p:nvPr/>
        </p:nvSpPr>
        <p:spPr>
          <a:xfrm>
            <a:off x="5760720" y="2240280"/>
            <a:ext cx="640080" cy="274320"/>
          </a:xfrm>
          <a:prstGeom prst="rect">
            <a:avLst/>
          </a:prstGeom>
          <a:noFill/>
          <a:ln/>
        </p:spPr>
        <p:txBody>
          <a:bodyPr wrap="square" rtlCol="0" anchor="ctr"/>
          <a:lstStyle/>
          <a:p>
            <a:pPr algn="ctr" indent="0" marL="0">
              <a:buNone/>
            </a:pPr>
            <a:r>
              <a:rPr lang="en-US" sz="1000" dirty="0">
                <a:solidFill>
                  <a:srgbClr val="64748B"/>
                </a:solidFill>
              </a:rPr>
              <a:t>포함</a:t>
            </a:r>
            <a:endParaRPr lang="en-US" sz="1000" dirty="0"/>
          </a:p>
        </p:txBody>
      </p:sp>
      <p:sp>
        <p:nvSpPr>
          <p:cNvPr id="12" name="Shape 10"/>
          <p:cNvSpPr/>
          <p:nvPr/>
        </p:nvSpPr>
        <p:spPr>
          <a:xfrm>
            <a:off x="6400800" y="1463040"/>
            <a:ext cx="2011680" cy="1097280"/>
          </a:xfrm>
          <a:prstGeom prst="roundRect">
            <a:avLst/>
          </a:prstGeom>
          <a:solidFill>
            <a:srgbClr val="EDE9FE"/>
          </a:solidFill>
          <a:ln w="12700">
            <a:solidFill>
              <a:srgbClr val="8B5CF6"/>
            </a:solidFill>
            <a:prstDash val="dash"/>
          </a:ln>
        </p:spPr>
      </p:sp>
      <p:sp>
        <p:nvSpPr>
          <p:cNvPr id="13" name="Text 11"/>
          <p:cNvSpPr/>
          <p:nvPr/>
        </p:nvSpPr>
        <p:spPr>
          <a:xfrm>
            <a:off x="6400800" y="1600200"/>
            <a:ext cx="2011680" cy="914400"/>
          </a:xfrm>
          <a:prstGeom prst="rect">
            <a:avLst/>
          </a:prstGeom>
          <a:noFill/>
          <a:ln/>
        </p:spPr>
        <p:txBody>
          <a:bodyPr wrap="square" rtlCol="0" anchor="ctr"/>
          <a:lstStyle/>
          <a:p>
            <a:pPr algn="ctr" indent="0" marL="0">
              <a:buNone/>
            </a:pPr>
            <a:r>
              <a:rPr lang="en-US" sz="1400" b="1" dirty="0">
                <a:solidFill>
                  <a:srgbClr val="8B5CF6"/>
                </a:solidFill>
              </a:rPr>
              <a:t>📋 S3Read</a:t>
            </a:r>
            <a:endParaRPr lang="en-US" sz="1400" dirty="0"/>
          </a:p>
          <a:p>
            <a:pPr algn="ctr" indent="0" marL="0">
              <a:buNone/>
            </a:pPr>
            <a:r>
              <a:rPr lang="en-US" sz="1400" b="1" dirty="0">
                <a:solidFill>
                  <a:srgbClr val="8B5CF6"/>
                </a:solidFill>
              </a:rPr>
              <a:t>OnlyAccess</a:t>
            </a:r>
            <a:endParaRPr lang="en-US" sz="1400" dirty="0"/>
          </a:p>
        </p:txBody>
      </p:sp>
      <p:sp>
        <p:nvSpPr>
          <p:cNvPr id="14" name="Shape 12"/>
          <p:cNvSpPr/>
          <p:nvPr/>
        </p:nvSpPr>
        <p:spPr>
          <a:xfrm>
            <a:off x="457200" y="2834640"/>
            <a:ext cx="8229600" cy="1554480"/>
          </a:xfrm>
          <a:prstGeom prst="roundRect">
            <a:avLst/>
          </a:prstGeom>
          <a:solidFill>
            <a:srgbClr val="F1F5F9"/>
          </a:solidFill>
          <a:ln/>
        </p:spPr>
      </p:sp>
      <p:sp>
        <p:nvSpPr>
          <p:cNvPr id="15" name="Text 13"/>
          <p:cNvSpPr/>
          <p:nvPr/>
        </p:nvSpPr>
        <p:spPr>
          <a:xfrm>
            <a:off x="640080" y="2971800"/>
            <a:ext cx="7863840" cy="365760"/>
          </a:xfrm>
          <a:prstGeom prst="rect">
            <a:avLst/>
          </a:prstGeom>
          <a:noFill/>
          <a:ln/>
        </p:spPr>
        <p:txBody>
          <a:bodyPr wrap="square" rtlCol="0" anchor="ctr"/>
          <a:lstStyle/>
          <a:p>
            <a:pPr indent="0" marL="0">
              <a:buNone/>
            </a:pPr>
            <a:r>
              <a:rPr lang="en-US" sz="1500" b="1" dirty="0">
                <a:solidFill>
                  <a:srgbClr val="1E293B"/>
                </a:solidFill>
              </a:rPr>
              <a:t>🖥️ EC2의 특이점: Instance Profile</a:t>
            </a:r>
            <a:endParaRPr lang="en-US" sz="1500" dirty="0"/>
          </a:p>
        </p:txBody>
      </p:sp>
      <p:sp>
        <p:nvSpPr>
          <p:cNvPr id="16" name="Text 14"/>
          <p:cNvSpPr/>
          <p:nvPr/>
        </p:nvSpPr>
        <p:spPr>
          <a:xfrm>
            <a:off x="640080" y="3383280"/>
            <a:ext cx="7863840" cy="914400"/>
          </a:xfrm>
          <a:prstGeom prst="rect">
            <a:avLst/>
          </a:prstGeom>
          <a:noFill/>
          <a:ln/>
        </p:spPr>
        <p:txBody>
          <a:bodyPr wrap="square" rtlCol="0" anchor="ctr"/>
          <a:lstStyle/>
          <a:p>
            <a:pPr indent="0" marL="0">
              <a:buNone/>
            </a:pPr>
            <a:r>
              <a:rPr lang="en-US" sz="1300" dirty="0">
                <a:solidFill>
                  <a:srgbClr val="334155"/>
                </a:solidFill>
              </a:rPr>
              <a:t>• EC2는 Role을 직접 연결할 수 없음 (레거시 설계)</a:t>
            </a:r>
            <a:endParaRPr lang="en-US" sz="1300" dirty="0"/>
          </a:p>
          <a:p>
            <a:pPr indent="0" marL="0">
              <a:buNone/>
            </a:pPr>
            <a:r>
              <a:rPr lang="en-US" sz="1300" dirty="0">
                <a:solidFill>
                  <a:srgbClr val="334155"/>
                </a:solidFill>
              </a:rPr>
              <a:t>• Instance Profile이라는 래퍼(wrapper)를 통해 Role 연결</a:t>
            </a:r>
            <a:endParaRPr lang="en-US" sz="1300" dirty="0"/>
          </a:p>
          <a:p>
            <a:pPr indent="0" marL="0">
              <a:buNone/>
            </a:pPr>
            <a:r>
              <a:rPr lang="en-US" sz="1300" dirty="0">
                <a:solidFill>
                  <a:srgbClr val="334155"/>
                </a:solidFill>
              </a:rPr>
              <a:t>• Lambda, ECS 등 최신 서비스는 Role 직접 연결 가능</a:t>
            </a:r>
            <a:endParaRPr lang="en-US" sz="1300" dirty="0"/>
          </a:p>
        </p:txBody>
      </p:sp>
      <p:sp>
        <p:nvSpPr>
          <p:cNvPr id="17" name="Text 1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권한 상승 (Privilege Escalation) 위험</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User의 권한만 제한하고 Role을 제어하지 않으면?</a:t>
            </a:r>
            <a:endParaRPr lang="en-US" sz="1400" dirty="0"/>
          </a:p>
        </p:txBody>
      </p:sp>
      <p:sp>
        <p:nvSpPr>
          <p:cNvPr id="4" name="Shape 2"/>
          <p:cNvSpPr/>
          <p:nvPr/>
        </p:nvSpPr>
        <p:spPr>
          <a:xfrm>
            <a:off x="457200" y="1234440"/>
            <a:ext cx="8229600" cy="3108960"/>
          </a:xfrm>
          <a:prstGeom prst="roundRect">
            <a:avLst/>
          </a:prstGeom>
          <a:solidFill>
            <a:srgbClr val="FEE2E2"/>
          </a:solidFill>
          <a:ln/>
        </p:spPr>
      </p:sp>
      <p:sp>
        <p:nvSpPr>
          <p:cNvPr id="5" name="Text 3"/>
          <p:cNvSpPr/>
          <p:nvPr/>
        </p:nvSpPr>
        <p:spPr>
          <a:xfrm>
            <a:off x="640080" y="1371600"/>
            <a:ext cx="7863840" cy="365760"/>
          </a:xfrm>
          <a:prstGeom prst="rect">
            <a:avLst/>
          </a:prstGeom>
          <a:noFill/>
          <a:ln/>
        </p:spPr>
        <p:txBody>
          <a:bodyPr wrap="square" rtlCol="0" anchor="ctr"/>
          <a:lstStyle/>
          <a:p>
            <a:pPr indent="0" marL="0">
              <a:buNone/>
            </a:pPr>
            <a:r>
              <a:rPr lang="en-US" sz="1600" b="1" dirty="0">
                <a:solidFill>
                  <a:srgbClr val="EF4444"/>
                </a:solidFill>
              </a:rPr>
              <a:t>⚠️ 공격 시나리오</a:t>
            </a:r>
            <a:endParaRPr lang="en-US" sz="1600" dirty="0"/>
          </a:p>
        </p:txBody>
      </p:sp>
      <p:sp>
        <p:nvSpPr>
          <p:cNvPr id="6" name="Shape 4"/>
          <p:cNvSpPr/>
          <p:nvPr/>
        </p:nvSpPr>
        <p:spPr>
          <a:xfrm>
            <a:off x="731520" y="1828800"/>
            <a:ext cx="320040" cy="320040"/>
          </a:xfrm>
          <a:prstGeom prst="ellipse">
            <a:avLst/>
          </a:prstGeom>
          <a:solidFill>
            <a:srgbClr val="EF4444"/>
          </a:solidFill>
          <a:ln/>
        </p:spPr>
      </p:sp>
      <p:sp>
        <p:nvSpPr>
          <p:cNvPr id="7" name="Text 5"/>
          <p:cNvSpPr/>
          <p:nvPr/>
        </p:nvSpPr>
        <p:spPr>
          <a:xfrm>
            <a:off x="731520" y="1828800"/>
            <a:ext cx="320040" cy="320040"/>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188720" y="1828800"/>
            <a:ext cx="7315200" cy="320040"/>
          </a:xfrm>
          <a:prstGeom prst="rect">
            <a:avLst/>
          </a:prstGeom>
          <a:noFill/>
          <a:ln/>
        </p:spPr>
        <p:txBody>
          <a:bodyPr wrap="square" rtlCol="0" anchor="ctr"/>
          <a:lstStyle/>
          <a:p>
            <a:pPr indent="0" marL="0">
              <a:buNone/>
            </a:pPr>
            <a:r>
              <a:rPr lang="en-US" sz="1300" dirty="0">
                <a:solidFill>
                  <a:srgbClr val="1E293B"/>
                </a:solidFill>
              </a:rPr>
              <a:t>공격자(User)가 ec2:RunInstances + iam:PassRole(*) 권한 보유</a:t>
            </a:r>
            <a:endParaRPr lang="en-US" sz="1300" dirty="0"/>
          </a:p>
        </p:txBody>
      </p:sp>
      <p:sp>
        <p:nvSpPr>
          <p:cNvPr id="9" name="Shape 7"/>
          <p:cNvSpPr/>
          <p:nvPr/>
        </p:nvSpPr>
        <p:spPr>
          <a:xfrm>
            <a:off x="731520" y="2377440"/>
            <a:ext cx="320040" cy="320040"/>
          </a:xfrm>
          <a:prstGeom prst="ellipse">
            <a:avLst/>
          </a:prstGeom>
          <a:solidFill>
            <a:srgbClr val="EF4444"/>
          </a:solidFill>
          <a:ln/>
        </p:spPr>
      </p:sp>
      <p:sp>
        <p:nvSpPr>
          <p:cNvPr id="10" name="Text 8"/>
          <p:cNvSpPr/>
          <p:nvPr/>
        </p:nvSpPr>
        <p:spPr>
          <a:xfrm>
            <a:off x="731520" y="2377440"/>
            <a:ext cx="320040" cy="320040"/>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1" name="Text 9"/>
          <p:cNvSpPr/>
          <p:nvPr/>
        </p:nvSpPr>
        <p:spPr>
          <a:xfrm>
            <a:off x="1188720" y="2377440"/>
            <a:ext cx="7315200" cy="320040"/>
          </a:xfrm>
          <a:prstGeom prst="rect">
            <a:avLst/>
          </a:prstGeom>
          <a:noFill/>
          <a:ln/>
        </p:spPr>
        <p:txBody>
          <a:bodyPr wrap="square" rtlCol="0" anchor="ctr"/>
          <a:lstStyle/>
          <a:p>
            <a:pPr indent="0" marL="0">
              <a:buNone/>
            </a:pPr>
            <a:r>
              <a:rPr lang="en-US" sz="1300" dirty="0">
                <a:solidFill>
                  <a:srgbClr val="1E293B"/>
                </a:solidFill>
              </a:rPr>
              <a:t>AdministratorAccess Role이 연결된 EC2 인스턴스 생성</a:t>
            </a:r>
            <a:endParaRPr lang="en-US" sz="1300" dirty="0"/>
          </a:p>
        </p:txBody>
      </p:sp>
      <p:sp>
        <p:nvSpPr>
          <p:cNvPr id="12" name="Shape 10"/>
          <p:cNvSpPr/>
          <p:nvPr/>
        </p:nvSpPr>
        <p:spPr>
          <a:xfrm>
            <a:off x="731520" y="2926080"/>
            <a:ext cx="320040" cy="320040"/>
          </a:xfrm>
          <a:prstGeom prst="ellipse">
            <a:avLst/>
          </a:prstGeom>
          <a:solidFill>
            <a:srgbClr val="EF4444"/>
          </a:solidFill>
          <a:ln/>
        </p:spPr>
      </p:sp>
      <p:sp>
        <p:nvSpPr>
          <p:cNvPr id="13" name="Text 11"/>
          <p:cNvSpPr/>
          <p:nvPr/>
        </p:nvSpPr>
        <p:spPr>
          <a:xfrm>
            <a:off x="731520" y="2926080"/>
            <a:ext cx="320040" cy="320040"/>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14" name="Text 12"/>
          <p:cNvSpPr/>
          <p:nvPr/>
        </p:nvSpPr>
        <p:spPr>
          <a:xfrm>
            <a:off x="1188720" y="2926080"/>
            <a:ext cx="7315200" cy="320040"/>
          </a:xfrm>
          <a:prstGeom prst="rect">
            <a:avLst/>
          </a:prstGeom>
          <a:noFill/>
          <a:ln/>
        </p:spPr>
        <p:txBody>
          <a:bodyPr wrap="square" rtlCol="0" anchor="ctr"/>
          <a:lstStyle/>
          <a:p>
            <a:pPr indent="0" marL="0">
              <a:buNone/>
            </a:pPr>
            <a:r>
              <a:rPr lang="en-US" sz="1300" dirty="0">
                <a:solidFill>
                  <a:srgbClr val="1E293B"/>
                </a:solidFill>
              </a:rPr>
              <a:t>EC2에 SSH 접속 후 AWS CLI 사용 (EC2의 Role 권한으로 실행)</a:t>
            </a:r>
            <a:endParaRPr lang="en-US" sz="1300" dirty="0"/>
          </a:p>
        </p:txBody>
      </p:sp>
      <p:sp>
        <p:nvSpPr>
          <p:cNvPr id="15" name="Shape 13"/>
          <p:cNvSpPr/>
          <p:nvPr/>
        </p:nvSpPr>
        <p:spPr>
          <a:xfrm>
            <a:off x="731520" y="3474720"/>
            <a:ext cx="320040" cy="320040"/>
          </a:xfrm>
          <a:prstGeom prst="ellipse">
            <a:avLst/>
          </a:prstGeom>
          <a:solidFill>
            <a:srgbClr val="EF4444"/>
          </a:solidFill>
          <a:ln/>
        </p:spPr>
      </p:sp>
      <p:sp>
        <p:nvSpPr>
          <p:cNvPr id="16" name="Text 14"/>
          <p:cNvSpPr/>
          <p:nvPr/>
        </p:nvSpPr>
        <p:spPr>
          <a:xfrm>
            <a:off x="731520" y="3474720"/>
            <a:ext cx="320040" cy="320040"/>
          </a:xfrm>
          <a:prstGeom prst="rect">
            <a:avLst/>
          </a:prstGeom>
          <a:noFill/>
          <a:ln/>
        </p:spPr>
        <p:txBody>
          <a:bodyPr wrap="square" rtlCol="0" anchor="ctr"/>
          <a:lstStyle/>
          <a:p>
            <a:pPr algn="ctr" indent="0" marL="0">
              <a:buNone/>
            </a:pPr>
            <a:r>
              <a:rPr lang="en-US" sz="1100" b="1" dirty="0">
                <a:solidFill>
                  <a:srgbClr val="FFFFFF"/>
                </a:solidFill>
              </a:rPr>
              <a:t>4</a:t>
            </a:r>
            <a:endParaRPr lang="en-US" sz="1100" dirty="0"/>
          </a:p>
        </p:txBody>
      </p:sp>
      <p:sp>
        <p:nvSpPr>
          <p:cNvPr id="17" name="Text 15"/>
          <p:cNvSpPr/>
          <p:nvPr/>
        </p:nvSpPr>
        <p:spPr>
          <a:xfrm>
            <a:off x="1188720" y="3474720"/>
            <a:ext cx="7315200" cy="320040"/>
          </a:xfrm>
          <a:prstGeom prst="rect">
            <a:avLst/>
          </a:prstGeom>
          <a:noFill/>
          <a:ln/>
        </p:spPr>
        <p:txBody>
          <a:bodyPr wrap="square" rtlCol="0" anchor="ctr"/>
          <a:lstStyle/>
          <a:p>
            <a:pPr indent="0" marL="0">
              <a:buNone/>
            </a:pPr>
            <a:r>
              <a:rPr lang="en-US" sz="1300" dirty="0">
                <a:solidFill>
                  <a:srgbClr val="1E293B"/>
                </a:solidFill>
              </a:rPr>
              <a:t>S3, RDS, IAM 등 모든 리소스 접근 가능 - User 권한 우회!</a:t>
            </a:r>
            <a:endParaRPr lang="en-US" sz="1300" dirty="0"/>
          </a:p>
        </p:txBody>
      </p:sp>
      <p:sp>
        <p:nvSpPr>
          <p:cNvPr id="18" name="Text 16"/>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방어 전략</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User의 직접 권한과 사용 가능한 Role 모두 제어</a:t>
            </a:r>
            <a:endParaRPr lang="en-US" sz="1400" dirty="0"/>
          </a:p>
        </p:txBody>
      </p:sp>
      <p:sp>
        <p:nvSpPr>
          <p:cNvPr id="4" name="Shape 2"/>
          <p:cNvSpPr/>
          <p:nvPr/>
        </p:nvSpPr>
        <p:spPr>
          <a:xfrm>
            <a:off x="457200" y="1234440"/>
            <a:ext cx="8229600" cy="777240"/>
          </a:xfrm>
          <a:prstGeom prst="roundRect">
            <a:avLst/>
          </a:prstGeom>
          <a:solidFill>
            <a:srgbClr val="D1FAE5"/>
          </a:solidFill>
          <a:ln/>
        </p:spPr>
      </p:sp>
      <p:sp>
        <p:nvSpPr>
          <p:cNvPr id="5" name="Text 3"/>
          <p:cNvSpPr/>
          <p:nvPr/>
        </p:nvSpPr>
        <p:spPr>
          <a:xfrm>
            <a:off x="640080" y="1325880"/>
            <a:ext cx="3200400" cy="320040"/>
          </a:xfrm>
          <a:prstGeom prst="rect">
            <a:avLst/>
          </a:prstGeom>
          <a:noFill/>
          <a:ln/>
        </p:spPr>
        <p:txBody>
          <a:bodyPr wrap="square" rtlCol="0" anchor="ctr"/>
          <a:lstStyle/>
          <a:p>
            <a:pPr indent="0" marL="0">
              <a:buNone/>
            </a:pPr>
            <a:r>
              <a:rPr lang="en-US" sz="1500" b="1" dirty="0">
                <a:solidFill>
                  <a:srgbClr val="22C55E"/>
                </a:solidFill>
              </a:rPr>
              <a:t>🚫 IAM Write 제한</a:t>
            </a:r>
            <a:endParaRPr lang="en-US" sz="1500" dirty="0"/>
          </a:p>
        </p:txBody>
      </p:sp>
      <p:sp>
        <p:nvSpPr>
          <p:cNvPr id="6" name="Text 4"/>
          <p:cNvSpPr/>
          <p:nvPr/>
        </p:nvSpPr>
        <p:spPr>
          <a:xfrm>
            <a:off x="640080" y="1645920"/>
            <a:ext cx="7863840" cy="320040"/>
          </a:xfrm>
          <a:prstGeom prst="rect">
            <a:avLst/>
          </a:prstGeom>
          <a:noFill/>
          <a:ln/>
        </p:spPr>
        <p:txBody>
          <a:bodyPr wrap="square" rtlCol="0" anchor="ctr"/>
          <a:lstStyle/>
          <a:p>
            <a:pPr indent="0" marL="0">
              <a:buNone/>
            </a:pPr>
            <a:r>
              <a:rPr lang="en-US" sz="1300" dirty="0">
                <a:solidFill>
                  <a:srgbClr val="334155"/>
                </a:solidFill>
              </a:rPr>
              <a:t>iam:Create*, iam:Delete* 차단(Deny)</a:t>
            </a:r>
            <a:endParaRPr lang="en-US" sz="1300" dirty="0"/>
          </a:p>
        </p:txBody>
      </p:sp>
      <p:sp>
        <p:nvSpPr>
          <p:cNvPr id="7" name="Shape 5"/>
          <p:cNvSpPr/>
          <p:nvPr/>
        </p:nvSpPr>
        <p:spPr>
          <a:xfrm>
            <a:off x="457200" y="2103120"/>
            <a:ext cx="8229600" cy="777240"/>
          </a:xfrm>
          <a:prstGeom prst="roundRect">
            <a:avLst/>
          </a:prstGeom>
          <a:solidFill>
            <a:srgbClr val="D1FAE5"/>
          </a:solidFill>
          <a:ln/>
        </p:spPr>
      </p:sp>
      <p:sp>
        <p:nvSpPr>
          <p:cNvPr id="8" name="Text 6"/>
          <p:cNvSpPr/>
          <p:nvPr/>
        </p:nvSpPr>
        <p:spPr>
          <a:xfrm>
            <a:off x="640080" y="2194560"/>
            <a:ext cx="3200400" cy="320040"/>
          </a:xfrm>
          <a:prstGeom prst="rect">
            <a:avLst/>
          </a:prstGeom>
          <a:noFill/>
          <a:ln/>
        </p:spPr>
        <p:txBody>
          <a:bodyPr wrap="square" rtlCol="0" anchor="ctr"/>
          <a:lstStyle/>
          <a:p>
            <a:pPr indent="0" marL="0">
              <a:buNone/>
            </a:pPr>
            <a:r>
              <a:rPr lang="en-US" sz="1500" b="1" dirty="0">
                <a:solidFill>
                  <a:srgbClr val="22C55E"/>
                </a:solidFill>
              </a:rPr>
              <a:t>🔐 Role 사전 생성</a:t>
            </a:r>
            <a:endParaRPr lang="en-US" sz="1500" dirty="0"/>
          </a:p>
        </p:txBody>
      </p:sp>
      <p:sp>
        <p:nvSpPr>
          <p:cNvPr id="9" name="Text 7"/>
          <p:cNvSpPr/>
          <p:nvPr/>
        </p:nvSpPr>
        <p:spPr>
          <a:xfrm>
            <a:off x="640080" y="2514600"/>
            <a:ext cx="7863840" cy="320040"/>
          </a:xfrm>
          <a:prstGeom prst="rect">
            <a:avLst/>
          </a:prstGeom>
          <a:noFill/>
          <a:ln/>
        </p:spPr>
        <p:txBody>
          <a:bodyPr wrap="square" rtlCol="0" anchor="ctr"/>
          <a:lstStyle/>
          <a:p>
            <a:pPr indent="0" marL="0">
              <a:buNone/>
            </a:pPr>
            <a:r>
              <a:rPr lang="en-US" sz="1300" dirty="0">
                <a:solidFill>
                  <a:srgbClr val="334155"/>
                </a:solidFill>
              </a:rPr>
              <a:t>SafeRole-{username} 형태로 미리 생성</a:t>
            </a:r>
            <a:endParaRPr lang="en-US" sz="1300" dirty="0"/>
          </a:p>
        </p:txBody>
      </p:sp>
      <p:sp>
        <p:nvSpPr>
          <p:cNvPr id="10" name="Shape 8"/>
          <p:cNvSpPr/>
          <p:nvPr/>
        </p:nvSpPr>
        <p:spPr>
          <a:xfrm>
            <a:off x="457200" y="2971800"/>
            <a:ext cx="8229600" cy="777240"/>
          </a:xfrm>
          <a:prstGeom prst="roundRect">
            <a:avLst/>
          </a:prstGeom>
          <a:solidFill>
            <a:srgbClr val="D1FAE5"/>
          </a:solidFill>
          <a:ln/>
        </p:spPr>
      </p:sp>
      <p:sp>
        <p:nvSpPr>
          <p:cNvPr id="11" name="Text 9"/>
          <p:cNvSpPr/>
          <p:nvPr/>
        </p:nvSpPr>
        <p:spPr>
          <a:xfrm>
            <a:off x="640080" y="3063240"/>
            <a:ext cx="3200400" cy="320040"/>
          </a:xfrm>
          <a:prstGeom prst="rect">
            <a:avLst/>
          </a:prstGeom>
          <a:noFill/>
          <a:ln/>
        </p:spPr>
        <p:txBody>
          <a:bodyPr wrap="square" rtlCol="0" anchor="ctr"/>
          <a:lstStyle/>
          <a:p>
            <a:pPr indent="0" marL="0">
              <a:buNone/>
            </a:pPr>
            <a:r>
              <a:rPr lang="en-US" sz="1500" b="1" dirty="0">
                <a:solidFill>
                  <a:srgbClr val="22C55E"/>
                </a:solidFill>
              </a:rPr>
              <a:t>🎯 PassRole 제한</a:t>
            </a:r>
            <a:endParaRPr lang="en-US" sz="1500" dirty="0"/>
          </a:p>
        </p:txBody>
      </p:sp>
      <p:sp>
        <p:nvSpPr>
          <p:cNvPr id="12" name="Text 10"/>
          <p:cNvSpPr/>
          <p:nvPr/>
        </p:nvSpPr>
        <p:spPr>
          <a:xfrm>
            <a:off x="640080" y="3383280"/>
            <a:ext cx="7863840" cy="320040"/>
          </a:xfrm>
          <a:prstGeom prst="rect">
            <a:avLst/>
          </a:prstGeom>
          <a:noFill/>
          <a:ln/>
        </p:spPr>
        <p:txBody>
          <a:bodyPr wrap="square" rtlCol="0" anchor="ctr"/>
          <a:lstStyle/>
          <a:p>
            <a:pPr indent="0" marL="0">
              <a:buNone/>
            </a:pPr>
            <a:r>
              <a:rPr lang="en-US" sz="1300" dirty="0">
                <a:solidFill>
                  <a:srgbClr val="334155"/>
                </a:solidFill>
              </a:rPr>
              <a:t>특정 Role만 전달 가능하도록 제한</a:t>
            </a:r>
            <a:endParaRPr lang="en-US" sz="1300" dirty="0"/>
          </a:p>
        </p:txBody>
      </p:sp>
      <p:sp>
        <p:nvSpPr>
          <p:cNvPr id="13" name="Shape 11"/>
          <p:cNvSpPr/>
          <p:nvPr/>
        </p:nvSpPr>
        <p:spPr>
          <a:xfrm>
            <a:off x="457200" y="3840480"/>
            <a:ext cx="8229600" cy="777240"/>
          </a:xfrm>
          <a:prstGeom prst="roundRect">
            <a:avLst/>
          </a:prstGeom>
          <a:solidFill>
            <a:srgbClr val="D1FAE5"/>
          </a:solidFill>
          <a:ln/>
        </p:spPr>
      </p:sp>
      <p:sp>
        <p:nvSpPr>
          <p:cNvPr id="14" name="Text 12"/>
          <p:cNvSpPr/>
          <p:nvPr/>
        </p:nvSpPr>
        <p:spPr>
          <a:xfrm>
            <a:off x="640080" y="3931920"/>
            <a:ext cx="3200400" cy="320040"/>
          </a:xfrm>
          <a:prstGeom prst="rect">
            <a:avLst/>
          </a:prstGeom>
          <a:noFill/>
          <a:ln/>
        </p:spPr>
        <p:txBody>
          <a:bodyPr wrap="square" rtlCol="0" anchor="ctr"/>
          <a:lstStyle/>
          <a:p>
            <a:pPr indent="0" marL="0">
              <a:buNone/>
            </a:pPr>
            <a:r>
              <a:rPr lang="en-US" sz="1500" b="1" dirty="0">
                <a:solidFill>
                  <a:srgbClr val="22C55E"/>
                </a:solidFill>
              </a:rPr>
              <a:t>🖥️ Instance Profile 제한</a:t>
            </a:r>
            <a:endParaRPr lang="en-US" sz="1500" dirty="0"/>
          </a:p>
        </p:txBody>
      </p:sp>
      <p:sp>
        <p:nvSpPr>
          <p:cNvPr id="15" name="Text 13"/>
          <p:cNvSpPr/>
          <p:nvPr/>
        </p:nvSpPr>
        <p:spPr>
          <a:xfrm>
            <a:off x="640080" y="4251960"/>
            <a:ext cx="7863840" cy="320040"/>
          </a:xfrm>
          <a:prstGeom prst="rect">
            <a:avLst/>
          </a:prstGeom>
          <a:noFill/>
          <a:ln/>
        </p:spPr>
        <p:txBody>
          <a:bodyPr wrap="square" rtlCol="0" anchor="ctr"/>
          <a:lstStyle/>
          <a:p>
            <a:pPr indent="0" marL="0">
              <a:buNone/>
            </a:pPr>
            <a:r>
              <a:rPr lang="en-US" sz="1300" dirty="0">
                <a:solidFill>
                  <a:srgbClr val="334155"/>
                </a:solidFill>
              </a:rPr>
              <a:t>ec2:NewInstanceProfile 조건 활용</a:t>
            </a:r>
            <a:endParaRPr lang="en-US" sz="1300" dirty="0"/>
          </a:p>
        </p:txBody>
      </p:sp>
      <p:sp>
        <p:nvSpPr>
          <p:cNvPr id="16" name="Text 14"/>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B5CF6"/>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7200" b="1" dirty="0">
                <a:solidFill>
                  <a:srgbClr val="FFFFFF"/>
                </a:solidFill>
              </a:rPr>
              <a:t>02</a:t>
            </a:r>
            <a:endParaRPr lang="en-US" sz="7200" dirty="0"/>
          </a:p>
        </p:txBody>
      </p:sp>
      <p:sp>
        <p:nvSpPr>
          <p:cNvPr id="3" name="Text 1"/>
          <p:cNvSpPr/>
          <p:nvPr/>
        </p:nvSpPr>
        <p:spPr>
          <a:xfrm>
            <a:off x="457200" y="2560320"/>
            <a:ext cx="8229600" cy="640080"/>
          </a:xfrm>
          <a:prstGeom prst="rect">
            <a:avLst/>
          </a:prstGeom>
          <a:noFill/>
          <a:ln/>
        </p:spPr>
        <p:txBody>
          <a:bodyPr wrap="square" rtlCol="0" anchor="ctr"/>
          <a:lstStyle/>
          <a:p>
            <a:pPr algn="ctr" indent="0" marL="0">
              <a:buNone/>
            </a:pPr>
            <a:r>
              <a:rPr lang="en-US" sz="4000" b="1" dirty="0">
                <a:solidFill>
                  <a:srgbClr val="FFFFFF"/>
                </a:solidFill>
              </a:rPr>
              <a:t>iam:PassRole 심층 이해</a:t>
            </a:r>
            <a:endParaRPr lang="en-US" sz="4000" dirty="0"/>
          </a:p>
        </p:txBody>
      </p:sp>
      <p:sp>
        <p:nvSpPr>
          <p:cNvPr id="4" name="Text 2"/>
          <p:cNvSpPr/>
          <p:nvPr/>
        </p:nvSpPr>
        <p:spPr>
          <a:xfrm>
            <a:off x="457200" y="3200400"/>
            <a:ext cx="8229600" cy="365760"/>
          </a:xfrm>
          <a:prstGeom prst="rect">
            <a:avLst/>
          </a:prstGeom>
          <a:noFill/>
          <a:ln/>
        </p:spPr>
        <p:txBody>
          <a:bodyPr wrap="square" rtlCol="0" anchor="ctr"/>
          <a:lstStyle/>
          <a:p>
            <a:pPr algn="ctr" indent="0" marL="0">
              <a:buNone/>
            </a:pPr>
            <a:r>
              <a:rPr lang="en-US" sz="1800" dirty="0">
                <a:solidFill>
                  <a:srgbClr val="EDE9FE"/>
                </a:solidFill>
              </a:rPr>
              <a:t>서비스에 Role을 전달하는 핵심 권한</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iam:PassRole이란?</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IAM Role을 AWS 서비스에 전달하는 권한</a:t>
            </a:r>
            <a:endParaRPr lang="en-US" sz="1400" dirty="0"/>
          </a:p>
        </p:txBody>
      </p:sp>
      <p:sp>
        <p:nvSpPr>
          <p:cNvPr id="4" name="Shape 2"/>
          <p:cNvSpPr/>
          <p:nvPr/>
        </p:nvSpPr>
        <p:spPr>
          <a:xfrm>
            <a:off x="457200" y="1234440"/>
            <a:ext cx="8229600" cy="1005840"/>
          </a:xfrm>
          <a:prstGeom prst="roundRect">
            <a:avLst/>
          </a:prstGeom>
          <a:solidFill>
            <a:srgbClr val="0F172A"/>
          </a:solidFill>
          <a:ln/>
        </p:spPr>
      </p:sp>
      <p:sp>
        <p:nvSpPr>
          <p:cNvPr id="5" name="Text 3"/>
          <p:cNvSpPr/>
          <p:nvPr/>
        </p:nvSpPr>
        <p:spPr>
          <a:xfrm>
            <a:off x="640080" y="1371600"/>
            <a:ext cx="7863840" cy="777240"/>
          </a:xfrm>
          <a:prstGeom prst="rect">
            <a:avLst/>
          </a:prstGeom>
          <a:noFill/>
          <a:ln/>
        </p:spPr>
        <p:txBody>
          <a:bodyPr wrap="square" rtlCol="0" anchor="ctr"/>
          <a:lstStyle/>
          <a:p>
            <a:pPr indent="0" marL="0">
              <a:buNone/>
            </a:pPr>
            <a:r>
              <a:rPr lang="en-US" sz="1400" dirty="0">
                <a:solidFill>
                  <a:srgbClr val="FFFFFF"/>
                </a:solidFill>
              </a:rPr>
              <a:t>💡 핵심: User가 직접 Role을 '사용'하는 것이 아님!</a:t>
            </a:r>
            <a:endParaRPr lang="en-US" sz="1400" dirty="0"/>
          </a:p>
          <a:p>
            <a:pPr indent="0" marL="0">
              <a:buNone/>
            </a:pPr>
            <a:r>
              <a:rPr lang="en-US" sz="1400" dirty="0">
                <a:solidFill>
                  <a:srgbClr val="FFFFFF"/>
                </a:solidFill>
              </a:rPr>
              <a:t>    User가 서비스에게 Role을 '전달'하여 서비스가 그 Role로 동작하게 함</a:t>
            </a:r>
            <a:endParaRPr lang="en-US" sz="1400" dirty="0"/>
          </a:p>
        </p:txBody>
      </p:sp>
      <p:sp>
        <p:nvSpPr>
          <p:cNvPr id="6" name="Text 4"/>
          <p:cNvSpPr/>
          <p:nvPr/>
        </p:nvSpPr>
        <p:spPr>
          <a:xfrm>
            <a:off x="457200" y="2423160"/>
            <a:ext cx="8229600" cy="365760"/>
          </a:xfrm>
          <a:prstGeom prst="rect">
            <a:avLst/>
          </a:prstGeom>
          <a:noFill/>
          <a:ln/>
        </p:spPr>
        <p:txBody>
          <a:bodyPr wrap="square" rtlCol="0" anchor="ctr"/>
          <a:lstStyle/>
          <a:p>
            <a:pPr indent="0" marL="0">
              <a:buNone/>
            </a:pPr>
            <a:r>
              <a:rPr lang="en-US" sz="1600" b="1" dirty="0">
                <a:solidFill>
                  <a:srgbClr val="1E293B"/>
                </a:solidFill>
              </a:rPr>
              <a:t>PassRole이 필요한 상황</a:t>
            </a:r>
            <a:endParaRPr lang="en-US" sz="1600" dirty="0"/>
          </a:p>
        </p:txBody>
      </p:sp>
      <p:sp>
        <p:nvSpPr>
          <p:cNvPr id="7" name="Text 5"/>
          <p:cNvSpPr/>
          <p:nvPr/>
        </p:nvSpPr>
        <p:spPr>
          <a:xfrm>
            <a:off x="457200" y="2834640"/>
            <a:ext cx="274320" cy="365760"/>
          </a:xfrm>
          <a:prstGeom prst="rect">
            <a:avLst/>
          </a:prstGeom>
          <a:noFill/>
          <a:ln/>
        </p:spPr>
        <p:txBody>
          <a:bodyPr wrap="square" rtlCol="0" anchor="ctr"/>
          <a:lstStyle/>
          <a:p>
            <a:pPr indent="0" marL="0">
              <a:buNone/>
            </a:pPr>
            <a:r>
              <a:rPr lang="en-US" sz="1300" dirty="0">
                <a:solidFill>
                  <a:srgbClr val="334155"/>
                </a:solidFill>
              </a:rPr>
              <a:t>•</a:t>
            </a:r>
            <a:endParaRPr lang="en-US" sz="1300" dirty="0"/>
          </a:p>
        </p:txBody>
      </p:sp>
      <p:sp>
        <p:nvSpPr>
          <p:cNvPr id="8" name="Text 6"/>
          <p:cNvSpPr/>
          <p:nvPr/>
        </p:nvSpPr>
        <p:spPr>
          <a:xfrm>
            <a:off x="731520" y="2834640"/>
            <a:ext cx="1371600" cy="365760"/>
          </a:xfrm>
          <a:prstGeom prst="rect">
            <a:avLst/>
          </a:prstGeom>
          <a:noFill/>
          <a:ln/>
        </p:spPr>
        <p:txBody>
          <a:bodyPr wrap="square" rtlCol="0" anchor="ctr"/>
          <a:lstStyle/>
          <a:p>
            <a:pPr indent="0" marL="0">
              <a:buNone/>
            </a:pPr>
            <a:r>
              <a:rPr lang="en-US" sz="1300" b="1" dirty="0">
                <a:solidFill>
                  <a:srgbClr val="2563EB"/>
                </a:solidFill>
              </a:rPr>
              <a:t>EC2</a:t>
            </a:r>
            <a:endParaRPr lang="en-US" sz="1300" dirty="0"/>
          </a:p>
        </p:txBody>
      </p:sp>
      <p:sp>
        <p:nvSpPr>
          <p:cNvPr id="9" name="Text 7"/>
          <p:cNvSpPr/>
          <p:nvPr/>
        </p:nvSpPr>
        <p:spPr>
          <a:xfrm>
            <a:off x="2103120" y="2834640"/>
            <a:ext cx="6583680" cy="365760"/>
          </a:xfrm>
          <a:prstGeom prst="rect">
            <a:avLst/>
          </a:prstGeom>
          <a:noFill/>
          <a:ln/>
        </p:spPr>
        <p:txBody>
          <a:bodyPr wrap="square" rtlCol="0" anchor="ctr"/>
          <a:lstStyle/>
          <a:p>
            <a:pPr indent="0" marL="0">
              <a:buNone/>
            </a:pPr>
            <a:r>
              <a:rPr lang="en-US" sz="1200" dirty="0">
                <a:solidFill>
                  <a:srgbClr val="334155"/>
                </a:solidFill>
              </a:rPr>
              <a:t>aws ec2 run-instances --iam-instance-profile</a:t>
            </a:r>
            <a:endParaRPr lang="en-US" sz="1200" dirty="0"/>
          </a:p>
        </p:txBody>
      </p:sp>
      <p:sp>
        <p:nvSpPr>
          <p:cNvPr id="10" name="Text 8"/>
          <p:cNvSpPr/>
          <p:nvPr/>
        </p:nvSpPr>
        <p:spPr>
          <a:xfrm>
            <a:off x="457200" y="3291840"/>
            <a:ext cx="274320" cy="365760"/>
          </a:xfrm>
          <a:prstGeom prst="rect">
            <a:avLst/>
          </a:prstGeom>
          <a:noFill/>
          <a:ln/>
        </p:spPr>
        <p:txBody>
          <a:bodyPr wrap="square" rtlCol="0" anchor="ctr"/>
          <a:lstStyle/>
          <a:p>
            <a:pPr indent="0" marL="0">
              <a:buNone/>
            </a:pPr>
            <a:r>
              <a:rPr lang="en-US" sz="1300" dirty="0">
                <a:solidFill>
                  <a:srgbClr val="334155"/>
                </a:solidFill>
              </a:rPr>
              <a:t>•</a:t>
            </a:r>
            <a:endParaRPr lang="en-US" sz="1300" dirty="0"/>
          </a:p>
        </p:txBody>
      </p:sp>
      <p:sp>
        <p:nvSpPr>
          <p:cNvPr id="11" name="Text 9"/>
          <p:cNvSpPr/>
          <p:nvPr/>
        </p:nvSpPr>
        <p:spPr>
          <a:xfrm>
            <a:off x="731520" y="3291840"/>
            <a:ext cx="1371600" cy="365760"/>
          </a:xfrm>
          <a:prstGeom prst="rect">
            <a:avLst/>
          </a:prstGeom>
          <a:noFill/>
          <a:ln/>
        </p:spPr>
        <p:txBody>
          <a:bodyPr wrap="square" rtlCol="0" anchor="ctr"/>
          <a:lstStyle/>
          <a:p>
            <a:pPr indent="0" marL="0">
              <a:buNone/>
            </a:pPr>
            <a:r>
              <a:rPr lang="en-US" sz="1300" b="1" dirty="0">
                <a:solidFill>
                  <a:srgbClr val="2563EB"/>
                </a:solidFill>
              </a:rPr>
              <a:t>Lambda</a:t>
            </a:r>
            <a:endParaRPr lang="en-US" sz="1300" dirty="0"/>
          </a:p>
        </p:txBody>
      </p:sp>
      <p:sp>
        <p:nvSpPr>
          <p:cNvPr id="12" name="Text 10"/>
          <p:cNvSpPr/>
          <p:nvPr/>
        </p:nvSpPr>
        <p:spPr>
          <a:xfrm>
            <a:off x="2103120" y="3291840"/>
            <a:ext cx="6583680" cy="365760"/>
          </a:xfrm>
          <a:prstGeom prst="rect">
            <a:avLst/>
          </a:prstGeom>
          <a:noFill/>
          <a:ln/>
        </p:spPr>
        <p:txBody>
          <a:bodyPr wrap="square" rtlCol="0" anchor="ctr"/>
          <a:lstStyle/>
          <a:p>
            <a:pPr indent="0" marL="0">
              <a:buNone/>
            </a:pPr>
            <a:r>
              <a:rPr lang="en-US" sz="1200" dirty="0">
                <a:solidFill>
                  <a:srgbClr val="334155"/>
                </a:solidFill>
              </a:rPr>
              <a:t>aws lambda create-function --role</a:t>
            </a:r>
            <a:endParaRPr lang="en-US" sz="1200" dirty="0"/>
          </a:p>
        </p:txBody>
      </p:sp>
      <p:sp>
        <p:nvSpPr>
          <p:cNvPr id="13" name="Text 11"/>
          <p:cNvSpPr/>
          <p:nvPr/>
        </p:nvSpPr>
        <p:spPr>
          <a:xfrm>
            <a:off x="457200" y="3749040"/>
            <a:ext cx="274320" cy="365760"/>
          </a:xfrm>
          <a:prstGeom prst="rect">
            <a:avLst/>
          </a:prstGeom>
          <a:noFill/>
          <a:ln/>
        </p:spPr>
        <p:txBody>
          <a:bodyPr wrap="square" rtlCol="0" anchor="ctr"/>
          <a:lstStyle/>
          <a:p>
            <a:pPr indent="0" marL="0">
              <a:buNone/>
            </a:pPr>
            <a:r>
              <a:rPr lang="en-US" sz="1300" dirty="0">
                <a:solidFill>
                  <a:srgbClr val="334155"/>
                </a:solidFill>
              </a:rPr>
              <a:t>•</a:t>
            </a:r>
            <a:endParaRPr lang="en-US" sz="1300" dirty="0"/>
          </a:p>
        </p:txBody>
      </p:sp>
      <p:sp>
        <p:nvSpPr>
          <p:cNvPr id="14" name="Text 12"/>
          <p:cNvSpPr/>
          <p:nvPr/>
        </p:nvSpPr>
        <p:spPr>
          <a:xfrm>
            <a:off x="731520" y="3749040"/>
            <a:ext cx="1371600" cy="365760"/>
          </a:xfrm>
          <a:prstGeom prst="rect">
            <a:avLst/>
          </a:prstGeom>
          <a:noFill/>
          <a:ln/>
        </p:spPr>
        <p:txBody>
          <a:bodyPr wrap="square" rtlCol="0" anchor="ctr"/>
          <a:lstStyle/>
          <a:p>
            <a:pPr indent="0" marL="0">
              <a:buNone/>
            </a:pPr>
            <a:r>
              <a:rPr lang="en-US" sz="1300" b="1" dirty="0">
                <a:solidFill>
                  <a:srgbClr val="2563EB"/>
                </a:solidFill>
              </a:rPr>
              <a:t>ECS</a:t>
            </a:r>
            <a:endParaRPr lang="en-US" sz="1300" dirty="0"/>
          </a:p>
        </p:txBody>
      </p:sp>
      <p:sp>
        <p:nvSpPr>
          <p:cNvPr id="15" name="Text 13"/>
          <p:cNvSpPr/>
          <p:nvPr/>
        </p:nvSpPr>
        <p:spPr>
          <a:xfrm>
            <a:off x="2103120" y="3749040"/>
            <a:ext cx="6583680" cy="365760"/>
          </a:xfrm>
          <a:prstGeom prst="rect">
            <a:avLst/>
          </a:prstGeom>
          <a:noFill/>
          <a:ln/>
        </p:spPr>
        <p:txBody>
          <a:bodyPr wrap="square" rtlCol="0" anchor="ctr"/>
          <a:lstStyle/>
          <a:p>
            <a:pPr indent="0" marL="0">
              <a:buNone/>
            </a:pPr>
            <a:r>
              <a:rPr lang="en-US" sz="1200" dirty="0">
                <a:solidFill>
                  <a:srgbClr val="334155"/>
                </a:solidFill>
              </a:rPr>
              <a:t>Task Role, Execution Role 지정</a:t>
            </a:r>
            <a:endParaRPr lang="en-US" sz="1200" dirty="0"/>
          </a:p>
        </p:txBody>
      </p:sp>
      <p:sp>
        <p:nvSpPr>
          <p:cNvPr id="16" name="Text 14"/>
          <p:cNvSpPr/>
          <p:nvPr/>
        </p:nvSpPr>
        <p:spPr>
          <a:xfrm>
            <a:off x="457200" y="4206240"/>
            <a:ext cx="274320" cy="365760"/>
          </a:xfrm>
          <a:prstGeom prst="rect">
            <a:avLst/>
          </a:prstGeom>
          <a:noFill/>
          <a:ln/>
        </p:spPr>
        <p:txBody>
          <a:bodyPr wrap="square" rtlCol="0" anchor="ctr"/>
          <a:lstStyle/>
          <a:p>
            <a:pPr indent="0" marL="0">
              <a:buNone/>
            </a:pPr>
            <a:r>
              <a:rPr lang="en-US" sz="1300" dirty="0">
                <a:solidFill>
                  <a:srgbClr val="334155"/>
                </a:solidFill>
              </a:rPr>
              <a:t>•</a:t>
            </a:r>
            <a:endParaRPr lang="en-US" sz="1300" dirty="0"/>
          </a:p>
        </p:txBody>
      </p:sp>
      <p:sp>
        <p:nvSpPr>
          <p:cNvPr id="17" name="Text 15"/>
          <p:cNvSpPr/>
          <p:nvPr/>
        </p:nvSpPr>
        <p:spPr>
          <a:xfrm>
            <a:off x="731520" y="4206240"/>
            <a:ext cx="1371600" cy="365760"/>
          </a:xfrm>
          <a:prstGeom prst="rect">
            <a:avLst/>
          </a:prstGeom>
          <a:noFill/>
          <a:ln/>
        </p:spPr>
        <p:txBody>
          <a:bodyPr wrap="square" rtlCol="0" anchor="ctr"/>
          <a:lstStyle/>
          <a:p>
            <a:pPr indent="0" marL="0">
              <a:buNone/>
            </a:pPr>
            <a:r>
              <a:rPr lang="en-US" sz="1300" b="1" dirty="0">
                <a:solidFill>
                  <a:srgbClr val="2563EB"/>
                </a:solidFill>
              </a:rPr>
              <a:t>Step Functions</a:t>
            </a:r>
            <a:endParaRPr lang="en-US" sz="1300" dirty="0"/>
          </a:p>
        </p:txBody>
      </p:sp>
      <p:sp>
        <p:nvSpPr>
          <p:cNvPr id="18" name="Text 16"/>
          <p:cNvSpPr/>
          <p:nvPr/>
        </p:nvSpPr>
        <p:spPr>
          <a:xfrm>
            <a:off x="2103120" y="4206240"/>
            <a:ext cx="6583680" cy="365760"/>
          </a:xfrm>
          <a:prstGeom prst="rect">
            <a:avLst/>
          </a:prstGeom>
          <a:noFill/>
          <a:ln/>
        </p:spPr>
        <p:txBody>
          <a:bodyPr wrap="square" rtlCol="0" anchor="ctr"/>
          <a:lstStyle/>
          <a:p>
            <a:pPr indent="0" marL="0">
              <a:buNone/>
            </a:pPr>
            <a:r>
              <a:rPr lang="en-US" sz="1200" dirty="0">
                <a:solidFill>
                  <a:srgbClr val="334155"/>
                </a:solidFill>
              </a:rPr>
              <a:t>State Machine에 실행 Role 지정</a:t>
            </a:r>
            <a:endParaRPr lang="en-US" sz="1200" dirty="0"/>
          </a:p>
        </p:txBody>
      </p:sp>
      <p:sp>
        <p:nvSpPr>
          <p:cNvPr id="19" name="Text 17"/>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PassRole vs AssumeRole</a:t>
            </a:r>
            <a:endParaRPr lang="en-US" sz="3200" dirty="0"/>
          </a:p>
        </p:txBody>
      </p:sp>
      <p:sp>
        <p:nvSpPr>
          <p:cNvPr id="3" name="Shape 1"/>
          <p:cNvSpPr/>
          <p:nvPr/>
        </p:nvSpPr>
        <p:spPr>
          <a:xfrm>
            <a:off x="457200" y="1280160"/>
            <a:ext cx="3931920" cy="457200"/>
          </a:xfrm>
          <a:prstGeom prst="rect">
            <a:avLst/>
          </a:prstGeom>
          <a:solidFill>
            <a:srgbClr val="2563EB"/>
          </a:solidFill>
          <a:ln/>
        </p:spPr>
      </p:sp>
      <p:sp>
        <p:nvSpPr>
          <p:cNvPr id="4" name="Text 2"/>
          <p:cNvSpPr/>
          <p:nvPr/>
        </p:nvSpPr>
        <p:spPr>
          <a:xfrm>
            <a:off x="457200" y="1280160"/>
            <a:ext cx="3931920" cy="457200"/>
          </a:xfrm>
          <a:prstGeom prst="rect">
            <a:avLst/>
          </a:prstGeom>
          <a:noFill/>
          <a:ln/>
        </p:spPr>
        <p:txBody>
          <a:bodyPr wrap="square" rtlCol="0" anchor="ctr"/>
          <a:lstStyle/>
          <a:p>
            <a:pPr algn="ctr" indent="0" marL="0">
              <a:buNone/>
            </a:pPr>
            <a:r>
              <a:rPr lang="en-US" sz="1600" b="1" dirty="0">
                <a:solidFill>
                  <a:srgbClr val="FFFFFF"/>
                </a:solidFill>
              </a:rPr>
              <a:t>iam:PassRole</a:t>
            </a:r>
            <a:endParaRPr lang="en-US" sz="1600" dirty="0"/>
          </a:p>
        </p:txBody>
      </p:sp>
      <p:sp>
        <p:nvSpPr>
          <p:cNvPr id="5" name="Shape 3"/>
          <p:cNvSpPr/>
          <p:nvPr/>
        </p:nvSpPr>
        <p:spPr>
          <a:xfrm>
            <a:off x="4754880" y="1280160"/>
            <a:ext cx="3931920" cy="457200"/>
          </a:xfrm>
          <a:prstGeom prst="rect">
            <a:avLst/>
          </a:prstGeom>
          <a:solidFill>
            <a:srgbClr val="8B5CF6"/>
          </a:solidFill>
          <a:ln/>
        </p:spPr>
      </p:sp>
      <p:sp>
        <p:nvSpPr>
          <p:cNvPr id="6" name="Text 4"/>
          <p:cNvSpPr/>
          <p:nvPr/>
        </p:nvSpPr>
        <p:spPr>
          <a:xfrm>
            <a:off x="4754880" y="1280160"/>
            <a:ext cx="3931920" cy="457200"/>
          </a:xfrm>
          <a:prstGeom prst="rect">
            <a:avLst/>
          </a:prstGeom>
          <a:noFill/>
          <a:ln/>
        </p:spPr>
        <p:txBody>
          <a:bodyPr wrap="square" rtlCol="0" anchor="ctr"/>
          <a:lstStyle/>
          <a:p>
            <a:pPr algn="ctr" indent="0" marL="0">
              <a:buNone/>
            </a:pPr>
            <a:r>
              <a:rPr lang="en-US" sz="1600" b="1" dirty="0">
                <a:solidFill>
                  <a:srgbClr val="FFFFFF"/>
                </a:solidFill>
              </a:rPr>
              <a:t>sts:AssumeRole</a:t>
            </a:r>
            <a:endParaRPr lang="en-US" sz="1600" dirty="0"/>
          </a:p>
        </p:txBody>
      </p:sp>
      <p:sp>
        <p:nvSpPr>
          <p:cNvPr id="7" name="Shape 5"/>
          <p:cNvSpPr/>
          <p:nvPr/>
        </p:nvSpPr>
        <p:spPr>
          <a:xfrm>
            <a:off x="457200" y="1783080"/>
            <a:ext cx="3931920" cy="2468880"/>
          </a:xfrm>
          <a:prstGeom prst="roundRect">
            <a:avLst/>
          </a:prstGeom>
          <a:solidFill>
            <a:srgbClr val="DBEAFE"/>
          </a:solidFill>
          <a:ln/>
        </p:spPr>
      </p:sp>
      <p:sp>
        <p:nvSpPr>
          <p:cNvPr id="8" name="Text 6"/>
          <p:cNvSpPr/>
          <p:nvPr/>
        </p:nvSpPr>
        <p:spPr>
          <a:xfrm>
            <a:off x="640080" y="1920240"/>
            <a:ext cx="3566160" cy="2194560"/>
          </a:xfrm>
          <a:prstGeom prst="rect">
            <a:avLst/>
          </a:prstGeom>
          <a:noFill/>
          <a:ln/>
        </p:spPr>
        <p:txBody>
          <a:bodyPr wrap="square" rtlCol="0" anchor="ctr"/>
          <a:lstStyle/>
          <a:p>
            <a:pPr indent="0" marL="0">
              <a:buNone/>
            </a:pPr>
            <a:r>
              <a:rPr lang="en-US" sz="1300" dirty="0">
                <a:solidFill>
                  <a:srgbClr val="334155"/>
                </a:solidFill>
              </a:rPr>
              <a:t>주체</a:t>
            </a:r>
            <a:endParaRPr lang="en-US" sz="1300" dirty="0"/>
          </a:p>
          <a:p>
            <a:pPr indent="0" marL="0">
              <a:buNone/>
            </a:pPr>
            <a:r>
              <a:rPr lang="en-US" sz="1300" dirty="0">
                <a:solidFill>
                  <a:srgbClr val="334155"/>
                </a:solidFill>
              </a:rPr>
              <a:t>User가 서비스에 Role 전달</a:t>
            </a:r>
            <a:endParaRPr lang="en-US" sz="1300" dirty="0"/>
          </a:p>
          <a:p>
            <a:pPr indent="0" marL="0">
              <a:buNone/>
            </a:pPr>
            <a:endParaRPr lang="en-US" sz="1300" dirty="0"/>
          </a:p>
          <a:p>
            <a:pPr indent="0" marL="0">
              <a:buNone/>
            </a:pPr>
            <a:r>
              <a:rPr lang="en-US" sz="1300" dirty="0">
                <a:solidFill>
                  <a:srgbClr val="334155"/>
                </a:solidFill>
              </a:rPr>
              <a:t>결과</a:t>
            </a:r>
            <a:endParaRPr lang="en-US" sz="1300" dirty="0"/>
          </a:p>
          <a:p>
            <a:pPr indent="0" marL="0">
              <a:buNone/>
            </a:pPr>
            <a:r>
              <a:rPr lang="en-US" sz="1300" dirty="0">
                <a:solidFill>
                  <a:srgbClr val="334155"/>
                </a:solidFill>
              </a:rPr>
              <a:t>서비스가 Role 권한 획득</a:t>
            </a:r>
            <a:endParaRPr lang="en-US" sz="1300" dirty="0"/>
          </a:p>
          <a:p>
            <a:pPr indent="0" marL="0">
              <a:buNone/>
            </a:pPr>
            <a:endParaRPr lang="en-US" sz="1300" dirty="0"/>
          </a:p>
          <a:p>
            <a:pPr indent="0" marL="0">
              <a:buNone/>
            </a:pPr>
            <a:r>
              <a:rPr lang="en-US" sz="1300" dirty="0">
                <a:solidFill>
                  <a:srgbClr val="334155"/>
                </a:solidFill>
              </a:rPr>
              <a:t>예시</a:t>
            </a:r>
            <a:endParaRPr lang="en-US" sz="1300" dirty="0"/>
          </a:p>
          <a:p>
            <a:pPr indent="0" marL="0">
              <a:buNone/>
            </a:pPr>
            <a:r>
              <a:rPr lang="en-US" sz="1300" dirty="0">
                <a:solidFill>
                  <a:srgbClr val="334155"/>
                </a:solidFill>
              </a:rPr>
              <a:t>Lambda 생성 시 실행 Role 지정</a:t>
            </a:r>
            <a:endParaRPr lang="en-US" sz="1300" dirty="0"/>
          </a:p>
        </p:txBody>
      </p:sp>
      <p:sp>
        <p:nvSpPr>
          <p:cNvPr id="9" name="Shape 7"/>
          <p:cNvSpPr/>
          <p:nvPr/>
        </p:nvSpPr>
        <p:spPr>
          <a:xfrm>
            <a:off x="4754880" y="1783080"/>
            <a:ext cx="3931920" cy="2468880"/>
          </a:xfrm>
          <a:prstGeom prst="roundRect">
            <a:avLst/>
          </a:prstGeom>
          <a:solidFill>
            <a:srgbClr val="EDE9FE"/>
          </a:solidFill>
          <a:ln/>
        </p:spPr>
      </p:sp>
      <p:sp>
        <p:nvSpPr>
          <p:cNvPr id="10" name="Text 8"/>
          <p:cNvSpPr/>
          <p:nvPr/>
        </p:nvSpPr>
        <p:spPr>
          <a:xfrm>
            <a:off x="4937760" y="1920240"/>
            <a:ext cx="3566160" cy="2194560"/>
          </a:xfrm>
          <a:prstGeom prst="rect">
            <a:avLst/>
          </a:prstGeom>
          <a:noFill/>
          <a:ln/>
        </p:spPr>
        <p:txBody>
          <a:bodyPr wrap="square" rtlCol="0" anchor="ctr"/>
          <a:lstStyle/>
          <a:p>
            <a:pPr indent="0" marL="0">
              <a:buNone/>
            </a:pPr>
            <a:r>
              <a:rPr lang="en-US" sz="1300" dirty="0">
                <a:solidFill>
                  <a:srgbClr val="334155"/>
                </a:solidFill>
              </a:rPr>
              <a:t>주체</a:t>
            </a:r>
            <a:endParaRPr lang="en-US" sz="1300" dirty="0"/>
          </a:p>
          <a:p>
            <a:pPr indent="0" marL="0">
              <a:buNone/>
            </a:pPr>
            <a:r>
              <a:rPr lang="en-US" sz="1300" dirty="0">
                <a:solidFill>
                  <a:srgbClr val="334155"/>
                </a:solidFill>
              </a:rPr>
              <a:t>User/서비스가 직접 Role로 전환</a:t>
            </a:r>
            <a:endParaRPr lang="en-US" sz="1300" dirty="0"/>
          </a:p>
          <a:p>
            <a:pPr indent="0" marL="0">
              <a:buNone/>
            </a:pPr>
            <a:endParaRPr lang="en-US" sz="1300" dirty="0"/>
          </a:p>
          <a:p>
            <a:pPr indent="0" marL="0">
              <a:buNone/>
            </a:pPr>
            <a:r>
              <a:rPr lang="en-US" sz="1300" dirty="0">
                <a:solidFill>
                  <a:srgbClr val="334155"/>
                </a:solidFill>
              </a:rPr>
              <a:t>결과</a:t>
            </a:r>
            <a:endParaRPr lang="en-US" sz="1300" dirty="0"/>
          </a:p>
          <a:p>
            <a:pPr indent="0" marL="0">
              <a:buNone/>
            </a:pPr>
            <a:r>
              <a:rPr lang="en-US" sz="1300" dirty="0">
                <a:solidFill>
                  <a:srgbClr val="334155"/>
                </a:solidFill>
              </a:rPr>
              <a:t>요청자가 임시 자격증명 획득</a:t>
            </a:r>
            <a:endParaRPr lang="en-US" sz="1300" dirty="0"/>
          </a:p>
          <a:p>
            <a:pPr indent="0" marL="0">
              <a:buNone/>
            </a:pPr>
            <a:endParaRPr lang="en-US" sz="1300" dirty="0"/>
          </a:p>
          <a:p>
            <a:pPr indent="0" marL="0">
              <a:buNone/>
            </a:pPr>
            <a:r>
              <a:rPr lang="en-US" sz="1300" dirty="0">
                <a:solidFill>
                  <a:srgbClr val="334155"/>
                </a:solidFill>
              </a:rPr>
              <a:t>예시</a:t>
            </a:r>
            <a:endParaRPr lang="en-US" sz="1300" dirty="0"/>
          </a:p>
          <a:p>
            <a:pPr indent="0" marL="0">
              <a:buNone/>
            </a:pPr>
            <a:r>
              <a:rPr lang="en-US" sz="1300" dirty="0">
                <a:solidFill>
                  <a:srgbClr val="334155"/>
                </a:solidFill>
              </a:rPr>
              <a:t>Cross-account 접근, Role switching</a:t>
            </a:r>
            <a:endParaRPr lang="en-US" sz="1300" dirty="0"/>
          </a:p>
        </p:txBody>
      </p:sp>
      <p:sp>
        <p:nvSpPr>
          <p:cNvPr id="11" name="Text 9"/>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2C55E"/>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7200" b="1" dirty="0">
                <a:solidFill>
                  <a:srgbClr val="FFFFFF"/>
                </a:solidFill>
              </a:rPr>
              <a:t>03</a:t>
            </a:r>
            <a:endParaRPr lang="en-US" sz="7200" dirty="0"/>
          </a:p>
        </p:txBody>
      </p:sp>
      <p:sp>
        <p:nvSpPr>
          <p:cNvPr id="3" name="Text 1"/>
          <p:cNvSpPr/>
          <p:nvPr/>
        </p:nvSpPr>
        <p:spPr>
          <a:xfrm>
            <a:off x="457200" y="2560320"/>
            <a:ext cx="8229600" cy="640080"/>
          </a:xfrm>
          <a:prstGeom prst="rect">
            <a:avLst/>
          </a:prstGeom>
          <a:noFill/>
          <a:ln/>
        </p:spPr>
        <p:txBody>
          <a:bodyPr wrap="square" rtlCol="0" anchor="ctr"/>
          <a:lstStyle/>
          <a:p>
            <a:pPr algn="ctr" indent="0" marL="0">
              <a:buNone/>
            </a:pPr>
            <a:r>
              <a:rPr lang="en-US" sz="4000" b="1" dirty="0">
                <a:solidFill>
                  <a:srgbClr val="FFFFFF"/>
                </a:solidFill>
              </a:rPr>
              <a:t>IAM 정책의 구조</a:t>
            </a:r>
            <a:endParaRPr lang="en-US" sz="4000" dirty="0"/>
          </a:p>
        </p:txBody>
      </p:sp>
      <p:sp>
        <p:nvSpPr>
          <p:cNvPr id="4" name="Text 2"/>
          <p:cNvSpPr/>
          <p:nvPr/>
        </p:nvSpPr>
        <p:spPr>
          <a:xfrm>
            <a:off x="457200" y="3200400"/>
            <a:ext cx="8229600" cy="365760"/>
          </a:xfrm>
          <a:prstGeom prst="rect">
            <a:avLst/>
          </a:prstGeom>
          <a:noFill/>
          <a:ln/>
        </p:spPr>
        <p:txBody>
          <a:bodyPr wrap="square" rtlCol="0" anchor="ctr"/>
          <a:lstStyle/>
          <a:p>
            <a:pPr algn="ctr" indent="0" marL="0">
              <a:buNone/>
            </a:pPr>
            <a:r>
              <a:rPr lang="en-US" sz="1800" dirty="0">
                <a:solidFill>
                  <a:srgbClr val="D1FAE5"/>
                </a:solidFill>
              </a:rPr>
              <a:t>Principal, Action, Resource, Effect, Condition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Identity-based vs Resource-based Policy</a:t>
            </a:r>
            <a:endParaRPr lang="en-US" sz="3200" dirty="0"/>
          </a:p>
        </p:txBody>
      </p:sp>
      <p:sp>
        <p:nvSpPr>
          <p:cNvPr id="3" name="Shape 1"/>
          <p:cNvSpPr/>
          <p:nvPr/>
        </p:nvSpPr>
        <p:spPr>
          <a:xfrm>
            <a:off x="457200" y="1234440"/>
            <a:ext cx="3931920" cy="457200"/>
          </a:xfrm>
          <a:prstGeom prst="rect">
            <a:avLst/>
          </a:prstGeom>
          <a:solidFill>
            <a:srgbClr val="2563EB"/>
          </a:solidFill>
          <a:ln/>
        </p:spPr>
      </p:sp>
      <p:sp>
        <p:nvSpPr>
          <p:cNvPr id="4" name="Text 2"/>
          <p:cNvSpPr/>
          <p:nvPr/>
        </p:nvSpPr>
        <p:spPr>
          <a:xfrm>
            <a:off x="457200" y="1234440"/>
            <a:ext cx="3931920" cy="457200"/>
          </a:xfrm>
          <a:prstGeom prst="rect">
            <a:avLst/>
          </a:prstGeom>
          <a:noFill/>
          <a:ln/>
        </p:spPr>
        <p:txBody>
          <a:bodyPr wrap="square" rtlCol="0" anchor="ctr"/>
          <a:lstStyle/>
          <a:p>
            <a:pPr algn="ctr" indent="0" marL="0">
              <a:buNone/>
            </a:pPr>
            <a:r>
              <a:rPr lang="en-US" sz="1400" b="1" dirty="0">
                <a:solidFill>
                  <a:srgbClr val="FFFFFF"/>
                </a:solidFill>
              </a:rPr>
              <a:t>Identity-based Policy</a:t>
            </a:r>
            <a:endParaRPr lang="en-US" sz="1400" dirty="0"/>
          </a:p>
        </p:txBody>
      </p:sp>
      <p:sp>
        <p:nvSpPr>
          <p:cNvPr id="5" name="Shape 3"/>
          <p:cNvSpPr/>
          <p:nvPr/>
        </p:nvSpPr>
        <p:spPr>
          <a:xfrm>
            <a:off x="4754880" y="1234440"/>
            <a:ext cx="3931920" cy="457200"/>
          </a:xfrm>
          <a:prstGeom prst="rect">
            <a:avLst/>
          </a:prstGeom>
          <a:solidFill>
            <a:srgbClr val="F59E0B"/>
          </a:solidFill>
          <a:ln/>
        </p:spPr>
      </p:sp>
      <p:sp>
        <p:nvSpPr>
          <p:cNvPr id="6" name="Text 4"/>
          <p:cNvSpPr/>
          <p:nvPr/>
        </p:nvSpPr>
        <p:spPr>
          <a:xfrm>
            <a:off x="4754880" y="1234440"/>
            <a:ext cx="3931920" cy="457200"/>
          </a:xfrm>
          <a:prstGeom prst="rect">
            <a:avLst/>
          </a:prstGeom>
          <a:noFill/>
          <a:ln/>
        </p:spPr>
        <p:txBody>
          <a:bodyPr wrap="square" rtlCol="0" anchor="ctr"/>
          <a:lstStyle/>
          <a:p>
            <a:pPr algn="ctr" indent="0" marL="0">
              <a:buNone/>
            </a:pPr>
            <a:r>
              <a:rPr lang="en-US" sz="1400" b="1" dirty="0">
                <a:solidFill>
                  <a:srgbClr val="FFFFFF"/>
                </a:solidFill>
              </a:rPr>
              <a:t>Resource-based Policy</a:t>
            </a:r>
            <a:endParaRPr lang="en-US" sz="1400" dirty="0"/>
          </a:p>
        </p:txBody>
      </p:sp>
      <p:sp>
        <p:nvSpPr>
          <p:cNvPr id="7" name="Shape 5"/>
          <p:cNvSpPr/>
          <p:nvPr/>
        </p:nvSpPr>
        <p:spPr>
          <a:xfrm>
            <a:off x="457200" y="1737360"/>
            <a:ext cx="3931920" cy="2011680"/>
          </a:xfrm>
          <a:prstGeom prst="roundRect">
            <a:avLst/>
          </a:prstGeom>
          <a:solidFill>
            <a:srgbClr val="DBEAFE"/>
          </a:solidFill>
          <a:ln/>
        </p:spPr>
      </p:sp>
      <p:sp>
        <p:nvSpPr>
          <p:cNvPr id="8" name="Text 6"/>
          <p:cNvSpPr/>
          <p:nvPr/>
        </p:nvSpPr>
        <p:spPr>
          <a:xfrm>
            <a:off x="640080" y="1828800"/>
            <a:ext cx="3566160" cy="1828800"/>
          </a:xfrm>
          <a:prstGeom prst="rect">
            <a:avLst/>
          </a:prstGeom>
          <a:noFill/>
          <a:ln/>
        </p:spPr>
        <p:txBody>
          <a:bodyPr wrap="square" rtlCol="0" anchor="ctr"/>
          <a:lstStyle/>
          <a:p>
            <a:pPr indent="0" marL="0">
              <a:buNone/>
            </a:pPr>
            <a:r>
              <a:rPr lang="en-US" sz="1200" dirty="0">
                <a:solidFill>
                  <a:srgbClr val="334155"/>
                </a:solidFill>
              </a:rPr>
              <a:t>연결 대상</a:t>
            </a:r>
            <a:endParaRPr lang="en-US" sz="1200" dirty="0"/>
          </a:p>
          <a:p>
            <a:pPr indent="0" marL="0">
              <a:buNone/>
            </a:pPr>
            <a:r>
              <a:rPr lang="en-US" sz="1200" dirty="0">
                <a:solidFill>
                  <a:srgbClr val="334155"/>
                </a:solidFill>
              </a:rPr>
              <a:t>User, Group, Role</a:t>
            </a:r>
            <a:endParaRPr lang="en-US" sz="1200" dirty="0"/>
          </a:p>
          <a:p>
            <a:pPr indent="0" marL="0">
              <a:buNone/>
            </a:pPr>
            <a:endParaRPr lang="en-US" sz="1200" dirty="0"/>
          </a:p>
          <a:p>
            <a:pPr indent="0" marL="0">
              <a:buNone/>
            </a:pPr>
            <a:r>
              <a:rPr lang="en-US" sz="1200" dirty="0">
                <a:solidFill>
                  <a:srgbClr val="334155"/>
                </a:solidFill>
              </a:rPr>
              <a:t>Principal</a:t>
            </a:r>
            <a:endParaRPr lang="en-US" sz="1200" dirty="0"/>
          </a:p>
          <a:p>
            <a:pPr indent="0" marL="0">
              <a:buNone/>
            </a:pPr>
            <a:r>
              <a:rPr lang="en-US" sz="1200" dirty="0">
                <a:solidFill>
                  <a:srgbClr val="334155"/>
                </a:solidFill>
              </a:rPr>
              <a:t>생략 (연결된 대상이 주체)</a:t>
            </a:r>
            <a:endParaRPr lang="en-US" sz="1200" dirty="0"/>
          </a:p>
          <a:p>
            <a:pPr indent="0" marL="0">
              <a:buNone/>
            </a:pPr>
            <a:endParaRPr lang="en-US" sz="1200" dirty="0"/>
          </a:p>
          <a:p>
            <a:pPr indent="0" marL="0">
              <a:buNone/>
            </a:pPr>
            <a:r>
              <a:rPr lang="en-US" sz="1200" dirty="0">
                <a:solidFill>
                  <a:srgbClr val="334155"/>
                </a:solidFill>
              </a:rPr>
              <a:t>예시</a:t>
            </a:r>
            <a:endParaRPr lang="en-US" sz="1200" dirty="0"/>
          </a:p>
          <a:p>
            <a:pPr indent="0" marL="0">
              <a:buNone/>
            </a:pPr>
            <a:r>
              <a:rPr lang="en-US" sz="1200" dirty="0">
                <a:solidFill>
                  <a:srgbClr val="334155"/>
                </a:solidFill>
              </a:rPr>
              <a:t>이 문서의 대부분 정책</a:t>
            </a:r>
            <a:endParaRPr lang="en-US" sz="1200" dirty="0"/>
          </a:p>
        </p:txBody>
      </p:sp>
      <p:sp>
        <p:nvSpPr>
          <p:cNvPr id="9" name="Shape 7"/>
          <p:cNvSpPr/>
          <p:nvPr/>
        </p:nvSpPr>
        <p:spPr>
          <a:xfrm>
            <a:off x="4754880" y="1737360"/>
            <a:ext cx="3931920" cy="2011680"/>
          </a:xfrm>
          <a:prstGeom prst="roundRect">
            <a:avLst/>
          </a:prstGeom>
          <a:solidFill>
            <a:srgbClr val="FEF3C7"/>
          </a:solidFill>
          <a:ln/>
        </p:spPr>
      </p:sp>
      <p:sp>
        <p:nvSpPr>
          <p:cNvPr id="10" name="Text 8"/>
          <p:cNvSpPr/>
          <p:nvPr/>
        </p:nvSpPr>
        <p:spPr>
          <a:xfrm>
            <a:off x="4937760" y="1828800"/>
            <a:ext cx="3566160" cy="1828800"/>
          </a:xfrm>
          <a:prstGeom prst="rect">
            <a:avLst/>
          </a:prstGeom>
          <a:noFill/>
          <a:ln/>
        </p:spPr>
        <p:txBody>
          <a:bodyPr wrap="square" rtlCol="0" anchor="ctr"/>
          <a:lstStyle/>
          <a:p>
            <a:pPr indent="0" marL="0">
              <a:buNone/>
            </a:pPr>
            <a:r>
              <a:rPr lang="en-US" sz="1200" dirty="0">
                <a:solidFill>
                  <a:srgbClr val="334155"/>
                </a:solidFill>
              </a:rPr>
              <a:t>연결 대상</a:t>
            </a:r>
            <a:endParaRPr lang="en-US" sz="1200" dirty="0"/>
          </a:p>
          <a:p>
            <a:pPr indent="0" marL="0">
              <a:buNone/>
            </a:pPr>
            <a:r>
              <a:rPr lang="en-US" sz="1200" dirty="0">
                <a:solidFill>
                  <a:srgbClr val="334155"/>
                </a:solidFill>
              </a:rPr>
              <a:t>S3, SQS, Lambda 등 리소스</a:t>
            </a:r>
            <a:endParaRPr lang="en-US" sz="1200" dirty="0"/>
          </a:p>
          <a:p>
            <a:pPr indent="0" marL="0">
              <a:buNone/>
            </a:pPr>
            <a:endParaRPr lang="en-US" sz="1200" dirty="0"/>
          </a:p>
          <a:p>
            <a:pPr indent="0" marL="0">
              <a:buNone/>
            </a:pPr>
            <a:r>
              <a:rPr lang="en-US" sz="1200" dirty="0">
                <a:solidFill>
                  <a:srgbClr val="334155"/>
                </a:solidFill>
              </a:rPr>
              <a:t>Principal</a:t>
            </a:r>
            <a:endParaRPr lang="en-US" sz="1200" dirty="0"/>
          </a:p>
          <a:p>
            <a:pPr indent="0" marL="0">
              <a:buNone/>
            </a:pPr>
            <a:r>
              <a:rPr lang="en-US" sz="1200" dirty="0">
                <a:solidFill>
                  <a:srgbClr val="334155"/>
                </a:solidFill>
              </a:rPr>
              <a:t>명시 필수</a:t>
            </a:r>
            <a:endParaRPr lang="en-US" sz="1200" dirty="0"/>
          </a:p>
          <a:p>
            <a:pPr indent="0" marL="0">
              <a:buNone/>
            </a:pPr>
            <a:endParaRPr lang="en-US" sz="1200" dirty="0"/>
          </a:p>
          <a:p>
            <a:pPr indent="0" marL="0">
              <a:buNone/>
            </a:pPr>
            <a:r>
              <a:rPr lang="en-US" sz="1200" dirty="0">
                <a:solidFill>
                  <a:srgbClr val="334155"/>
                </a:solidFill>
              </a:rPr>
              <a:t>예시</a:t>
            </a:r>
            <a:endParaRPr lang="en-US" sz="1200" dirty="0"/>
          </a:p>
          <a:p>
            <a:pPr indent="0" marL="0">
              <a:buNone/>
            </a:pPr>
            <a:r>
              <a:rPr lang="en-US" sz="1200" dirty="0">
                <a:solidFill>
                  <a:srgbClr val="334155"/>
                </a:solidFill>
              </a:rPr>
              <a:t>S3 버킷 정책, SQS 정책</a:t>
            </a:r>
            <a:endParaRPr lang="en-US" sz="1200" dirty="0"/>
          </a:p>
        </p:txBody>
      </p:sp>
      <p:sp>
        <p:nvSpPr>
          <p:cNvPr id="11" name="Shape 9"/>
          <p:cNvSpPr/>
          <p:nvPr/>
        </p:nvSpPr>
        <p:spPr>
          <a:xfrm>
            <a:off x="457200" y="3886200"/>
            <a:ext cx="8229600" cy="594360"/>
          </a:xfrm>
          <a:prstGeom prst="roundRect">
            <a:avLst/>
          </a:prstGeom>
          <a:solidFill>
            <a:srgbClr val="F1F5F9"/>
          </a:solidFill>
          <a:ln/>
        </p:spPr>
      </p:sp>
      <p:sp>
        <p:nvSpPr>
          <p:cNvPr id="12" name="Text 10"/>
          <p:cNvSpPr/>
          <p:nvPr/>
        </p:nvSpPr>
        <p:spPr>
          <a:xfrm>
            <a:off x="640080" y="3977640"/>
            <a:ext cx="7863840" cy="411480"/>
          </a:xfrm>
          <a:prstGeom prst="rect">
            <a:avLst/>
          </a:prstGeom>
          <a:noFill/>
          <a:ln/>
        </p:spPr>
        <p:txBody>
          <a:bodyPr wrap="square" rtlCol="0" anchor="ctr"/>
          <a:lstStyle/>
          <a:p>
            <a:pPr indent="0" marL="0">
              <a:buNone/>
            </a:pPr>
            <a:r>
              <a:rPr lang="en-US" sz="1300" b="1" dirty="0">
                <a:solidFill>
                  <a:srgbClr val="1E293B"/>
                </a:solidFill>
              </a:rPr>
              <a:t>💡 우리가 주로 다루는 정책: Identity-based Policy (User/Group에 연결하는 정책)</a:t>
            </a:r>
            <a:endParaRPr lang="en-US" sz="1300" dirty="0"/>
          </a:p>
        </p:txBody>
      </p:sp>
      <p:sp>
        <p:nvSpPr>
          <p:cNvPr id="13" name="Text 11"/>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정책 기본 구조</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Principal이 Resource에 Action을 Effect(Allow/Deny)하는 Condition</a:t>
            </a:r>
            <a:endParaRPr lang="en-US" sz="1400" dirty="0"/>
          </a:p>
        </p:txBody>
      </p:sp>
      <p:sp>
        <p:nvSpPr>
          <p:cNvPr id="4" name="Shape 2"/>
          <p:cNvSpPr/>
          <p:nvPr/>
        </p:nvSpPr>
        <p:spPr>
          <a:xfrm>
            <a:off x="457200" y="1234440"/>
            <a:ext cx="5029200" cy="3383280"/>
          </a:xfrm>
          <a:prstGeom prst="roundRect">
            <a:avLst/>
          </a:prstGeom>
          <a:solidFill>
            <a:srgbClr val="F1F5F9"/>
          </a:solidFill>
          <a:ln/>
        </p:spPr>
      </p:sp>
      <p:sp>
        <p:nvSpPr>
          <p:cNvPr id="5" name="Text 3"/>
          <p:cNvSpPr/>
          <p:nvPr/>
        </p:nvSpPr>
        <p:spPr>
          <a:xfrm>
            <a:off x="640080" y="1371600"/>
            <a:ext cx="4663440" cy="310896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"Version": "2012-10-17",</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"Statement":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"Sid": "식별자",</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"Principal": "주체 (누가)",</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"Action": "작업 (무엇을)",</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"Resource": "대상 (어디에)",</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"Effect": "Allow | Deny",</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"Condition":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"조건연산자":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"조건키": "값"</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5669280" y="1234440"/>
            <a:ext cx="3017520" cy="594360"/>
          </a:xfrm>
          <a:prstGeom prst="roundRect">
            <a:avLst/>
          </a:prstGeom>
          <a:solidFill>
            <a:srgbClr val="DBEAFE"/>
          </a:solidFill>
          <a:ln/>
        </p:spPr>
      </p:sp>
      <p:sp>
        <p:nvSpPr>
          <p:cNvPr id="7" name="Text 5"/>
          <p:cNvSpPr/>
          <p:nvPr/>
        </p:nvSpPr>
        <p:spPr>
          <a:xfrm>
            <a:off x="5806440" y="1307592"/>
            <a:ext cx="2743200" cy="274320"/>
          </a:xfrm>
          <a:prstGeom prst="rect">
            <a:avLst/>
          </a:prstGeom>
          <a:noFill/>
          <a:ln/>
        </p:spPr>
        <p:txBody>
          <a:bodyPr wrap="square" rtlCol="0" anchor="ctr"/>
          <a:lstStyle/>
          <a:p>
            <a:pPr indent="0" marL="0">
              <a:buNone/>
            </a:pPr>
            <a:r>
              <a:rPr lang="en-US" sz="1300" b="1" dirty="0">
                <a:solidFill>
                  <a:srgbClr val="2563EB"/>
                </a:solidFill>
              </a:rPr>
              <a:t>Principal</a:t>
            </a:r>
            <a:endParaRPr lang="en-US" sz="1300" dirty="0"/>
          </a:p>
        </p:txBody>
      </p:sp>
      <p:sp>
        <p:nvSpPr>
          <p:cNvPr id="8" name="Text 6"/>
          <p:cNvSpPr/>
          <p:nvPr/>
        </p:nvSpPr>
        <p:spPr>
          <a:xfrm>
            <a:off x="5806440" y="1554480"/>
            <a:ext cx="2743200" cy="228600"/>
          </a:xfrm>
          <a:prstGeom prst="rect">
            <a:avLst/>
          </a:prstGeom>
          <a:noFill/>
          <a:ln/>
        </p:spPr>
        <p:txBody>
          <a:bodyPr wrap="square" rtlCol="0" anchor="ctr"/>
          <a:lstStyle/>
          <a:p>
            <a:pPr indent="0" marL="0">
              <a:buNone/>
            </a:pPr>
            <a:r>
              <a:rPr lang="en-US" sz="1100" dirty="0">
                <a:solidFill>
                  <a:srgbClr val="64748B"/>
                </a:solidFill>
              </a:rPr>
              <a:t>User, Role, Service</a:t>
            </a:r>
            <a:endParaRPr lang="en-US" sz="1100" dirty="0"/>
          </a:p>
        </p:txBody>
      </p:sp>
      <p:sp>
        <p:nvSpPr>
          <p:cNvPr id="9" name="Shape 7"/>
          <p:cNvSpPr/>
          <p:nvPr/>
        </p:nvSpPr>
        <p:spPr>
          <a:xfrm>
            <a:off x="5669280" y="1892808"/>
            <a:ext cx="3017520" cy="594360"/>
          </a:xfrm>
          <a:prstGeom prst="roundRect">
            <a:avLst/>
          </a:prstGeom>
          <a:solidFill>
            <a:srgbClr val="D1FAE5"/>
          </a:solidFill>
          <a:ln/>
        </p:spPr>
      </p:sp>
      <p:sp>
        <p:nvSpPr>
          <p:cNvPr id="10" name="Text 8"/>
          <p:cNvSpPr/>
          <p:nvPr/>
        </p:nvSpPr>
        <p:spPr>
          <a:xfrm>
            <a:off x="5806440" y="1965960"/>
            <a:ext cx="2743200" cy="274320"/>
          </a:xfrm>
          <a:prstGeom prst="rect">
            <a:avLst/>
          </a:prstGeom>
          <a:noFill/>
          <a:ln/>
        </p:spPr>
        <p:txBody>
          <a:bodyPr wrap="square" rtlCol="0" anchor="ctr"/>
          <a:lstStyle/>
          <a:p>
            <a:pPr indent="0" marL="0">
              <a:buNone/>
            </a:pPr>
            <a:r>
              <a:rPr lang="en-US" sz="1300" b="1" dirty="0">
                <a:solidFill>
                  <a:srgbClr val="22C55E"/>
                </a:solidFill>
              </a:rPr>
              <a:t>Action</a:t>
            </a:r>
            <a:endParaRPr lang="en-US" sz="1300" dirty="0"/>
          </a:p>
        </p:txBody>
      </p:sp>
      <p:sp>
        <p:nvSpPr>
          <p:cNvPr id="11" name="Text 9"/>
          <p:cNvSpPr/>
          <p:nvPr/>
        </p:nvSpPr>
        <p:spPr>
          <a:xfrm>
            <a:off x="5806440" y="2212848"/>
            <a:ext cx="2743200" cy="228600"/>
          </a:xfrm>
          <a:prstGeom prst="rect">
            <a:avLst/>
          </a:prstGeom>
          <a:noFill/>
          <a:ln/>
        </p:spPr>
        <p:txBody>
          <a:bodyPr wrap="square" rtlCol="0" anchor="ctr"/>
          <a:lstStyle/>
          <a:p>
            <a:pPr indent="0" marL="0">
              <a:buNone/>
            </a:pPr>
            <a:r>
              <a:rPr lang="en-US" sz="1100" dirty="0">
                <a:solidFill>
                  <a:srgbClr val="64748B"/>
                </a:solidFill>
              </a:rPr>
              <a:t>s3:GetObject, ec2:*</a:t>
            </a:r>
            <a:endParaRPr lang="en-US" sz="1100" dirty="0"/>
          </a:p>
        </p:txBody>
      </p:sp>
      <p:sp>
        <p:nvSpPr>
          <p:cNvPr id="12" name="Shape 10"/>
          <p:cNvSpPr/>
          <p:nvPr/>
        </p:nvSpPr>
        <p:spPr>
          <a:xfrm>
            <a:off x="5669280" y="2551176"/>
            <a:ext cx="3017520" cy="594360"/>
          </a:xfrm>
          <a:prstGeom prst="roundRect">
            <a:avLst/>
          </a:prstGeom>
          <a:solidFill>
            <a:srgbClr val="EDE9FE"/>
          </a:solidFill>
          <a:ln/>
        </p:spPr>
      </p:sp>
      <p:sp>
        <p:nvSpPr>
          <p:cNvPr id="13" name="Text 11"/>
          <p:cNvSpPr/>
          <p:nvPr/>
        </p:nvSpPr>
        <p:spPr>
          <a:xfrm>
            <a:off x="5806440" y="2624328"/>
            <a:ext cx="2743200" cy="274320"/>
          </a:xfrm>
          <a:prstGeom prst="rect">
            <a:avLst/>
          </a:prstGeom>
          <a:noFill/>
          <a:ln/>
        </p:spPr>
        <p:txBody>
          <a:bodyPr wrap="square" rtlCol="0" anchor="ctr"/>
          <a:lstStyle/>
          <a:p>
            <a:pPr indent="0" marL="0">
              <a:buNone/>
            </a:pPr>
            <a:r>
              <a:rPr lang="en-US" sz="1300" b="1" dirty="0">
                <a:solidFill>
                  <a:srgbClr val="8B5CF6"/>
                </a:solidFill>
              </a:rPr>
              <a:t>Resource</a:t>
            </a:r>
            <a:endParaRPr lang="en-US" sz="1300" dirty="0"/>
          </a:p>
        </p:txBody>
      </p:sp>
      <p:sp>
        <p:nvSpPr>
          <p:cNvPr id="14" name="Text 12"/>
          <p:cNvSpPr/>
          <p:nvPr/>
        </p:nvSpPr>
        <p:spPr>
          <a:xfrm>
            <a:off x="5806440" y="2871216"/>
            <a:ext cx="2743200" cy="228600"/>
          </a:xfrm>
          <a:prstGeom prst="rect">
            <a:avLst/>
          </a:prstGeom>
          <a:noFill/>
          <a:ln/>
        </p:spPr>
        <p:txBody>
          <a:bodyPr wrap="square" rtlCol="0" anchor="ctr"/>
          <a:lstStyle/>
          <a:p>
            <a:pPr indent="0" marL="0">
              <a:buNone/>
            </a:pPr>
            <a:r>
              <a:rPr lang="en-US" sz="1100" dirty="0">
                <a:solidFill>
                  <a:srgbClr val="64748B"/>
                </a:solidFill>
              </a:rPr>
              <a:t>ARN 또는 *</a:t>
            </a:r>
            <a:endParaRPr lang="en-US" sz="1100" dirty="0"/>
          </a:p>
        </p:txBody>
      </p:sp>
      <p:sp>
        <p:nvSpPr>
          <p:cNvPr id="15" name="Shape 13"/>
          <p:cNvSpPr/>
          <p:nvPr/>
        </p:nvSpPr>
        <p:spPr>
          <a:xfrm>
            <a:off x="5669280" y="3209544"/>
            <a:ext cx="3017520" cy="594360"/>
          </a:xfrm>
          <a:prstGeom prst="roundRect">
            <a:avLst/>
          </a:prstGeom>
          <a:solidFill>
            <a:srgbClr val="FEF3C7"/>
          </a:solidFill>
          <a:ln/>
        </p:spPr>
      </p:sp>
      <p:sp>
        <p:nvSpPr>
          <p:cNvPr id="16" name="Text 14"/>
          <p:cNvSpPr/>
          <p:nvPr/>
        </p:nvSpPr>
        <p:spPr>
          <a:xfrm>
            <a:off x="5806440" y="3282696"/>
            <a:ext cx="2743200" cy="274320"/>
          </a:xfrm>
          <a:prstGeom prst="rect">
            <a:avLst/>
          </a:prstGeom>
          <a:noFill/>
          <a:ln/>
        </p:spPr>
        <p:txBody>
          <a:bodyPr wrap="square" rtlCol="0" anchor="ctr"/>
          <a:lstStyle/>
          <a:p>
            <a:pPr indent="0" marL="0">
              <a:buNone/>
            </a:pPr>
            <a:r>
              <a:rPr lang="en-US" sz="1300" b="1" dirty="0">
                <a:solidFill>
                  <a:srgbClr val="F59E0B"/>
                </a:solidFill>
              </a:rPr>
              <a:t>Effect</a:t>
            </a:r>
            <a:endParaRPr lang="en-US" sz="1300" dirty="0"/>
          </a:p>
        </p:txBody>
      </p:sp>
      <p:sp>
        <p:nvSpPr>
          <p:cNvPr id="17" name="Text 15"/>
          <p:cNvSpPr/>
          <p:nvPr/>
        </p:nvSpPr>
        <p:spPr>
          <a:xfrm>
            <a:off x="5806440" y="3529584"/>
            <a:ext cx="2743200" cy="228600"/>
          </a:xfrm>
          <a:prstGeom prst="rect">
            <a:avLst/>
          </a:prstGeom>
          <a:noFill/>
          <a:ln/>
        </p:spPr>
        <p:txBody>
          <a:bodyPr wrap="square" rtlCol="0" anchor="ctr"/>
          <a:lstStyle/>
          <a:p>
            <a:pPr indent="0" marL="0">
              <a:buNone/>
            </a:pPr>
            <a:r>
              <a:rPr lang="en-US" sz="1100" dirty="0">
                <a:solidFill>
                  <a:srgbClr val="64748B"/>
                </a:solidFill>
              </a:rPr>
              <a:t>Allow / Deny</a:t>
            </a:r>
            <a:endParaRPr lang="en-US" sz="1100" dirty="0"/>
          </a:p>
        </p:txBody>
      </p:sp>
      <p:sp>
        <p:nvSpPr>
          <p:cNvPr id="18" name="Shape 16"/>
          <p:cNvSpPr/>
          <p:nvPr/>
        </p:nvSpPr>
        <p:spPr>
          <a:xfrm>
            <a:off x="5669280" y="3867912"/>
            <a:ext cx="3017520" cy="594360"/>
          </a:xfrm>
          <a:prstGeom prst="roundRect">
            <a:avLst/>
          </a:prstGeom>
          <a:solidFill>
            <a:srgbClr val="FEE2E2"/>
          </a:solidFill>
          <a:ln/>
        </p:spPr>
      </p:sp>
      <p:sp>
        <p:nvSpPr>
          <p:cNvPr id="19" name="Text 17"/>
          <p:cNvSpPr/>
          <p:nvPr/>
        </p:nvSpPr>
        <p:spPr>
          <a:xfrm>
            <a:off x="5806440" y="3941064"/>
            <a:ext cx="2743200" cy="274320"/>
          </a:xfrm>
          <a:prstGeom prst="rect">
            <a:avLst/>
          </a:prstGeom>
          <a:noFill/>
          <a:ln/>
        </p:spPr>
        <p:txBody>
          <a:bodyPr wrap="square" rtlCol="0" anchor="ctr"/>
          <a:lstStyle/>
          <a:p>
            <a:pPr indent="0" marL="0">
              <a:buNone/>
            </a:pPr>
            <a:r>
              <a:rPr lang="en-US" sz="1300" b="1" dirty="0">
                <a:solidFill>
                  <a:srgbClr val="EF4444"/>
                </a:solidFill>
              </a:rPr>
              <a:t>Condition</a:t>
            </a:r>
            <a:endParaRPr lang="en-US" sz="1300" dirty="0"/>
          </a:p>
        </p:txBody>
      </p:sp>
      <p:sp>
        <p:nvSpPr>
          <p:cNvPr id="20" name="Text 18"/>
          <p:cNvSpPr/>
          <p:nvPr/>
        </p:nvSpPr>
        <p:spPr>
          <a:xfrm>
            <a:off x="5806440" y="4187952"/>
            <a:ext cx="2743200" cy="228600"/>
          </a:xfrm>
          <a:prstGeom prst="rect">
            <a:avLst/>
          </a:prstGeom>
          <a:noFill/>
          <a:ln/>
        </p:spPr>
        <p:txBody>
          <a:bodyPr wrap="square" rtlCol="0" anchor="ctr"/>
          <a:lstStyle/>
          <a:p>
            <a:pPr indent="0" marL="0">
              <a:buNone/>
            </a:pPr>
            <a:r>
              <a:rPr lang="en-US" sz="1100" dirty="0">
                <a:solidFill>
                  <a:srgbClr val="64748B"/>
                </a:solidFill>
              </a:rPr>
              <a:t>추가 조건</a:t>
            </a:r>
            <a:endParaRPr lang="en-US" sz="1100" dirty="0"/>
          </a:p>
        </p:txBody>
      </p:sp>
      <p:sp>
        <p:nvSpPr>
          <p:cNvPr id="21" name="Text 19"/>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Action 작성법</a:t>
            </a:r>
            <a:endParaRPr lang="en-US" sz="3200" dirty="0"/>
          </a:p>
        </p:txBody>
      </p:sp>
      <p:sp>
        <p:nvSpPr>
          <p:cNvPr id="3" name="Shape 1"/>
          <p:cNvSpPr/>
          <p:nvPr/>
        </p:nvSpPr>
        <p:spPr>
          <a:xfrm>
            <a:off x="457200" y="1188720"/>
            <a:ext cx="8229600" cy="3291840"/>
          </a:xfrm>
          <a:prstGeom prst="roundRect">
            <a:avLst/>
          </a:prstGeom>
          <a:solidFill>
            <a:srgbClr val="F1F5F9"/>
          </a:solidFill>
          <a:ln/>
        </p:spPr>
      </p:sp>
      <p:sp>
        <p:nvSpPr>
          <p:cNvPr id="4" name="Text 2"/>
          <p:cNvSpPr/>
          <p:nvPr/>
        </p:nvSpPr>
        <p:spPr>
          <a:xfrm>
            <a:off x="640080" y="1325880"/>
            <a:ext cx="7863840" cy="301752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 단일 Action</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"Action": "s3:GetObject"</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복수 Action (배열)</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"Action": ["s3:GetObject", "s3:PutObject", "s3:DeleteObject"]</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와일드카드 사용</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"Action": "s3:*"           // S3의 모든 작업</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"Action": "ec2:Describe*"  // Describe로 시작하는 모든 작업</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"Action": "*"              // 모든 AWS 작업</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NotAction (지정한 Action 제외한 나머지)</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"NotAction": "iam:*"       // IAM을 제외한 모든 작업</a:t>
            </a:r>
            <a:endParaRPr lang="en-US" sz="1100" dirty="0"/>
          </a:p>
        </p:txBody>
      </p:sp>
      <p:sp>
        <p:nvSpPr>
          <p:cNvPr id="5" name="Text 3"/>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Resource 작성법</a:t>
            </a:r>
            <a:endParaRPr lang="en-US" sz="3200" dirty="0"/>
          </a:p>
        </p:txBody>
      </p:sp>
      <p:sp>
        <p:nvSpPr>
          <p:cNvPr id="3" name="Shape 1"/>
          <p:cNvSpPr/>
          <p:nvPr/>
        </p:nvSpPr>
        <p:spPr>
          <a:xfrm>
            <a:off x="457200" y="1188720"/>
            <a:ext cx="8229600" cy="3291840"/>
          </a:xfrm>
          <a:prstGeom prst="roundRect">
            <a:avLst/>
          </a:prstGeom>
          <a:solidFill>
            <a:srgbClr val="F1F5F9"/>
          </a:solidFill>
          <a:ln/>
        </p:spPr>
      </p:sp>
      <p:sp>
        <p:nvSpPr>
          <p:cNvPr id="4" name="Text 2"/>
          <p:cNvSpPr/>
          <p:nvPr/>
        </p:nvSpPr>
        <p:spPr>
          <a:xfrm>
            <a:off x="640080" y="1325880"/>
            <a:ext cx="7863840" cy="301752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 모든 리소스</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"Resource": "*"</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특정 S3 버킷과 객체</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"Resource": ["arn:aws:s3:::my-bucket", "arn:aws:s3:::my-bucket/*"]</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정책 변수 사용 (사용자별 리소스)</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"Resource": "arn:aws:s3:::${aws:username}*"</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NotResource (지정한 Resource 제외한 나머지)</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"NotResource": "arn:aws:s3:::admin-bucket/*"</a:t>
            </a:r>
            <a:endParaRPr lang="en-US" sz="1100" dirty="0"/>
          </a:p>
        </p:txBody>
      </p:sp>
      <p:sp>
        <p:nvSpPr>
          <p:cNvPr id="5" name="Text 3"/>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ARN (Amazon Resource Name) 형식</a:t>
            </a:r>
            <a:endParaRPr lang="en-US" sz="3200" dirty="0"/>
          </a:p>
        </p:txBody>
      </p:sp>
      <p:sp>
        <p:nvSpPr>
          <p:cNvPr id="3" name="Shape 1"/>
          <p:cNvSpPr/>
          <p:nvPr/>
        </p:nvSpPr>
        <p:spPr>
          <a:xfrm>
            <a:off x="457200" y="1188720"/>
            <a:ext cx="8229600" cy="914400"/>
          </a:xfrm>
          <a:prstGeom prst="roundRect">
            <a:avLst/>
          </a:prstGeom>
          <a:solidFill>
            <a:srgbClr val="0F172A"/>
          </a:solidFill>
          <a:ln/>
        </p:spPr>
      </p:sp>
      <p:sp>
        <p:nvSpPr>
          <p:cNvPr id="4" name="Text 2"/>
          <p:cNvSpPr/>
          <p:nvPr/>
        </p:nvSpPr>
        <p:spPr>
          <a:xfrm>
            <a:off x="640080" y="1325880"/>
            <a:ext cx="7863840" cy="640080"/>
          </a:xfrm>
          <a:prstGeom prst="rect">
            <a:avLst/>
          </a:prstGeom>
          <a:noFill/>
          <a:ln/>
        </p:spPr>
        <p:txBody>
          <a:bodyPr wrap="square" rtlCol="0" anchor="ctr"/>
          <a:lstStyle/>
          <a:p>
            <a:pPr indent="0" marL="0">
              <a:buNone/>
            </a:pPr>
            <a:r>
              <a:rPr lang="en-US" sz="1400" dirty="0">
                <a:solidFill>
                  <a:srgbClr val="38BDF8"/>
                </a:solidFill>
                <a:latin typeface="Courier New" pitchFamily="34" charset="0"/>
                <a:ea typeface="Courier New" pitchFamily="34" charset="-122"/>
                <a:cs typeface="Courier New" pitchFamily="34" charset="-120"/>
              </a:rPr>
              <a:t>arn:aws:서비스:리전:계정ID:리소스타입/리소스이름</a:t>
            </a:r>
            <a:endParaRPr lang="en-US" sz="1400" dirty="0"/>
          </a:p>
        </p:txBody>
      </p:sp>
      <p:sp>
        <p:nvSpPr>
          <p:cNvPr id="5" name="Text 3"/>
          <p:cNvSpPr/>
          <p:nvPr/>
        </p:nvSpPr>
        <p:spPr>
          <a:xfrm>
            <a:off x="457200" y="2286000"/>
            <a:ext cx="8229600" cy="320040"/>
          </a:xfrm>
          <a:prstGeom prst="rect">
            <a:avLst/>
          </a:prstGeom>
          <a:noFill/>
          <a:ln/>
        </p:spPr>
        <p:txBody>
          <a:bodyPr wrap="square" rtlCol="0" anchor="ctr"/>
          <a:lstStyle/>
          <a:p>
            <a:pPr indent="0" marL="0">
              <a:buNone/>
            </a:pPr>
            <a:r>
              <a:rPr lang="en-US" sz="1400" b="1" dirty="0">
                <a:solidFill>
                  <a:srgbClr val="1E293B"/>
                </a:solidFill>
              </a:rPr>
              <a:t>예시</a:t>
            </a:r>
            <a:endParaRPr lang="en-US" sz="1400" dirty="0"/>
          </a:p>
        </p:txBody>
      </p:sp>
      <p:sp>
        <p:nvSpPr>
          <p:cNvPr id="6" name="Text 4"/>
          <p:cNvSpPr/>
          <p:nvPr/>
        </p:nvSpPr>
        <p:spPr>
          <a:xfrm>
            <a:off x="457200" y="2697480"/>
            <a:ext cx="5943600" cy="411480"/>
          </a:xfrm>
          <a:prstGeom prst="rect">
            <a:avLst/>
          </a:prstGeom>
          <a:noFill/>
          <a:ln/>
        </p:spPr>
        <p:txBody>
          <a:bodyPr wrap="square" rtlCol="0" anchor="ctr"/>
          <a:lstStyle/>
          <a:p>
            <a:pPr indent="0" marL="0">
              <a:buNone/>
            </a:pPr>
            <a:r>
              <a:rPr lang="en-US" sz="1000" dirty="0">
                <a:solidFill>
                  <a:srgbClr val="2563EB"/>
                </a:solidFill>
                <a:latin typeface="Courier New" pitchFamily="34" charset="0"/>
                <a:ea typeface="Courier New" pitchFamily="34" charset="-122"/>
                <a:cs typeface="Courier New" pitchFamily="34" charset="-120"/>
              </a:rPr>
              <a:t>arn:aws:s3:::my-bucket</a:t>
            </a:r>
            <a:endParaRPr lang="en-US" sz="1000" dirty="0"/>
          </a:p>
        </p:txBody>
      </p:sp>
      <p:sp>
        <p:nvSpPr>
          <p:cNvPr id="7" name="Text 5"/>
          <p:cNvSpPr/>
          <p:nvPr/>
        </p:nvSpPr>
        <p:spPr>
          <a:xfrm>
            <a:off x="6400800" y="2697480"/>
            <a:ext cx="2286000" cy="411480"/>
          </a:xfrm>
          <a:prstGeom prst="rect">
            <a:avLst/>
          </a:prstGeom>
          <a:noFill/>
          <a:ln/>
        </p:spPr>
        <p:txBody>
          <a:bodyPr wrap="square" rtlCol="0" anchor="ctr"/>
          <a:lstStyle/>
          <a:p>
            <a:pPr indent="0" marL="0">
              <a:buNone/>
            </a:pPr>
            <a:r>
              <a:rPr lang="en-US" sz="1100" dirty="0">
                <a:solidFill>
                  <a:srgbClr val="64748B"/>
                </a:solidFill>
              </a:rPr>
              <a:t>S3 버킷 (리전 없음)</a:t>
            </a:r>
            <a:endParaRPr lang="en-US" sz="1100" dirty="0"/>
          </a:p>
        </p:txBody>
      </p:sp>
      <p:sp>
        <p:nvSpPr>
          <p:cNvPr id="8" name="Text 6"/>
          <p:cNvSpPr/>
          <p:nvPr/>
        </p:nvSpPr>
        <p:spPr>
          <a:xfrm>
            <a:off x="457200" y="3200400"/>
            <a:ext cx="5943600" cy="411480"/>
          </a:xfrm>
          <a:prstGeom prst="rect">
            <a:avLst/>
          </a:prstGeom>
          <a:noFill/>
          <a:ln/>
        </p:spPr>
        <p:txBody>
          <a:bodyPr wrap="square" rtlCol="0" anchor="ctr"/>
          <a:lstStyle/>
          <a:p>
            <a:pPr indent="0" marL="0">
              <a:buNone/>
            </a:pPr>
            <a:r>
              <a:rPr lang="en-US" sz="1000" dirty="0">
                <a:solidFill>
                  <a:srgbClr val="2563EB"/>
                </a:solidFill>
                <a:latin typeface="Courier New" pitchFamily="34" charset="0"/>
                <a:ea typeface="Courier New" pitchFamily="34" charset="-122"/>
                <a:cs typeface="Courier New" pitchFamily="34" charset="-120"/>
              </a:rPr>
              <a:t>arn:aws:ec2:ap-northeast-2:123456789012:instance/i-1234</a:t>
            </a:r>
            <a:endParaRPr lang="en-US" sz="1000" dirty="0"/>
          </a:p>
        </p:txBody>
      </p:sp>
      <p:sp>
        <p:nvSpPr>
          <p:cNvPr id="9" name="Text 7"/>
          <p:cNvSpPr/>
          <p:nvPr/>
        </p:nvSpPr>
        <p:spPr>
          <a:xfrm>
            <a:off x="6400800" y="3200400"/>
            <a:ext cx="2286000" cy="411480"/>
          </a:xfrm>
          <a:prstGeom prst="rect">
            <a:avLst/>
          </a:prstGeom>
          <a:noFill/>
          <a:ln/>
        </p:spPr>
        <p:txBody>
          <a:bodyPr wrap="square" rtlCol="0" anchor="ctr"/>
          <a:lstStyle/>
          <a:p>
            <a:pPr indent="0" marL="0">
              <a:buNone/>
            </a:pPr>
            <a:r>
              <a:rPr lang="en-US" sz="1100" dirty="0">
                <a:solidFill>
                  <a:srgbClr val="64748B"/>
                </a:solidFill>
              </a:rPr>
              <a:t>EC2 인스턴스</a:t>
            </a:r>
            <a:endParaRPr lang="en-US" sz="1100" dirty="0"/>
          </a:p>
        </p:txBody>
      </p:sp>
      <p:sp>
        <p:nvSpPr>
          <p:cNvPr id="10" name="Text 8"/>
          <p:cNvSpPr/>
          <p:nvPr/>
        </p:nvSpPr>
        <p:spPr>
          <a:xfrm>
            <a:off x="457200" y="3703320"/>
            <a:ext cx="5943600" cy="411480"/>
          </a:xfrm>
          <a:prstGeom prst="rect">
            <a:avLst/>
          </a:prstGeom>
          <a:noFill/>
          <a:ln/>
        </p:spPr>
        <p:txBody>
          <a:bodyPr wrap="square" rtlCol="0" anchor="ctr"/>
          <a:lstStyle/>
          <a:p>
            <a:pPr indent="0" marL="0">
              <a:buNone/>
            </a:pPr>
            <a:r>
              <a:rPr lang="en-US" sz="1000" dirty="0">
                <a:solidFill>
                  <a:srgbClr val="2563EB"/>
                </a:solidFill>
                <a:latin typeface="Courier New" pitchFamily="34" charset="0"/>
                <a:ea typeface="Courier New" pitchFamily="34" charset="-122"/>
                <a:cs typeface="Courier New" pitchFamily="34" charset="-120"/>
              </a:rPr>
              <a:t>arn:aws:iam::123456789012:user/student01</a:t>
            </a:r>
            <a:endParaRPr lang="en-US" sz="1000" dirty="0"/>
          </a:p>
        </p:txBody>
      </p:sp>
      <p:sp>
        <p:nvSpPr>
          <p:cNvPr id="11" name="Text 9"/>
          <p:cNvSpPr/>
          <p:nvPr/>
        </p:nvSpPr>
        <p:spPr>
          <a:xfrm>
            <a:off x="6400800" y="3703320"/>
            <a:ext cx="2286000" cy="411480"/>
          </a:xfrm>
          <a:prstGeom prst="rect">
            <a:avLst/>
          </a:prstGeom>
          <a:noFill/>
          <a:ln/>
        </p:spPr>
        <p:txBody>
          <a:bodyPr wrap="square" rtlCol="0" anchor="ctr"/>
          <a:lstStyle/>
          <a:p>
            <a:pPr indent="0" marL="0">
              <a:buNone/>
            </a:pPr>
            <a:r>
              <a:rPr lang="en-US" sz="1100" dirty="0">
                <a:solidFill>
                  <a:srgbClr val="64748B"/>
                </a:solidFill>
              </a:rPr>
              <a:t>IAM User (리전 없음)</a:t>
            </a:r>
            <a:endParaRPr lang="en-US" sz="1100" dirty="0"/>
          </a:p>
        </p:txBody>
      </p:sp>
      <p:sp>
        <p:nvSpPr>
          <p:cNvPr id="12" name="Text 10"/>
          <p:cNvSpPr/>
          <p:nvPr/>
        </p:nvSpPr>
        <p:spPr>
          <a:xfrm>
            <a:off x="457200" y="4206240"/>
            <a:ext cx="5943600" cy="411480"/>
          </a:xfrm>
          <a:prstGeom prst="rect">
            <a:avLst/>
          </a:prstGeom>
          <a:noFill/>
          <a:ln/>
        </p:spPr>
        <p:txBody>
          <a:bodyPr wrap="square" rtlCol="0" anchor="ctr"/>
          <a:lstStyle/>
          <a:p>
            <a:pPr indent="0" marL="0">
              <a:buNone/>
            </a:pPr>
            <a:r>
              <a:rPr lang="en-US" sz="1000" dirty="0">
                <a:solidFill>
                  <a:srgbClr val="2563EB"/>
                </a:solidFill>
                <a:latin typeface="Courier New" pitchFamily="34" charset="0"/>
                <a:ea typeface="Courier New" pitchFamily="34" charset="-122"/>
                <a:cs typeface="Courier New" pitchFamily="34" charset="-120"/>
              </a:rPr>
              <a:t>arn:aws:lambda:ap-northeast-2:123456789012:function:my-func</a:t>
            </a:r>
            <a:endParaRPr lang="en-US" sz="1000" dirty="0"/>
          </a:p>
        </p:txBody>
      </p:sp>
      <p:sp>
        <p:nvSpPr>
          <p:cNvPr id="13" name="Text 11"/>
          <p:cNvSpPr/>
          <p:nvPr/>
        </p:nvSpPr>
        <p:spPr>
          <a:xfrm>
            <a:off x="6400800" y="4206240"/>
            <a:ext cx="2286000" cy="411480"/>
          </a:xfrm>
          <a:prstGeom prst="rect">
            <a:avLst/>
          </a:prstGeom>
          <a:noFill/>
          <a:ln/>
        </p:spPr>
        <p:txBody>
          <a:bodyPr wrap="square" rtlCol="0" anchor="ctr"/>
          <a:lstStyle/>
          <a:p>
            <a:pPr indent="0" marL="0">
              <a:buNone/>
            </a:pPr>
            <a:r>
              <a:rPr lang="en-US" sz="1100" dirty="0">
                <a:solidFill>
                  <a:srgbClr val="64748B"/>
                </a:solidFill>
              </a:rPr>
              <a:t>Lambda 함수</a:t>
            </a:r>
            <a:endParaRPr lang="en-US" sz="1100" dirty="0"/>
          </a:p>
        </p:txBody>
      </p:sp>
      <p:sp>
        <p:nvSpPr>
          <p:cNvPr id="14" name="Text 12"/>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9E0B"/>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7200" b="1" dirty="0">
                <a:solidFill>
                  <a:srgbClr val="FFFFFF"/>
                </a:solidFill>
              </a:rPr>
              <a:t>04</a:t>
            </a:r>
            <a:endParaRPr lang="en-US" sz="7200" dirty="0"/>
          </a:p>
        </p:txBody>
      </p:sp>
      <p:sp>
        <p:nvSpPr>
          <p:cNvPr id="3" name="Text 1"/>
          <p:cNvSpPr/>
          <p:nvPr/>
        </p:nvSpPr>
        <p:spPr>
          <a:xfrm>
            <a:off x="457200" y="2560320"/>
            <a:ext cx="8229600" cy="640080"/>
          </a:xfrm>
          <a:prstGeom prst="rect">
            <a:avLst/>
          </a:prstGeom>
          <a:noFill/>
          <a:ln/>
        </p:spPr>
        <p:txBody>
          <a:bodyPr wrap="square" rtlCol="0" anchor="ctr"/>
          <a:lstStyle/>
          <a:p>
            <a:pPr algn="ctr" indent="0" marL="0">
              <a:buNone/>
            </a:pPr>
            <a:r>
              <a:rPr lang="en-US" sz="4000" b="1" dirty="0">
                <a:solidFill>
                  <a:srgbClr val="FFFFFF"/>
                </a:solidFill>
              </a:rPr>
              <a:t>Condition 작성법</a:t>
            </a:r>
            <a:endParaRPr lang="en-US" sz="4000" dirty="0"/>
          </a:p>
        </p:txBody>
      </p:sp>
      <p:sp>
        <p:nvSpPr>
          <p:cNvPr id="4" name="Text 2"/>
          <p:cNvSpPr/>
          <p:nvPr/>
        </p:nvSpPr>
        <p:spPr>
          <a:xfrm>
            <a:off x="457200" y="3200400"/>
            <a:ext cx="8229600" cy="365760"/>
          </a:xfrm>
          <a:prstGeom prst="rect">
            <a:avLst/>
          </a:prstGeom>
          <a:noFill/>
          <a:ln/>
        </p:spPr>
        <p:txBody>
          <a:bodyPr wrap="square" rtlCol="0" anchor="ctr"/>
          <a:lstStyle/>
          <a:p>
            <a:pPr algn="ctr" indent="0" marL="0">
              <a:buNone/>
            </a:pPr>
            <a:r>
              <a:rPr lang="en-US" sz="1800" dirty="0">
                <a:solidFill>
                  <a:srgbClr val="FEF3C7"/>
                </a:solidFill>
              </a:rPr>
              <a:t>정책의 핵심 - 조건 연산자와 조건키</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주요 조건 연산자</a:t>
            </a:r>
            <a:endParaRPr lang="en-US" sz="3200" dirty="0"/>
          </a:p>
        </p:txBody>
      </p:sp>
      <p:sp>
        <p:nvSpPr>
          <p:cNvPr id="3" name="Shape 1"/>
          <p:cNvSpPr/>
          <p:nvPr/>
        </p:nvSpPr>
        <p:spPr>
          <a:xfrm>
            <a:off x="457200" y="1188720"/>
            <a:ext cx="2743200" cy="365760"/>
          </a:xfrm>
          <a:prstGeom prst="rect">
            <a:avLst/>
          </a:prstGeom>
          <a:solidFill>
            <a:srgbClr val="2563EB"/>
          </a:solidFill>
          <a:ln/>
        </p:spPr>
      </p:sp>
      <p:sp>
        <p:nvSpPr>
          <p:cNvPr id="4" name="Text 2"/>
          <p:cNvSpPr/>
          <p:nvPr/>
        </p:nvSpPr>
        <p:spPr>
          <a:xfrm>
            <a:off x="457200" y="1188720"/>
            <a:ext cx="2743200" cy="365760"/>
          </a:xfrm>
          <a:prstGeom prst="rect">
            <a:avLst/>
          </a:prstGeom>
          <a:noFill/>
          <a:ln/>
        </p:spPr>
        <p:txBody>
          <a:bodyPr wrap="square" rtlCol="0" anchor="ctr"/>
          <a:lstStyle/>
          <a:p>
            <a:pPr algn="ctr" indent="0" marL="0">
              <a:buNone/>
            </a:pPr>
            <a:r>
              <a:rPr lang="en-US" sz="1200" b="1" dirty="0">
                <a:solidFill>
                  <a:srgbClr val="FFFFFF"/>
                </a:solidFill>
              </a:rPr>
              <a:t>연산자</a:t>
            </a:r>
            <a:endParaRPr lang="en-US" sz="1200" dirty="0"/>
          </a:p>
        </p:txBody>
      </p:sp>
      <p:sp>
        <p:nvSpPr>
          <p:cNvPr id="5" name="Shape 3"/>
          <p:cNvSpPr/>
          <p:nvPr/>
        </p:nvSpPr>
        <p:spPr>
          <a:xfrm>
            <a:off x="3200400" y="1188720"/>
            <a:ext cx="3200400" cy="365760"/>
          </a:xfrm>
          <a:prstGeom prst="rect">
            <a:avLst/>
          </a:prstGeom>
          <a:solidFill>
            <a:srgbClr val="2563EB"/>
          </a:solidFill>
          <a:ln/>
        </p:spPr>
      </p:sp>
      <p:sp>
        <p:nvSpPr>
          <p:cNvPr id="6" name="Text 4"/>
          <p:cNvSpPr/>
          <p:nvPr/>
        </p:nvSpPr>
        <p:spPr>
          <a:xfrm>
            <a:off x="3200400" y="1188720"/>
            <a:ext cx="3200400" cy="365760"/>
          </a:xfrm>
          <a:prstGeom prst="rect">
            <a:avLst/>
          </a:prstGeom>
          <a:noFill/>
          <a:ln/>
        </p:spPr>
        <p:txBody>
          <a:bodyPr wrap="square" rtlCol="0" anchor="ctr"/>
          <a:lstStyle/>
          <a:p>
            <a:pPr algn="ctr" indent="0" marL="0">
              <a:buNone/>
            </a:pPr>
            <a:r>
              <a:rPr lang="en-US" sz="1200" b="1" dirty="0">
                <a:solidFill>
                  <a:srgbClr val="FFFFFF"/>
                </a:solidFill>
              </a:rPr>
              <a:t>설명</a:t>
            </a:r>
            <a:endParaRPr lang="en-US" sz="1200" dirty="0"/>
          </a:p>
        </p:txBody>
      </p:sp>
      <p:sp>
        <p:nvSpPr>
          <p:cNvPr id="7" name="Shape 5"/>
          <p:cNvSpPr/>
          <p:nvPr/>
        </p:nvSpPr>
        <p:spPr>
          <a:xfrm>
            <a:off x="6400800" y="1188720"/>
            <a:ext cx="2286000" cy="365760"/>
          </a:xfrm>
          <a:prstGeom prst="rect">
            <a:avLst/>
          </a:prstGeom>
          <a:solidFill>
            <a:srgbClr val="2563EB"/>
          </a:solidFill>
          <a:ln/>
        </p:spPr>
      </p:sp>
      <p:sp>
        <p:nvSpPr>
          <p:cNvPr id="8" name="Text 6"/>
          <p:cNvSpPr/>
          <p:nvPr/>
        </p:nvSpPr>
        <p:spPr>
          <a:xfrm>
            <a:off x="6400800" y="1188720"/>
            <a:ext cx="2286000" cy="365760"/>
          </a:xfrm>
          <a:prstGeom prst="rect">
            <a:avLst/>
          </a:prstGeom>
          <a:noFill/>
          <a:ln/>
        </p:spPr>
        <p:txBody>
          <a:bodyPr wrap="square" rtlCol="0" anchor="ctr"/>
          <a:lstStyle/>
          <a:p>
            <a:pPr algn="ctr" indent="0" marL="0">
              <a:buNone/>
            </a:pPr>
            <a:r>
              <a:rPr lang="en-US" sz="1200" b="1" dirty="0">
                <a:solidFill>
                  <a:srgbClr val="FFFFFF"/>
                </a:solidFill>
              </a:rPr>
              <a:t>사용 예</a:t>
            </a:r>
            <a:endParaRPr lang="en-US" sz="1200" dirty="0"/>
          </a:p>
        </p:txBody>
      </p:sp>
      <p:sp>
        <p:nvSpPr>
          <p:cNvPr id="9" name="Shape 7"/>
          <p:cNvSpPr/>
          <p:nvPr/>
        </p:nvSpPr>
        <p:spPr>
          <a:xfrm>
            <a:off x="457200" y="1600200"/>
            <a:ext cx="2743200" cy="457200"/>
          </a:xfrm>
          <a:prstGeom prst="rect">
            <a:avLst/>
          </a:prstGeom>
          <a:solidFill>
            <a:srgbClr val="F1F5F9"/>
          </a:solidFill>
          <a:ln/>
        </p:spPr>
      </p:sp>
      <p:sp>
        <p:nvSpPr>
          <p:cNvPr id="10" name="Shape 8"/>
          <p:cNvSpPr/>
          <p:nvPr/>
        </p:nvSpPr>
        <p:spPr>
          <a:xfrm>
            <a:off x="3200400" y="1600200"/>
            <a:ext cx="3200400" cy="457200"/>
          </a:xfrm>
          <a:prstGeom prst="rect">
            <a:avLst/>
          </a:prstGeom>
          <a:solidFill>
            <a:srgbClr val="F1F5F9"/>
          </a:solidFill>
          <a:ln/>
        </p:spPr>
      </p:sp>
      <p:sp>
        <p:nvSpPr>
          <p:cNvPr id="11" name="Shape 9"/>
          <p:cNvSpPr/>
          <p:nvPr/>
        </p:nvSpPr>
        <p:spPr>
          <a:xfrm>
            <a:off x="6400800" y="1600200"/>
            <a:ext cx="2286000" cy="457200"/>
          </a:xfrm>
          <a:prstGeom prst="rect">
            <a:avLst/>
          </a:prstGeom>
          <a:solidFill>
            <a:srgbClr val="F1F5F9"/>
          </a:solidFill>
          <a:ln/>
        </p:spPr>
      </p:sp>
      <p:sp>
        <p:nvSpPr>
          <p:cNvPr id="12" name="Text 10"/>
          <p:cNvSpPr/>
          <p:nvPr/>
        </p:nvSpPr>
        <p:spPr>
          <a:xfrm>
            <a:off x="548640" y="16002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StringEquals</a:t>
            </a:r>
            <a:endParaRPr lang="en-US" sz="1100" dirty="0"/>
          </a:p>
        </p:txBody>
      </p:sp>
      <p:sp>
        <p:nvSpPr>
          <p:cNvPr id="13" name="Text 11"/>
          <p:cNvSpPr/>
          <p:nvPr/>
        </p:nvSpPr>
        <p:spPr>
          <a:xfrm>
            <a:off x="3291840" y="1600200"/>
            <a:ext cx="3017520" cy="457200"/>
          </a:xfrm>
          <a:prstGeom prst="rect">
            <a:avLst/>
          </a:prstGeom>
          <a:noFill/>
          <a:ln/>
        </p:spPr>
        <p:txBody>
          <a:bodyPr wrap="square" rtlCol="0" anchor="ctr"/>
          <a:lstStyle/>
          <a:p>
            <a:pPr indent="0" marL="0">
              <a:buNone/>
            </a:pPr>
            <a:r>
              <a:rPr lang="en-US" sz="1100" dirty="0">
                <a:solidFill>
                  <a:srgbClr val="334155"/>
                </a:solidFill>
              </a:rPr>
              <a:t>문자열 정확히 일치</a:t>
            </a:r>
            <a:endParaRPr lang="en-US" sz="1100" dirty="0"/>
          </a:p>
        </p:txBody>
      </p:sp>
      <p:sp>
        <p:nvSpPr>
          <p:cNvPr id="14" name="Text 12"/>
          <p:cNvSpPr/>
          <p:nvPr/>
        </p:nvSpPr>
        <p:spPr>
          <a:xfrm>
            <a:off x="6492240" y="1600200"/>
            <a:ext cx="2103120" cy="457200"/>
          </a:xfrm>
          <a:prstGeom prst="rect">
            <a:avLst/>
          </a:prstGeom>
          <a:noFill/>
          <a:ln/>
        </p:spPr>
        <p:txBody>
          <a:bodyPr wrap="square" rtlCol="0" anchor="ctr"/>
          <a:lstStyle/>
          <a:p>
            <a:pPr indent="0" marL="0">
              <a:buNone/>
            </a:pPr>
            <a:r>
              <a:rPr lang="en-US" sz="1100" dirty="0">
                <a:solidFill>
                  <a:srgbClr val="64748B"/>
                </a:solidFill>
              </a:rPr>
              <a:t>리전, 태그값</a:t>
            </a:r>
            <a:endParaRPr lang="en-US" sz="1100" dirty="0"/>
          </a:p>
        </p:txBody>
      </p:sp>
      <p:sp>
        <p:nvSpPr>
          <p:cNvPr id="15" name="Shape 13"/>
          <p:cNvSpPr/>
          <p:nvPr/>
        </p:nvSpPr>
        <p:spPr>
          <a:xfrm>
            <a:off x="457200" y="2057400"/>
            <a:ext cx="2743200" cy="457200"/>
          </a:xfrm>
          <a:prstGeom prst="rect">
            <a:avLst/>
          </a:prstGeom>
          <a:solidFill>
            <a:srgbClr val="FFFFFF"/>
          </a:solidFill>
          <a:ln/>
        </p:spPr>
      </p:sp>
      <p:sp>
        <p:nvSpPr>
          <p:cNvPr id="16" name="Shape 14"/>
          <p:cNvSpPr/>
          <p:nvPr/>
        </p:nvSpPr>
        <p:spPr>
          <a:xfrm>
            <a:off x="3200400" y="2057400"/>
            <a:ext cx="3200400" cy="457200"/>
          </a:xfrm>
          <a:prstGeom prst="rect">
            <a:avLst/>
          </a:prstGeom>
          <a:solidFill>
            <a:srgbClr val="FFFFFF"/>
          </a:solidFill>
          <a:ln/>
        </p:spPr>
      </p:sp>
      <p:sp>
        <p:nvSpPr>
          <p:cNvPr id="17" name="Shape 15"/>
          <p:cNvSpPr/>
          <p:nvPr/>
        </p:nvSpPr>
        <p:spPr>
          <a:xfrm>
            <a:off x="6400800" y="2057400"/>
            <a:ext cx="2286000" cy="457200"/>
          </a:xfrm>
          <a:prstGeom prst="rect">
            <a:avLst/>
          </a:prstGeom>
          <a:solidFill>
            <a:srgbClr val="FFFFFF"/>
          </a:solidFill>
          <a:ln/>
        </p:spPr>
      </p:sp>
      <p:sp>
        <p:nvSpPr>
          <p:cNvPr id="18" name="Text 16"/>
          <p:cNvSpPr/>
          <p:nvPr/>
        </p:nvSpPr>
        <p:spPr>
          <a:xfrm>
            <a:off x="548640" y="20574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StringLike</a:t>
            </a:r>
            <a:endParaRPr lang="en-US" sz="1100" dirty="0"/>
          </a:p>
        </p:txBody>
      </p:sp>
      <p:sp>
        <p:nvSpPr>
          <p:cNvPr id="19" name="Text 17"/>
          <p:cNvSpPr/>
          <p:nvPr/>
        </p:nvSpPr>
        <p:spPr>
          <a:xfrm>
            <a:off x="3291840" y="2057400"/>
            <a:ext cx="3017520" cy="457200"/>
          </a:xfrm>
          <a:prstGeom prst="rect">
            <a:avLst/>
          </a:prstGeom>
          <a:noFill/>
          <a:ln/>
        </p:spPr>
        <p:txBody>
          <a:bodyPr wrap="square" rtlCol="0" anchor="ctr"/>
          <a:lstStyle/>
          <a:p>
            <a:pPr indent="0" marL="0">
              <a:buNone/>
            </a:pPr>
            <a:r>
              <a:rPr lang="en-US" sz="1100" dirty="0">
                <a:solidFill>
                  <a:srgbClr val="334155"/>
                </a:solidFill>
              </a:rPr>
              <a:t>와일드카드(*,?) 패턴</a:t>
            </a:r>
            <a:endParaRPr lang="en-US" sz="1100" dirty="0"/>
          </a:p>
        </p:txBody>
      </p:sp>
      <p:sp>
        <p:nvSpPr>
          <p:cNvPr id="20" name="Text 18"/>
          <p:cNvSpPr/>
          <p:nvPr/>
        </p:nvSpPr>
        <p:spPr>
          <a:xfrm>
            <a:off x="6492240" y="2057400"/>
            <a:ext cx="2103120" cy="457200"/>
          </a:xfrm>
          <a:prstGeom prst="rect">
            <a:avLst/>
          </a:prstGeom>
          <a:noFill/>
          <a:ln/>
        </p:spPr>
        <p:txBody>
          <a:bodyPr wrap="square" rtlCol="0" anchor="ctr"/>
          <a:lstStyle/>
          <a:p>
            <a:pPr indent="0" marL="0">
              <a:buNone/>
            </a:pPr>
            <a:r>
              <a:rPr lang="en-US" sz="1100" dirty="0">
                <a:solidFill>
                  <a:srgbClr val="64748B"/>
                </a:solidFill>
              </a:rPr>
              <a:t>인스턴스 타입</a:t>
            </a:r>
            <a:endParaRPr lang="en-US" sz="1100" dirty="0"/>
          </a:p>
        </p:txBody>
      </p:sp>
      <p:sp>
        <p:nvSpPr>
          <p:cNvPr id="21" name="Shape 19"/>
          <p:cNvSpPr/>
          <p:nvPr/>
        </p:nvSpPr>
        <p:spPr>
          <a:xfrm>
            <a:off x="457200" y="2514600"/>
            <a:ext cx="2743200" cy="457200"/>
          </a:xfrm>
          <a:prstGeom prst="rect">
            <a:avLst/>
          </a:prstGeom>
          <a:solidFill>
            <a:srgbClr val="F1F5F9"/>
          </a:solidFill>
          <a:ln/>
        </p:spPr>
      </p:sp>
      <p:sp>
        <p:nvSpPr>
          <p:cNvPr id="22" name="Shape 20"/>
          <p:cNvSpPr/>
          <p:nvPr/>
        </p:nvSpPr>
        <p:spPr>
          <a:xfrm>
            <a:off x="3200400" y="2514600"/>
            <a:ext cx="3200400" cy="457200"/>
          </a:xfrm>
          <a:prstGeom prst="rect">
            <a:avLst/>
          </a:prstGeom>
          <a:solidFill>
            <a:srgbClr val="F1F5F9"/>
          </a:solidFill>
          <a:ln/>
        </p:spPr>
      </p:sp>
      <p:sp>
        <p:nvSpPr>
          <p:cNvPr id="23" name="Shape 21"/>
          <p:cNvSpPr/>
          <p:nvPr/>
        </p:nvSpPr>
        <p:spPr>
          <a:xfrm>
            <a:off x="6400800" y="2514600"/>
            <a:ext cx="2286000" cy="457200"/>
          </a:xfrm>
          <a:prstGeom prst="rect">
            <a:avLst/>
          </a:prstGeom>
          <a:solidFill>
            <a:srgbClr val="F1F5F9"/>
          </a:solidFill>
          <a:ln/>
        </p:spPr>
      </p:sp>
      <p:sp>
        <p:nvSpPr>
          <p:cNvPr id="24" name="Text 22"/>
          <p:cNvSpPr/>
          <p:nvPr/>
        </p:nvSpPr>
        <p:spPr>
          <a:xfrm>
            <a:off x="548640" y="25146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StringNotEquals</a:t>
            </a:r>
            <a:endParaRPr lang="en-US" sz="1100" dirty="0"/>
          </a:p>
        </p:txBody>
      </p:sp>
      <p:sp>
        <p:nvSpPr>
          <p:cNvPr id="25" name="Text 23"/>
          <p:cNvSpPr/>
          <p:nvPr/>
        </p:nvSpPr>
        <p:spPr>
          <a:xfrm>
            <a:off x="3291840" y="2514600"/>
            <a:ext cx="3017520" cy="457200"/>
          </a:xfrm>
          <a:prstGeom prst="rect">
            <a:avLst/>
          </a:prstGeom>
          <a:noFill/>
          <a:ln/>
        </p:spPr>
        <p:txBody>
          <a:bodyPr wrap="square" rtlCol="0" anchor="ctr"/>
          <a:lstStyle/>
          <a:p>
            <a:pPr indent="0" marL="0">
              <a:buNone/>
            </a:pPr>
            <a:r>
              <a:rPr lang="en-US" sz="1100" dirty="0">
                <a:solidFill>
                  <a:srgbClr val="334155"/>
                </a:solidFill>
              </a:rPr>
              <a:t>문자열 불일치</a:t>
            </a:r>
            <a:endParaRPr lang="en-US" sz="1100" dirty="0"/>
          </a:p>
        </p:txBody>
      </p:sp>
      <p:sp>
        <p:nvSpPr>
          <p:cNvPr id="26" name="Text 24"/>
          <p:cNvSpPr/>
          <p:nvPr/>
        </p:nvSpPr>
        <p:spPr>
          <a:xfrm>
            <a:off x="6492240" y="2514600"/>
            <a:ext cx="2103120" cy="457200"/>
          </a:xfrm>
          <a:prstGeom prst="rect">
            <a:avLst/>
          </a:prstGeom>
          <a:noFill/>
          <a:ln/>
        </p:spPr>
        <p:txBody>
          <a:bodyPr wrap="square" rtlCol="0" anchor="ctr"/>
          <a:lstStyle/>
          <a:p>
            <a:pPr indent="0" marL="0">
              <a:buNone/>
            </a:pPr>
            <a:r>
              <a:rPr lang="en-US" sz="1100" dirty="0">
                <a:solidFill>
                  <a:srgbClr val="64748B"/>
                </a:solidFill>
              </a:rPr>
              <a:t>특정 값 제외</a:t>
            </a:r>
            <a:endParaRPr lang="en-US" sz="1100" dirty="0"/>
          </a:p>
        </p:txBody>
      </p:sp>
      <p:sp>
        <p:nvSpPr>
          <p:cNvPr id="27" name="Shape 25"/>
          <p:cNvSpPr/>
          <p:nvPr/>
        </p:nvSpPr>
        <p:spPr>
          <a:xfrm>
            <a:off x="457200" y="2971800"/>
            <a:ext cx="2743200" cy="457200"/>
          </a:xfrm>
          <a:prstGeom prst="rect">
            <a:avLst/>
          </a:prstGeom>
          <a:solidFill>
            <a:srgbClr val="FFFFFF"/>
          </a:solidFill>
          <a:ln/>
        </p:spPr>
      </p:sp>
      <p:sp>
        <p:nvSpPr>
          <p:cNvPr id="28" name="Shape 26"/>
          <p:cNvSpPr/>
          <p:nvPr/>
        </p:nvSpPr>
        <p:spPr>
          <a:xfrm>
            <a:off x="3200400" y="2971800"/>
            <a:ext cx="3200400" cy="457200"/>
          </a:xfrm>
          <a:prstGeom prst="rect">
            <a:avLst/>
          </a:prstGeom>
          <a:solidFill>
            <a:srgbClr val="FFFFFF"/>
          </a:solidFill>
          <a:ln/>
        </p:spPr>
      </p:sp>
      <p:sp>
        <p:nvSpPr>
          <p:cNvPr id="29" name="Shape 27"/>
          <p:cNvSpPr/>
          <p:nvPr/>
        </p:nvSpPr>
        <p:spPr>
          <a:xfrm>
            <a:off x="6400800" y="2971800"/>
            <a:ext cx="2286000" cy="457200"/>
          </a:xfrm>
          <a:prstGeom prst="rect">
            <a:avLst/>
          </a:prstGeom>
          <a:solidFill>
            <a:srgbClr val="FFFFFF"/>
          </a:solidFill>
          <a:ln/>
        </p:spPr>
      </p:sp>
      <p:sp>
        <p:nvSpPr>
          <p:cNvPr id="30" name="Text 28"/>
          <p:cNvSpPr/>
          <p:nvPr/>
        </p:nvSpPr>
        <p:spPr>
          <a:xfrm>
            <a:off x="548640" y="29718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Bool</a:t>
            </a:r>
            <a:endParaRPr lang="en-US" sz="1100" dirty="0"/>
          </a:p>
        </p:txBody>
      </p:sp>
      <p:sp>
        <p:nvSpPr>
          <p:cNvPr id="31" name="Text 29"/>
          <p:cNvSpPr/>
          <p:nvPr/>
        </p:nvSpPr>
        <p:spPr>
          <a:xfrm>
            <a:off x="3291840" y="2971800"/>
            <a:ext cx="3017520" cy="457200"/>
          </a:xfrm>
          <a:prstGeom prst="rect">
            <a:avLst/>
          </a:prstGeom>
          <a:noFill/>
          <a:ln/>
        </p:spPr>
        <p:txBody>
          <a:bodyPr wrap="square" rtlCol="0" anchor="ctr"/>
          <a:lstStyle/>
          <a:p>
            <a:pPr indent="0" marL="0">
              <a:buNone/>
            </a:pPr>
            <a:r>
              <a:rPr lang="en-US" sz="1100" dirty="0">
                <a:solidFill>
                  <a:srgbClr val="334155"/>
                </a:solidFill>
              </a:rPr>
              <a:t>Boolean 값 비교</a:t>
            </a:r>
            <a:endParaRPr lang="en-US" sz="1100" dirty="0"/>
          </a:p>
        </p:txBody>
      </p:sp>
      <p:sp>
        <p:nvSpPr>
          <p:cNvPr id="32" name="Text 30"/>
          <p:cNvSpPr/>
          <p:nvPr/>
        </p:nvSpPr>
        <p:spPr>
          <a:xfrm>
            <a:off x="6492240" y="2971800"/>
            <a:ext cx="2103120" cy="457200"/>
          </a:xfrm>
          <a:prstGeom prst="rect">
            <a:avLst/>
          </a:prstGeom>
          <a:noFill/>
          <a:ln/>
        </p:spPr>
        <p:txBody>
          <a:bodyPr wrap="square" rtlCol="0" anchor="ctr"/>
          <a:lstStyle/>
          <a:p>
            <a:pPr indent="0" marL="0">
              <a:buNone/>
            </a:pPr>
            <a:r>
              <a:rPr lang="en-US" sz="1100" dirty="0">
                <a:solidFill>
                  <a:srgbClr val="64748B"/>
                </a:solidFill>
              </a:rPr>
              <a:t>MFA 사용 여부</a:t>
            </a:r>
            <a:endParaRPr lang="en-US" sz="1100" dirty="0"/>
          </a:p>
        </p:txBody>
      </p:sp>
      <p:sp>
        <p:nvSpPr>
          <p:cNvPr id="33" name="Shape 31"/>
          <p:cNvSpPr/>
          <p:nvPr/>
        </p:nvSpPr>
        <p:spPr>
          <a:xfrm>
            <a:off x="457200" y="3429000"/>
            <a:ext cx="2743200" cy="457200"/>
          </a:xfrm>
          <a:prstGeom prst="rect">
            <a:avLst/>
          </a:prstGeom>
          <a:solidFill>
            <a:srgbClr val="F1F5F9"/>
          </a:solidFill>
          <a:ln/>
        </p:spPr>
      </p:sp>
      <p:sp>
        <p:nvSpPr>
          <p:cNvPr id="34" name="Shape 32"/>
          <p:cNvSpPr/>
          <p:nvPr/>
        </p:nvSpPr>
        <p:spPr>
          <a:xfrm>
            <a:off x="3200400" y="3429000"/>
            <a:ext cx="3200400" cy="457200"/>
          </a:xfrm>
          <a:prstGeom prst="rect">
            <a:avLst/>
          </a:prstGeom>
          <a:solidFill>
            <a:srgbClr val="F1F5F9"/>
          </a:solidFill>
          <a:ln/>
        </p:spPr>
      </p:sp>
      <p:sp>
        <p:nvSpPr>
          <p:cNvPr id="35" name="Shape 33"/>
          <p:cNvSpPr/>
          <p:nvPr/>
        </p:nvSpPr>
        <p:spPr>
          <a:xfrm>
            <a:off x="6400800" y="3429000"/>
            <a:ext cx="2286000" cy="457200"/>
          </a:xfrm>
          <a:prstGeom prst="rect">
            <a:avLst/>
          </a:prstGeom>
          <a:solidFill>
            <a:srgbClr val="F1F5F9"/>
          </a:solidFill>
          <a:ln/>
        </p:spPr>
      </p:sp>
      <p:sp>
        <p:nvSpPr>
          <p:cNvPr id="36" name="Text 34"/>
          <p:cNvSpPr/>
          <p:nvPr/>
        </p:nvSpPr>
        <p:spPr>
          <a:xfrm>
            <a:off x="548640" y="34290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Null</a:t>
            </a:r>
            <a:endParaRPr lang="en-US" sz="1100" dirty="0"/>
          </a:p>
        </p:txBody>
      </p:sp>
      <p:sp>
        <p:nvSpPr>
          <p:cNvPr id="37" name="Text 35"/>
          <p:cNvSpPr/>
          <p:nvPr/>
        </p:nvSpPr>
        <p:spPr>
          <a:xfrm>
            <a:off x="3291840" y="3429000"/>
            <a:ext cx="3017520" cy="457200"/>
          </a:xfrm>
          <a:prstGeom prst="rect">
            <a:avLst/>
          </a:prstGeom>
          <a:noFill/>
          <a:ln/>
        </p:spPr>
        <p:txBody>
          <a:bodyPr wrap="square" rtlCol="0" anchor="ctr"/>
          <a:lstStyle/>
          <a:p>
            <a:pPr indent="0" marL="0">
              <a:buNone/>
            </a:pPr>
            <a:r>
              <a:rPr lang="en-US" sz="1100" dirty="0">
                <a:solidFill>
                  <a:srgbClr val="334155"/>
                </a:solidFill>
              </a:rPr>
              <a:t>키 존재 여부</a:t>
            </a:r>
            <a:endParaRPr lang="en-US" sz="1100" dirty="0"/>
          </a:p>
        </p:txBody>
      </p:sp>
      <p:sp>
        <p:nvSpPr>
          <p:cNvPr id="38" name="Text 36"/>
          <p:cNvSpPr/>
          <p:nvPr/>
        </p:nvSpPr>
        <p:spPr>
          <a:xfrm>
            <a:off x="6492240" y="3429000"/>
            <a:ext cx="2103120" cy="457200"/>
          </a:xfrm>
          <a:prstGeom prst="rect">
            <a:avLst/>
          </a:prstGeom>
          <a:noFill/>
          <a:ln/>
        </p:spPr>
        <p:txBody>
          <a:bodyPr wrap="square" rtlCol="0" anchor="ctr"/>
          <a:lstStyle/>
          <a:p>
            <a:pPr indent="0" marL="0">
              <a:buNone/>
            </a:pPr>
            <a:r>
              <a:rPr lang="en-US" sz="1100" dirty="0">
                <a:solidFill>
                  <a:srgbClr val="64748B"/>
                </a:solidFill>
              </a:rPr>
              <a:t>태그 존재 확인</a:t>
            </a:r>
            <a:endParaRPr lang="en-US" sz="1100" dirty="0"/>
          </a:p>
        </p:txBody>
      </p:sp>
      <p:sp>
        <p:nvSpPr>
          <p:cNvPr id="39" name="Shape 37"/>
          <p:cNvSpPr/>
          <p:nvPr/>
        </p:nvSpPr>
        <p:spPr>
          <a:xfrm>
            <a:off x="457200" y="3886200"/>
            <a:ext cx="2743200" cy="457200"/>
          </a:xfrm>
          <a:prstGeom prst="rect">
            <a:avLst/>
          </a:prstGeom>
          <a:solidFill>
            <a:srgbClr val="FFFFFF"/>
          </a:solidFill>
          <a:ln/>
        </p:spPr>
      </p:sp>
      <p:sp>
        <p:nvSpPr>
          <p:cNvPr id="40" name="Shape 38"/>
          <p:cNvSpPr/>
          <p:nvPr/>
        </p:nvSpPr>
        <p:spPr>
          <a:xfrm>
            <a:off x="3200400" y="3886200"/>
            <a:ext cx="3200400" cy="457200"/>
          </a:xfrm>
          <a:prstGeom prst="rect">
            <a:avLst/>
          </a:prstGeom>
          <a:solidFill>
            <a:srgbClr val="FFFFFF"/>
          </a:solidFill>
          <a:ln/>
        </p:spPr>
      </p:sp>
      <p:sp>
        <p:nvSpPr>
          <p:cNvPr id="41" name="Shape 39"/>
          <p:cNvSpPr/>
          <p:nvPr/>
        </p:nvSpPr>
        <p:spPr>
          <a:xfrm>
            <a:off x="6400800" y="3886200"/>
            <a:ext cx="2286000" cy="457200"/>
          </a:xfrm>
          <a:prstGeom prst="rect">
            <a:avLst/>
          </a:prstGeom>
          <a:solidFill>
            <a:srgbClr val="FFFFFF"/>
          </a:solidFill>
          <a:ln/>
        </p:spPr>
      </p:sp>
      <p:sp>
        <p:nvSpPr>
          <p:cNvPr id="42" name="Text 40"/>
          <p:cNvSpPr/>
          <p:nvPr/>
        </p:nvSpPr>
        <p:spPr>
          <a:xfrm>
            <a:off x="548640" y="38862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ForAnyValue</a:t>
            </a:r>
            <a:endParaRPr lang="en-US" sz="1100" dirty="0"/>
          </a:p>
        </p:txBody>
      </p:sp>
      <p:sp>
        <p:nvSpPr>
          <p:cNvPr id="43" name="Text 41"/>
          <p:cNvSpPr/>
          <p:nvPr/>
        </p:nvSpPr>
        <p:spPr>
          <a:xfrm>
            <a:off x="3291840" y="3886200"/>
            <a:ext cx="3017520" cy="457200"/>
          </a:xfrm>
          <a:prstGeom prst="rect">
            <a:avLst/>
          </a:prstGeom>
          <a:noFill/>
          <a:ln/>
        </p:spPr>
        <p:txBody>
          <a:bodyPr wrap="square" rtlCol="0" anchor="ctr"/>
          <a:lstStyle/>
          <a:p>
            <a:pPr indent="0" marL="0">
              <a:buNone/>
            </a:pPr>
            <a:r>
              <a:rPr lang="en-US" sz="1100" dirty="0">
                <a:solidFill>
                  <a:srgbClr val="334155"/>
                </a:solidFill>
              </a:rPr>
              <a:t>배열 중 하나 일치</a:t>
            </a:r>
            <a:endParaRPr lang="en-US" sz="1100" dirty="0"/>
          </a:p>
        </p:txBody>
      </p:sp>
      <p:sp>
        <p:nvSpPr>
          <p:cNvPr id="44" name="Text 42"/>
          <p:cNvSpPr/>
          <p:nvPr/>
        </p:nvSpPr>
        <p:spPr>
          <a:xfrm>
            <a:off x="6492240" y="3886200"/>
            <a:ext cx="2103120" cy="457200"/>
          </a:xfrm>
          <a:prstGeom prst="rect">
            <a:avLst/>
          </a:prstGeom>
          <a:noFill/>
          <a:ln/>
        </p:spPr>
        <p:txBody>
          <a:bodyPr wrap="square" rtlCol="0" anchor="ctr"/>
          <a:lstStyle/>
          <a:p>
            <a:pPr indent="0" marL="0">
              <a:buNone/>
            </a:pPr>
            <a:r>
              <a:rPr lang="en-US" sz="1100" dirty="0">
                <a:solidFill>
                  <a:srgbClr val="64748B"/>
                </a:solidFill>
              </a:rPr>
              <a:t>여러 태그 키</a:t>
            </a:r>
            <a:endParaRPr lang="en-US" sz="1100" dirty="0"/>
          </a:p>
        </p:txBody>
      </p:sp>
      <p:sp>
        <p:nvSpPr>
          <p:cNvPr id="45" name="Shape 43"/>
          <p:cNvSpPr/>
          <p:nvPr/>
        </p:nvSpPr>
        <p:spPr>
          <a:xfrm>
            <a:off x="457200" y="4343400"/>
            <a:ext cx="2743200" cy="457200"/>
          </a:xfrm>
          <a:prstGeom prst="rect">
            <a:avLst/>
          </a:prstGeom>
          <a:solidFill>
            <a:srgbClr val="F1F5F9"/>
          </a:solidFill>
          <a:ln/>
        </p:spPr>
      </p:sp>
      <p:sp>
        <p:nvSpPr>
          <p:cNvPr id="46" name="Shape 44"/>
          <p:cNvSpPr/>
          <p:nvPr/>
        </p:nvSpPr>
        <p:spPr>
          <a:xfrm>
            <a:off x="3200400" y="4343400"/>
            <a:ext cx="3200400" cy="457200"/>
          </a:xfrm>
          <a:prstGeom prst="rect">
            <a:avLst/>
          </a:prstGeom>
          <a:solidFill>
            <a:srgbClr val="F1F5F9"/>
          </a:solidFill>
          <a:ln/>
        </p:spPr>
      </p:sp>
      <p:sp>
        <p:nvSpPr>
          <p:cNvPr id="47" name="Shape 45"/>
          <p:cNvSpPr/>
          <p:nvPr/>
        </p:nvSpPr>
        <p:spPr>
          <a:xfrm>
            <a:off x="6400800" y="4343400"/>
            <a:ext cx="2286000" cy="457200"/>
          </a:xfrm>
          <a:prstGeom prst="rect">
            <a:avLst/>
          </a:prstGeom>
          <a:solidFill>
            <a:srgbClr val="F1F5F9"/>
          </a:solidFill>
          <a:ln/>
        </p:spPr>
      </p:sp>
      <p:sp>
        <p:nvSpPr>
          <p:cNvPr id="48" name="Text 46"/>
          <p:cNvSpPr/>
          <p:nvPr/>
        </p:nvSpPr>
        <p:spPr>
          <a:xfrm>
            <a:off x="548640" y="4343400"/>
            <a:ext cx="2560320" cy="457200"/>
          </a:xfrm>
          <a:prstGeom prst="rect">
            <a:avLst/>
          </a:prstGeom>
          <a:noFill/>
          <a:ln/>
        </p:spPr>
        <p:txBody>
          <a:bodyPr wrap="square" rtlCol="0" anchor="ctr"/>
          <a:lstStyle/>
          <a:p>
            <a:pPr indent="0" marL="0">
              <a:buNone/>
            </a:pPr>
            <a:r>
              <a:rPr lang="en-US" sz="1100" b="1" dirty="0">
                <a:solidFill>
                  <a:srgbClr val="2563EB"/>
                </a:solidFill>
                <a:latin typeface="Courier New" pitchFamily="34" charset="0"/>
                <a:ea typeface="Courier New" pitchFamily="34" charset="-122"/>
                <a:cs typeface="Courier New" pitchFamily="34" charset="-120"/>
              </a:rPr>
              <a:t>ForAllValues</a:t>
            </a:r>
            <a:endParaRPr lang="en-US" sz="1100" dirty="0"/>
          </a:p>
        </p:txBody>
      </p:sp>
      <p:sp>
        <p:nvSpPr>
          <p:cNvPr id="49" name="Text 47"/>
          <p:cNvSpPr/>
          <p:nvPr/>
        </p:nvSpPr>
        <p:spPr>
          <a:xfrm>
            <a:off x="3291840" y="4343400"/>
            <a:ext cx="3017520" cy="457200"/>
          </a:xfrm>
          <a:prstGeom prst="rect">
            <a:avLst/>
          </a:prstGeom>
          <a:noFill/>
          <a:ln/>
        </p:spPr>
        <p:txBody>
          <a:bodyPr wrap="square" rtlCol="0" anchor="ctr"/>
          <a:lstStyle/>
          <a:p>
            <a:pPr indent="0" marL="0">
              <a:buNone/>
            </a:pPr>
            <a:r>
              <a:rPr lang="en-US" sz="1100" dirty="0">
                <a:solidFill>
                  <a:srgbClr val="334155"/>
                </a:solidFill>
              </a:rPr>
              <a:t>배열 모두 일치</a:t>
            </a:r>
            <a:endParaRPr lang="en-US" sz="1100" dirty="0"/>
          </a:p>
        </p:txBody>
      </p:sp>
      <p:sp>
        <p:nvSpPr>
          <p:cNvPr id="50" name="Text 48"/>
          <p:cNvSpPr/>
          <p:nvPr/>
        </p:nvSpPr>
        <p:spPr>
          <a:xfrm>
            <a:off x="6492240" y="4343400"/>
            <a:ext cx="2103120" cy="457200"/>
          </a:xfrm>
          <a:prstGeom prst="rect">
            <a:avLst/>
          </a:prstGeom>
          <a:noFill/>
          <a:ln/>
        </p:spPr>
        <p:txBody>
          <a:bodyPr wrap="square" rtlCol="0" anchor="ctr"/>
          <a:lstStyle/>
          <a:p>
            <a:pPr indent="0" marL="0">
              <a:buNone/>
            </a:pPr>
            <a:r>
              <a:rPr lang="en-US" sz="1100" dirty="0">
                <a:solidFill>
                  <a:srgbClr val="64748B"/>
                </a:solidFill>
              </a:rPr>
              <a:t>모든 조건 만족</a:t>
            </a:r>
            <a:endParaRPr lang="en-US" sz="1100" dirty="0"/>
          </a:p>
        </p:txBody>
      </p:sp>
      <p:sp>
        <p:nvSpPr>
          <p:cNvPr id="51" name="Text 49"/>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StringEquals vs StringLike</a:t>
            </a:r>
            <a:endParaRPr lang="en-US" sz="3200" dirty="0"/>
          </a:p>
        </p:txBody>
      </p:sp>
      <p:sp>
        <p:nvSpPr>
          <p:cNvPr id="3" name="Shape 1"/>
          <p:cNvSpPr/>
          <p:nvPr/>
        </p:nvSpPr>
        <p:spPr>
          <a:xfrm>
            <a:off x="457200" y="1234440"/>
            <a:ext cx="3931920" cy="1645920"/>
          </a:xfrm>
          <a:prstGeom prst="roundRect">
            <a:avLst/>
          </a:prstGeom>
          <a:solidFill>
            <a:srgbClr val="DBEAFE"/>
          </a:solidFill>
          <a:ln/>
        </p:spPr>
      </p:sp>
      <p:sp>
        <p:nvSpPr>
          <p:cNvPr id="4" name="Text 2"/>
          <p:cNvSpPr/>
          <p:nvPr/>
        </p:nvSpPr>
        <p:spPr>
          <a:xfrm>
            <a:off x="640080" y="1371600"/>
            <a:ext cx="3566160" cy="365760"/>
          </a:xfrm>
          <a:prstGeom prst="rect">
            <a:avLst/>
          </a:prstGeom>
          <a:noFill/>
          <a:ln/>
        </p:spPr>
        <p:txBody>
          <a:bodyPr wrap="square" rtlCol="0" anchor="ctr"/>
          <a:lstStyle/>
          <a:p>
            <a:pPr indent="0" marL="0">
              <a:buNone/>
            </a:pPr>
            <a:r>
              <a:rPr lang="en-US" sz="1600" b="1" dirty="0">
                <a:solidFill>
                  <a:srgbClr val="2563EB"/>
                </a:solidFill>
              </a:rPr>
              <a:t>StringEquals</a:t>
            </a:r>
            <a:endParaRPr lang="en-US" sz="1600" dirty="0"/>
          </a:p>
        </p:txBody>
      </p:sp>
      <p:sp>
        <p:nvSpPr>
          <p:cNvPr id="5" name="Text 3"/>
          <p:cNvSpPr/>
          <p:nvPr/>
        </p:nvSpPr>
        <p:spPr>
          <a:xfrm>
            <a:off x="640080" y="1783080"/>
            <a:ext cx="3566160" cy="1005840"/>
          </a:xfrm>
          <a:prstGeom prst="rect">
            <a:avLst/>
          </a:prstGeom>
          <a:noFill/>
          <a:ln/>
        </p:spPr>
        <p:txBody>
          <a:bodyPr wrap="square" rtlCol="0" anchor="ctr"/>
          <a:lstStyle/>
          <a:p>
            <a:pPr indent="0" marL="0">
              <a:buNone/>
            </a:pPr>
            <a:r>
              <a:rPr lang="en-US" sz="1200" dirty="0">
                <a:solidFill>
                  <a:srgbClr val="334155"/>
                </a:solidFill>
              </a:rPr>
              <a:t>정확히 일치해야 함</a:t>
            </a:r>
            <a:endParaRPr lang="en-US" sz="1200" dirty="0"/>
          </a:p>
          <a:p>
            <a:pPr indent="0" marL="0">
              <a:buNone/>
            </a:pPr>
            <a:r>
              <a:rPr lang="en-US" sz="1200" dirty="0">
                <a:solidFill>
                  <a:srgbClr val="334155"/>
                </a:solidFill>
              </a:rPr>
              <a:t>와일드카드 미지원</a:t>
            </a:r>
            <a:endParaRPr lang="en-US" sz="1200" dirty="0"/>
          </a:p>
          <a:p>
            <a:pPr indent="0" marL="0">
              <a:buNone/>
            </a:pPr>
            <a:endParaRPr lang="en-US" sz="1200" dirty="0"/>
          </a:p>
          <a:p>
            <a:pPr indent="0" marL="0">
              <a:buNone/>
            </a:pPr>
            <a:r>
              <a:rPr lang="en-US" sz="1200" dirty="0">
                <a:solidFill>
                  <a:srgbClr val="334155"/>
                </a:solidFill>
              </a:rPr>
              <a:t>"t3.micro" → t3.micro만 매칭</a:t>
            </a:r>
            <a:endParaRPr lang="en-US" sz="1200" dirty="0"/>
          </a:p>
        </p:txBody>
      </p:sp>
      <p:sp>
        <p:nvSpPr>
          <p:cNvPr id="6" name="Shape 4"/>
          <p:cNvSpPr/>
          <p:nvPr/>
        </p:nvSpPr>
        <p:spPr>
          <a:xfrm>
            <a:off x="4754880" y="1234440"/>
            <a:ext cx="3931920" cy="1645920"/>
          </a:xfrm>
          <a:prstGeom prst="roundRect">
            <a:avLst/>
          </a:prstGeom>
          <a:solidFill>
            <a:srgbClr val="D1FAE5"/>
          </a:solidFill>
          <a:ln/>
        </p:spPr>
      </p:sp>
      <p:sp>
        <p:nvSpPr>
          <p:cNvPr id="7" name="Text 5"/>
          <p:cNvSpPr/>
          <p:nvPr/>
        </p:nvSpPr>
        <p:spPr>
          <a:xfrm>
            <a:off x="4937760" y="1371600"/>
            <a:ext cx="3566160" cy="365760"/>
          </a:xfrm>
          <a:prstGeom prst="rect">
            <a:avLst/>
          </a:prstGeom>
          <a:noFill/>
          <a:ln/>
        </p:spPr>
        <p:txBody>
          <a:bodyPr wrap="square" rtlCol="0" anchor="ctr"/>
          <a:lstStyle/>
          <a:p>
            <a:pPr indent="0" marL="0">
              <a:buNone/>
            </a:pPr>
            <a:r>
              <a:rPr lang="en-US" sz="1600" b="1" dirty="0">
                <a:solidFill>
                  <a:srgbClr val="22C55E"/>
                </a:solidFill>
              </a:rPr>
              <a:t>StringLike</a:t>
            </a:r>
            <a:endParaRPr lang="en-US" sz="1600" dirty="0"/>
          </a:p>
        </p:txBody>
      </p:sp>
      <p:sp>
        <p:nvSpPr>
          <p:cNvPr id="8" name="Text 6"/>
          <p:cNvSpPr/>
          <p:nvPr/>
        </p:nvSpPr>
        <p:spPr>
          <a:xfrm>
            <a:off x="4937760" y="1783080"/>
            <a:ext cx="3566160" cy="1005840"/>
          </a:xfrm>
          <a:prstGeom prst="rect">
            <a:avLst/>
          </a:prstGeom>
          <a:noFill/>
          <a:ln/>
        </p:spPr>
        <p:txBody>
          <a:bodyPr wrap="square" rtlCol="0" anchor="ctr"/>
          <a:lstStyle/>
          <a:p>
            <a:pPr indent="0" marL="0">
              <a:buNone/>
            </a:pPr>
            <a:r>
              <a:rPr lang="en-US" sz="1200" dirty="0">
                <a:solidFill>
                  <a:srgbClr val="334155"/>
                </a:solidFill>
              </a:rPr>
              <a:t>패턴 매칭 지원</a:t>
            </a:r>
            <a:endParaRPr lang="en-US" sz="1200" dirty="0"/>
          </a:p>
          <a:p>
            <a:pPr indent="0" marL="0">
              <a:buNone/>
            </a:pPr>
            <a:r>
              <a:rPr lang="en-US" sz="1200" dirty="0">
                <a:solidFill>
                  <a:srgbClr val="334155"/>
                </a:solidFill>
              </a:rPr>
              <a:t>* (0개 이상), ? (1개)</a:t>
            </a:r>
            <a:endParaRPr lang="en-US" sz="1200" dirty="0"/>
          </a:p>
          <a:p>
            <a:pPr indent="0" marL="0">
              <a:buNone/>
            </a:pPr>
            <a:endParaRPr lang="en-US" sz="1200" dirty="0"/>
          </a:p>
          <a:p>
            <a:pPr indent="0" marL="0">
              <a:buNone/>
            </a:pPr>
            <a:r>
              <a:rPr lang="en-US" sz="1200" dirty="0">
                <a:solidFill>
                  <a:srgbClr val="334155"/>
                </a:solidFill>
              </a:rPr>
              <a:t>"t3.*" → t3.micro, t3.small 등</a:t>
            </a:r>
            <a:endParaRPr lang="en-US" sz="1200" dirty="0"/>
          </a:p>
        </p:txBody>
      </p:sp>
      <p:sp>
        <p:nvSpPr>
          <p:cNvPr id="9" name="Shape 7"/>
          <p:cNvSpPr/>
          <p:nvPr/>
        </p:nvSpPr>
        <p:spPr>
          <a:xfrm>
            <a:off x="457200" y="3017520"/>
            <a:ext cx="8229600" cy="1463040"/>
          </a:xfrm>
          <a:prstGeom prst="roundRect">
            <a:avLst/>
          </a:prstGeom>
          <a:solidFill>
            <a:srgbClr val="F1F5F9"/>
          </a:solidFill>
          <a:ln/>
        </p:spPr>
      </p:sp>
      <p:sp>
        <p:nvSpPr>
          <p:cNvPr id="10" name="Text 8"/>
          <p:cNvSpPr/>
          <p:nvPr/>
        </p:nvSpPr>
        <p:spPr>
          <a:xfrm>
            <a:off x="640080" y="3154680"/>
            <a:ext cx="7863840" cy="118872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 StringEquals - 정확히 "t3.micro"만 매칭</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"StringEquals": { "ec2:InstanceType": "t3.micro" }</a:t>
            </a:r>
            <a:endParaRPr lang="en-US" sz="1100" dirty="0"/>
          </a:p>
          <a:p>
            <a:pPr indent="0" marL="0">
              <a:buNone/>
            </a:pP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StringLike - t3로 시작하는 모든 타입 매칭</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"StringLike": { "ec2:InstanceType": "t3.*" }</a:t>
            </a:r>
            <a:endParaRPr lang="en-US" sz="1100" dirty="0"/>
          </a:p>
        </p:txBody>
      </p:sp>
      <p:sp>
        <p:nvSpPr>
          <p:cNvPr id="11" name="Text 9"/>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조건키의 종류</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Global vs Service-specific Condition Keys</a:t>
            </a:r>
            <a:endParaRPr lang="en-US" sz="1400" dirty="0"/>
          </a:p>
        </p:txBody>
      </p:sp>
      <p:sp>
        <p:nvSpPr>
          <p:cNvPr id="4" name="Shape 2"/>
          <p:cNvSpPr/>
          <p:nvPr/>
        </p:nvSpPr>
        <p:spPr>
          <a:xfrm>
            <a:off x="457200" y="1234440"/>
            <a:ext cx="3931920" cy="3017520"/>
          </a:xfrm>
          <a:prstGeom prst="roundRect">
            <a:avLst/>
          </a:prstGeom>
          <a:solidFill>
            <a:srgbClr val="DBEAFE"/>
          </a:solidFill>
          <a:ln/>
        </p:spPr>
      </p:sp>
      <p:sp>
        <p:nvSpPr>
          <p:cNvPr id="5" name="Text 3"/>
          <p:cNvSpPr/>
          <p:nvPr/>
        </p:nvSpPr>
        <p:spPr>
          <a:xfrm>
            <a:off x="640080" y="1371600"/>
            <a:ext cx="3566160" cy="365760"/>
          </a:xfrm>
          <a:prstGeom prst="rect">
            <a:avLst/>
          </a:prstGeom>
          <a:noFill/>
          <a:ln/>
        </p:spPr>
        <p:txBody>
          <a:bodyPr wrap="square" rtlCol="0" anchor="ctr"/>
          <a:lstStyle/>
          <a:p>
            <a:pPr indent="0" marL="0">
              <a:buNone/>
            </a:pPr>
            <a:r>
              <a:rPr lang="en-US" sz="1400" b="1" dirty="0">
                <a:solidFill>
                  <a:srgbClr val="2563EB"/>
                </a:solidFill>
              </a:rPr>
              <a:t>🌐 Global Condition Keys</a:t>
            </a:r>
            <a:endParaRPr lang="en-US" sz="1400" dirty="0"/>
          </a:p>
        </p:txBody>
      </p:sp>
      <p:sp>
        <p:nvSpPr>
          <p:cNvPr id="6" name="Text 4"/>
          <p:cNvSpPr/>
          <p:nvPr/>
        </p:nvSpPr>
        <p:spPr>
          <a:xfrm>
            <a:off x="640080" y="1737360"/>
            <a:ext cx="3566160" cy="457200"/>
          </a:xfrm>
          <a:prstGeom prst="rect">
            <a:avLst/>
          </a:prstGeom>
          <a:noFill/>
          <a:ln/>
        </p:spPr>
        <p:txBody>
          <a:bodyPr wrap="square" rtlCol="0" anchor="ctr"/>
          <a:lstStyle/>
          <a:p>
            <a:pPr indent="0" marL="0">
              <a:buNone/>
            </a:pPr>
            <a:r>
              <a:rPr lang="en-US" sz="1100" dirty="0">
                <a:solidFill>
                  <a:srgbClr val="64748B"/>
                </a:solidFill>
              </a:rPr>
              <a:t>모든 AWS 서비스에서 사용 가능</a:t>
            </a:r>
            <a:endParaRPr lang="en-US" sz="1100" dirty="0"/>
          </a:p>
          <a:p>
            <a:pPr indent="0" marL="0">
              <a:buNone/>
            </a:pPr>
            <a:r>
              <a:rPr lang="en-US" sz="1100" dirty="0">
                <a:solidFill>
                  <a:srgbClr val="64748B"/>
                </a:solidFill>
              </a:rPr>
              <a:t>aws: 접두사</a:t>
            </a:r>
            <a:endParaRPr lang="en-US" sz="1100" dirty="0"/>
          </a:p>
        </p:txBody>
      </p:sp>
      <p:sp>
        <p:nvSpPr>
          <p:cNvPr id="7" name="Text 5"/>
          <p:cNvSpPr/>
          <p:nvPr/>
        </p:nvSpPr>
        <p:spPr>
          <a:xfrm>
            <a:off x="640080" y="2286000"/>
            <a:ext cx="3566160" cy="1828800"/>
          </a:xfrm>
          <a:prstGeom prst="rect">
            <a:avLst/>
          </a:prstGeom>
          <a:noFill/>
          <a:ln/>
        </p:spPr>
        <p:txBody>
          <a:bodyPr wrap="square" rtlCol="0" anchor="ctr"/>
          <a:lstStyle/>
          <a:p>
            <a:pPr indent="0" marL="0">
              <a:buNone/>
            </a:pPr>
            <a:r>
              <a:rPr lang="en-US" sz="1200" dirty="0">
                <a:solidFill>
                  <a:srgbClr val="334155"/>
                </a:solidFill>
              </a:rPr>
              <a:t>• aws:username</a:t>
            </a:r>
            <a:endParaRPr lang="en-US" sz="1200" dirty="0"/>
          </a:p>
          <a:p>
            <a:pPr indent="0" marL="0">
              <a:buNone/>
            </a:pPr>
            <a:r>
              <a:rPr lang="en-US" sz="1200" dirty="0">
                <a:solidFill>
                  <a:srgbClr val="334155"/>
                </a:solidFill>
              </a:rPr>
              <a:t>• aws:RequestedRegion</a:t>
            </a:r>
            <a:endParaRPr lang="en-US" sz="1200" dirty="0"/>
          </a:p>
          <a:p>
            <a:pPr indent="0" marL="0">
              <a:buNone/>
            </a:pPr>
            <a:r>
              <a:rPr lang="en-US" sz="1200" dirty="0">
                <a:solidFill>
                  <a:srgbClr val="334155"/>
                </a:solidFill>
              </a:rPr>
              <a:t>• aws:MultiFactorAuthPresent</a:t>
            </a:r>
            <a:endParaRPr lang="en-US" sz="1200" dirty="0"/>
          </a:p>
          <a:p>
            <a:pPr indent="0" marL="0">
              <a:buNone/>
            </a:pPr>
            <a:r>
              <a:rPr lang="en-US" sz="1200" dirty="0">
                <a:solidFill>
                  <a:srgbClr val="334155"/>
                </a:solidFill>
              </a:rPr>
              <a:t>• aws:ResourceTag/태그키</a:t>
            </a:r>
            <a:endParaRPr lang="en-US" sz="1200" dirty="0"/>
          </a:p>
          <a:p>
            <a:pPr indent="0" marL="0">
              <a:buNone/>
            </a:pPr>
            <a:r>
              <a:rPr lang="en-US" sz="1200" dirty="0">
                <a:solidFill>
                  <a:srgbClr val="334155"/>
                </a:solidFill>
              </a:rPr>
              <a:t>• aws:RequestTag/태그키</a:t>
            </a:r>
            <a:endParaRPr lang="en-US" sz="1200" dirty="0"/>
          </a:p>
          <a:p>
            <a:pPr indent="0" marL="0">
              <a:buNone/>
            </a:pPr>
            <a:r>
              <a:rPr lang="en-US" sz="1200" dirty="0">
                <a:solidFill>
                  <a:srgbClr val="334155"/>
                </a:solidFill>
              </a:rPr>
              <a:t>• aws:SourceIp</a:t>
            </a:r>
            <a:endParaRPr lang="en-US" sz="1200" dirty="0"/>
          </a:p>
        </p:txBody>
      </p:sp>
      <p:sp>
        <p:nvSpPr>
          <p:cNvPr id="8" name="Shape 6"/>
          <p:cNvSpPr/>
          <p:nvPr/>
        </p:nvSpPr>
        <p:spPr>
          <a:xfrm>
            <a:off x="4754880" y="1234440"/>
            <a:ext cx="3931920" cy="3017520"/>
          </a:xfrm>
          <a:prstGeom prst="roundRect">
            <a:avLst/>
          </a:prstGeom>
          <a:solidFill>
            <a:srgbClr val="FEF3C7"/>
          </a:solidFill>
          <a:ln/>
        </p:spPr>
      </p:sp>
      <p:sp>
        <p:nvSpPr>
          <p:cNvPr id="9" name="Text 7"/>
          <p:cNvSpPr/>
          <p:nvPr/>
        </p:nvSpPr>
        <p:spPr>
          <a:xfrm>
            <a:off x="4937760" y="1371600"/>
            <a:ext cx="3566160" cy="365760"/>
          </a:xfrm>
          <a:prstGeom prst="rect">
            <a:avLst/>
          </a:prstGeom>
          <a:noFill/>
          <a:ln/>
        </p:spPr>
        <p:txBody>
          <a:bodyPr wrap="square" rtlCol="0" anchor="ctr"/>
          <a:lstStyle/>
          <a:p>
            <a:pPr indent="0" marL="0">
              <a:buNone/>
            </a:pPr>
            <a:r>
              <a:rPr lang="en-US" sz="1400" b="1" dirty="0">
                <a:solidFill>
                  <a:srgbClr val="92400E"/>
                </a:solidFill>
              </a:rPr>
              <a:t>⚙️ Service-specific Keys</a:t>
            </a:r>
            <a:endParaRPr lang="en-US" sz="1400" dirty="0"/>
          </a:p>
        </p:txBody>
      </p:sp>
      <p:sp>
        <p:nvSpPr>
          <p:cNvPr id="10" name="Text 8"/>
          <p:cNvSpPr/>
          <p:nvPr/>
        </p:nvSpPr>
        <p:spPr>
          <a:xfrm>
            <a:off x="4937760" y="1737360"/>
            <a:ext cx="3566160" cy="457200"/>
          </a:xfrm>
          <a:prstGeom prst="rect">
            <a:avLst/>
          </a:prstGeom>
          <a:noFill/>
          <a:ln/>
        </p:spPr>
        <p:txBody>
          <a:bodyPr wrap="square" rtlCol="0" anchor="ctr"/>
          <a:lstStyle/>
          <a:p>
            <a:pPr indent="0" marL="0">
              <a:buNone/>
            </a:pPr>
            <a:r>
              <a:rPr lang="en-US" sz="1100" dirty="0">
                <a:solidFill>
                  <a:srgbClr val="64748B"/>
                </a:solidFill>
              </a:rPr>
              <a:t>특정 서비스에서만 사용 가능</a:t>
            </a:r>
            <a:endParaRPr lang="en-US" sz="1100" dirty="0"/>
          </a:p>
          <a:p>
            <a:pPr indent="0" marL="0">
              <a:buNone/>
            </a:pPr>
            <a:r>
              <a:rPr lang="en-US" sz="1100" dirty="0">
                <a:solidFill>
                  <a:srgbClr val="64748B"/>
                </a:solidFill>
              </a:rPr>
              <a:t>Action마다 지원 여부 다름!</a:t>
            </a:r>
            <a:endParaRPr lang="en-US" sz="1100" dirty="0"/>
          </a:p>
        </p:txBody>
      </p:sp>
      <p:sp>
        <p:nvSpPr>
          <p:cNvPr id="11" name="Text 9"/>
          <p:cNvSpPr/>
          <p:nvPr/>
        </p:nvSpPr>
        <p:spPr>
          <a:xfrm>
            <a:off x="4937760" y="2286000"/>
            <a:ext cx="3566160" cy="1828800"/>
          </a:xfrm>
          <a:prstGeom prst="rect">
            <a:avLst/>
          </a:prstGeom>
          <a:noFill/>
          <a:ln/>
        </p:spPr>
        <p:txBody>
          <a:bodyPr wrap="square" rtlCol="0" anchor="ctr"/>
          <a:lstStyle/>
          <a:p>
            <a:pPr indent="0" marL="0">
              <a:buNone/>
            </a:pPr>
            <a:r>
              <a:rPr lang="en-US" sz="1200" dirty="0">
                <a:solidFill>
                  <a:srgbClr val="334155"/>
                </a:solidFill>
              </a:rPr>
              <a:t>• ec2:InstanceType</a:t>
            </a:r>
            <a:endParaRPr lang="en-US" sz="1200" dirty="0"/>
          </a:p>
          <a:p>
            <a:pPr indent="0" marL="0">
              <a:buNone/>
            </a:pPr>
            <a:r>
              <a:rPr lang="en-US" sz="1200" dirty="0">
                <a:solidFill>
                  <a:srgbClr val="334155"/>
                </a:solidFill>
              </a:rPr>
              <a:t>• rds:DatabaseEngine</a:t>
            </a:r>
            <a:endParaRPr lang="en-US" sz="1200" dirty="0"/>
          </a:p>
          <a:p>
            <a:pPr indent="0" marL="0">
              <a:buNone/>
            </a:pPr>
            <a:r>
              <a:rPr lang="en-US" sz="1200" dirty="0">
                <a:solidFill>
                  <a:srgbClr val="334155"/>
                </a:solidFill>
              </a:rPr>
              <a:t>• rds:DatabaseClass</a:t>
            </a:r>
            <a:endParaRPr lang="en-US" sz="1200" dirty="0"/>
          </a:p>
          <a:p>
            <a:pPr indent="0" marL="0">
              <a:buNone/>
            </a:pPr>
            <a:r>
              <a:rPr lang="en-US" sz="1200" dirty="0">
                <a:solidFill>
                  <a:srgbClr val="334155"/>
                </a:solidFill>
              </a:rPr>
              <a:t>• iam:PassedToService</a:t>
            </a:r>
            <a:endParaRPr lang="en-US" sz="1200" dirty="0"/>
          </a:p>
          <a:p>
            <a:pPr indent="0" marL="0">
              <a:buNone/>
            </a:pPr>
            <a:r>
              <a:rPr lang="en-US" sz="1200" dirty="0">
                <a:solidFill>
                  <a:srgbClr val="334155"/>
                </a:solidFill>
              </a:rPr>
              <a:t>• s3:prefix</a:t>
            </a:r>
            <a:endParaRPr lang="en-US" sz="1200" dirty="0"/>
          </a:p>
          <a:p>
            <a:pPr indent="0" marL="0">
              <a:buNone/>
            </a:pPr>
            <a:r>
              <a:rPr lang="en-US" sz="1200" dirty="0">
                <a:solidFill>
                  <a:srgbClr val="334155"/>
                </a:solidFill>
              </a:rPr>
              <a:t>• lambda:FunctionArn</a:t>
            </a:r>
            <a:endParaRPr lang="en-US" sz="1200" dirty="0"/>
          </a:p>
        </p:txBody>
      </p:sp>
      <p:sp>
        <p:nvSpPr>
          <p:cNvPr id="12" name="Shape 10"/>
          <p:cNvSpPr/>
          <p:nvPr/>
        </p:nvSpPr>
        <p:spPr>
          <a:xfrm>
            <a:off x="457200" y="4343400"/>
            <a:ext cx="8229600" cy="502920"/>
          </a:xfrm>
          <a:prstGeom prst="roundRect">
            <a:avLst/>
          </a:prstGeom>
          <a:solidFill>
            <a:srgbClr val="FEE2E2"/>
          </a:solidFill>
          <a:ln/>
        </p:spPr>
      </p:sp>
      <p:sp>
        <p:nvSpPr>
          <p:cNvPr id="13" name="Text 11"/>
          <p:cNvSpPr/>
          <p:nvPr/>
        </p:nvSpPr>
        <p:spPr>
          <a:xfrm>
            <a:off x="640080" y="4434840"/>
            <a:ext cx="7863840" cy="320040"/>
          </a:xfrm>
          <a:prstGeom prst="rect">
            <a:avLst/>
          </a:prstGeom>
          <a:noFill/>
          <a:ln/>
        </p:spPr>
        <p:txBody>
          <a:bodyPr wrap="square" rtlCol="0" anchor="ctr"/>
          <a:lstStyle/>
          <a:p>
            <a:pPr indent="0" marL="0">
              <a:buNone/>
            </a:pPr>
            <a:r>
              <a:rPr lang="en-US" sz="1200" b="1" dirty="0">
                <a:solidFill>
                  <a:srgbClr val="EF4444"/>
                </a:solidFill>
              </a:rPr>
              <a:t>⚠️ 서비스별 조건키는 AWS 공식 문서에서 Action별 지원 여부 반드시 확인!</a:t>
            </a:r>
            <a:endParaRPr lang="en-US" sz="1200" dirty="0"/>
          </a:p>
        </p:txBody>
      </p:sp>
      <p:sp>
        <p:nvSpPr>
          <p:cNvPr id="14" name="Text 12"/>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리소스 속성 vs 요청 속성 조건키</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"현재 상태"를 제어할지, "변경하려는 값"을 제어할지 구분 필수!</a:t>
            </a:r>
            <a:endParaRPr lang="en-US" sz="1400" dirty="0"/>
          </a:p>
        </p:txBody>
      </p:sp>
      <p:sp>
        <p:nvSpPr>
          <p:cNvPr id="4" name="Shape 2"/>
          <p:cNvSpPr/>
          <p:nvPr/>
        </p:nvSpPr>
        <p:spPr>
          <a:xfrm>
            <a:off x="457200" y="1234440"/>
            <a:ext cx="3931920" cy="1371600"/>
          </a:xfrm>
          <a:prstGeom prst="roundRect">
            <a:avLst/>
          </a:prstGeom>
          <a:solidFill>
            <a:srgbClr val="DBEAFE"/>
          </a:solidFill>
          <a:ln/>
        </p:spPr>
      </p:sp>
      <p:sp>
        <p:nvSpPr>
          <p:cNvPr id="5" name="Text 3"/>
          <p:cNvSpPr/>
          <p:nvPr/>
        </p:nvSpPr>
        <p:spPr>
          <a:xfrm>
            <a:off x="640080" y="1371600"/>
            <a:ext cx="3566160" cy="365760"/>
          </a:xfrm>
          <a:prstGeom prst="rect">
            <a:avLst/>
          </a:prstGeom>
          <a:noFill/>
          <a:ln/>
        </p:spPr>
        <p:txBody>
          <a:bodyPr wrap="square" rtlCol="0" anchor="ctr"/>
          <a:lstStyle/>
          <a:p>
            <a:pPr indent="0" marL="0">
              <a:buNone/>
            </a:pPr>
            <a:r>
              <a:rPr lang="en-US" sz="1400" b="1" dirty="0">
                <a:solidFill>
                  <a:srgbClr val="2563EB"/>
                </a:solidFill>
              </a:rPr>
              <a:t>📊 리소스 속성 조건키</a:t>
            </a:r>
            <a:endParaRPr lang="en-US" sz="1400" dirty="0"/>
          </a:p>
        </p:txBody>
      </p:sp>
      <p:sp>
        <p:nvSpPr>
          <p:cNvPr id="6" name="Text 4"/>
          <p:cNvSpPr/>
          <p:nvPr/>
        </p:nvSpPr>
        <p:spPr>
          <a:xfrm>
            <a:off x="640080" y="1737360"/>
            <a:ext cx="3566160" cy="822960"/>
          </a:xfrm>
          <a:prstGeom prst="rect">
            <a:avLst/>
          </a:prstGeom>
          <a:noFill/>
          <a:ln/>
        </p:spPr>
        <p:txBody>
          <a:bodyPr wrap="square" rtlCol="0" anchor="ctr"/>
          <a:lstStyle/>
          <a:p>
            <a:pPr indent="0" marL="0">
              <a:buNone/>
            </a:pPr>
            <a:r>
              <a:rPr lang="en-US" sz="1100" dirty="0">
                <a:solidFill>
                  <a:srgbClr val="334155"/>
                </a:solidFill>
              </a:rPr>
              <a:t>ec2:InstanceType</a:t>
            </a:r>
            <a:endParaRPr lang="en-US" sz="1100" dirty="0"/>
          </a:p>
          <a:p>
            <a:pPr indent="0" marL="0">
              <a:buNone/>
            </a:pPr>
            <a:endParaRPr lang="en-US" sz="1100" dirty="0"/>
          </a:p>
          <a:p>
            <a:pPr indent="0" marL="0">
              <a:buNone/>
            </a:pPr>
            <a:r>
              <a:rPr lang="en-US" sz="1100" dirty="0">
                <a:solidFill>
                  <a:srgbClr val="334155"/>
                </a:solidFill>
              </a:rPr>
              <a:t>인스턴스의 현재 타입 평가</a:t>
            </a:r>
            <a:endParaRPr lang="en-US" sz="1100" dirty="0"/>
          </a:p>
          <a:p>
            <a:pPr indent="0" marL="0">
              <a:buNone/>
            </a:pPr>
            <a:r>
              <a:rPr lang="en-US" sz="1100" dirty="0">
                <a:solidFill>
                  <a:srgbClr val="334155"/>
                </a:solidFill>
              </a:rPr>
              <a:t>RunInstances, StartInstances 등</a:t>
            </a:r>
            <a:endParaRPr lang="en-US" sz="1100" dirty="0"/>
          </a:p>
        </p:txBody>
      </p:sp>
      <p:sp>
        <p:nvSpPr>
          <p:cNvPr id="7" name="Shape 5"/>
          <p:cNvSpPr/>
          <p:nvPr/>
        </p:nvSpPr>
        <p:spPr>
          <a:xfrm>
            <a:off x="4754880" y="1234440"/>
            <a:ext cx="3931920" cy="1371600"/>
          </a:xfrm>
          <a:prstGeom prst="roundRect">
            <a:avLst/>
          </a:prstGeom>
          <a:solidFill>
            <a:srgbClr val="FEF3C7"/>
          </a:solidFill>
          <a:ln/>
        </p:spPr>
      </p:sp>
      <p:sp>
        <p:nvSpPr>
          <p:cNvPr id="8" name="Text 6"/>
          <p:cNvSpPr/>
          <p:nvPr/>
        </p:nvSpPr>
        <p:spPr>
          <a:xfrm>
            <a:off x="4937760" y="1371600"/>
            <a:ext cx="3566160" cy="365760"/>
          </a:xfrm>
          <a:prstGeom prst="rect">
            <a:avLst/>
          </a:prstGeom>
          <a:noFill/>
          <a:ln/>
        </p:spPr>
        <p:txBody>
          <a:bodyPr wrap="square" rtlCol="0" anchor="ctr"/>
          <a:lstStyle/>
          <a:p>
            <a:pPr indent="0" marL="0">
              <a:buNone/>
            </a:pPr>
            <a:r>
              <a:rPr lang="en-US" sz="1400" b="1" dirty="0">
                <a:solidFill>
                  <a:srgbClr val="92400E"/>
                </a:solidFill>
              </a:rPr>
              <a:t>📝 요청 속성 조건키</a:t>
            </a:r>
            <a:endParaRPr lang="en-US" sz="1400" dirty="0"/>
          </a:p>
        </p:txBody>
      </p:sp>
      <p:sp>
        <p:nvSpPr>
          <p:cNvPr id="9" name="Text 7"/>
          <p:cNvSpPr/>
          <p:nvPr/>
        </p:nvSpPr>
        <p:spPr>
          <a:xfrm>
            <a:off x="4937760" y="1737360"/>
            <a:ext cx="3566160" cy="822960"/>
          </a:xfrm>
          <a:prstGeom prst="rect">
            <a:avLst/>
          </a:prstGeom>
          <a:noFill/>
          <a:ln/>
        </p:spPr>
        <p:txBody>
          <a:bodyPr wrap="square" rtlCol="0" anchor="ctr"/>
          <a:lstStyle/>
          <a:p>
            <a:pPr indent="0" marL="0">
              <a:buNone/>
            </a:pPr>
            <a:r>
              <a:rPr lang="en-US" sz="1100" dirty="0">
                <a:solidFill>
                  <a:srgbClr val="334155"/>
                </a:solidFill>
              </a:rPr>
              <a:t>ec2:Attribute/InstanceType</a:t>
            </a:r>
            <a:endParaRPr lang="en-US" sz="1100" dirty="0"/>
          </a:p>
          <a:p>
            <a:pPr indent="0" marL="0">
              <a:buNone/>
            </a:pPr>
            <a:endParaRPr lang="en-US" sz="1100" dirty="0"/>
          </a:p>
          <a:p>
            <a:pPr indent="0" marL="0">
              <a:buNone/>
            </a:pPr>
            <a:r>
              <a:rPr lang="en-US" sz="1100" dirty="0">
                <a:solidFill>
                  <a:srgbClr val="334155"/>
                </a:solidFill>
              </a:rPr>
              <a:t>변경하려는 타입 값 평가</a:t>
            </a:r>
            <a:endParaRPr lang="en-US" sz="1100" dirty="0"/>
          </a:p>
          <a:p>
            <a:pPr indent="0" marL="0">
              <a:buNone/>
            </a:pPr>
            <a:r>
              <a:rPr lang="en-US" sz="1100" dirty="0">
                <a:solidFill>
                  <a:srgbClr val="334155"/>
                </a:solidFill>
              </a:rPr>
              <a:t>ModifyInstanceAttribute</a:t>
            </a:r>
            <a:endParaRPr lang="en-US" sz="1100" dirty="0"/>
          </a:p>
        </p:txBody>
      </p:sp>
      <p:sp>
        <p:nvSpPr>
          <p:cNvPr id="10" name="Shape 8"/>
          <p:cNvSpPr/>
          <p:nvPr/>
        </p:nvSpPr>
        <p:spPr>
          <a:xfrm>
            <a:off x="457200" y="2743200"/>
            <a:ext cx="8229600" cy="1828800"/>
          </a:xfrm>
          <a:prstGeom prst="roundRect">
            <a:avLst/>
          </a:prstGeom>
          <a:solidFill>
            <a:srgbClr val="FEE2E2"/>
          </a:solidFill>
          <a:ln/>
        </p:spPr>
      </p:sp>
      <p:sp>
        <p:nvSpPr>
          <p:cNvPr id="11" name="Text 9"/>
          <p:cNvSpPr/>
          <p:nvPr/>
        </p:nvSpPr>
        <p:spPr>
          <a:xfrm>
            <a:off x="640080" y="2834640"/>
            <a:ext cx="7863840" cy="320040"/>
          </a:xfrm>
          <a:prstGeom prst="rect">
            <a:avLst/>
          </a:prstGeom>
          <a:noFill/>
          <a:ln/>
        </p:spPr>
        <p:txBody>
          <a:bodyPr wrap="square" rtlCol="0" anchor="ctr"/>
          <a:lstStyle/>
          <a:p>
            <a:pPr indent="0" marL="0">
              <a:buNone/>
            </a:pPr>
            <a:r>
              <a:rPr lang="en-US" sz="1300" b="1" dirty="0">
                <a:solidFill>
                  <a:srgbClr val="EF4444"/>
                </a:solidFill>
              </a:rPr>
              <a:t>❌ 잘못된 정책 예시</a:t>
            </a:r>
            <a:endParaRPr lang="en-US" sz="1300" dirty="0"/>
          </a:p>
        </p:txBody>
      </p:sp>
      <p:sp>
        <p:nvSpPr>
          <p:cNvPr id="12" name="Text 10"/>
          <p:cNvSpPr/>
          <p:nvPr/>
        </p:nvSpPr>
        <p:spPr>
          <a:xfrm>
            <a:off x="640080" y="3200400"/>
            <a:ext cx="7863840" cy="128016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 ModifyInstanceAttribute에서 ec2:InstanceType 사용</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 현재 타입만 체크, 변경하려는 타입은 체크 안 함!</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"Condition": { "StringEquals": { "ec2:InstanceType": ["t3.micro"] } }</a:t>
            </a:r>
            <a:endParaRPr lang="en-US" sz="1000" dirty="0"/>
          </a:p>
          <a:p>
            <a:pPr indent="0" marL="0">
              <a:buNone/>
            </a:pP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올바른 방법: ec2:Attribute/InstanceType 사용</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"Condition": { "StringNotEquals": { "ec2:Attribute/InstanceType": [...] } }</a:t>
            </a:r>
            <a:endParaRPr lang="en-US" sz="1000" dirty="0"/>
          </a:p>
        </p:txBody>
      </p:sp>
      <p:sp>
        <p:nvSpPr>
          <p:cNvPr id="13" name="Text 11"/>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실전 패턴 1: 리전 제한</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서울 리전에서만 작업 허용 (글로벌 서비스 제외)</a:t>
            </a:r>
            <a:endParaRPr lang="en-US" sz="1400" dirty="0"/>
          </a:p>
        </p:txBody>
      </p:sp>
      <p:sp>
        <p:nvSpPr>
          <p:cNvPr id="4" name="Shape 2"/>
          <p:cNvSpPr/>
          <p:nvPr/>
        </p:nvSpPr>
        <p:spPr>
          <a:xfrm>
            <a:off x="457200" y="1234440"/>
            <a:ext cx="8229600" cy="2560320"/>
          </a:xfrm>
          <a:prstGeom prst="roundRect">
            <a:avLst/>
          </a:prstGeom>
          <a:solidFill>
            <a:srgbClr val="F1F5F9"/>
          </a:solidFill>
          <a:ln/>
        </p:spPr>
      </p:sp>
      <p:sp>
        <p:nvSpPr>
          <p:cNvPr id="5" name="Text 3"/>
          <p:cNvSpPr/>
          <p:nvPr/>
        </p:nvSpPr>
        <p:spPr>
          <a:xfrm>
            <a:off x="640080" y="1371600"/>
            <a:ext cx="7863840" cy="2286000"/>
          </a:xfrm>
          <a:prstGeom prst="rect">
            <a:avLst/>
          </a:prstGeom>
          <a:noFill/>
          <a:ln/>
        </p:spPr>
        <p:txBody>
          <a:bodyPr wrap="square" rtlCol="0" anchor="ctr"/>
          <a:lstStyle/>
          <a:p>
            <a:pPr indent="0" marL="0">
              <a:buNone/>
            </a:pPr>
            <a:r>
              <a:rPr lang="en-US" sz="1200" dirty="0">
                <a:solidFill>
                  <a:srgbClr val="33415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"Sid": "DenyAlmostOutsideSeoul",</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"Effect": "Deny",</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"NotAction":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"iam:*", "cloudfront:*", "route53:*", "s3:ListAllMyBuckets"</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"Resource":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"Condition":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"StringNotEquals":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"aws:RequestedRegion": "ap-northeast-2"</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3931920"/>
            <a:ext cx="8229600" cy="457200"/>
          </a:xfrm>
          <a:prstGeom prst="rect">
            <a:avLst/>
          </a:prstGeom>
          <a:noFill/>
          <a:ln/>
        </p:spPr>
        <p:txBody>
          <a:bodyPr wrap="square" rtlCol="0" anchor="ctr"/>
          <a:lstStyle/>
          <a:p>
            <a:pPr indent="0" marL="0">
              <a:buNone/>
            </a:pPr>
            <a:r>
              <a:rPr lang="en-US" sz="1200" dirty="0">
                <a:solidFill>
                  <a:srgbClr val="334155"/>
                </a:solidFill>
              </a:rPr>
              <a:t>💡 해설: NotAction으로 글로벌 서비스 예외, StringNotEquals로 서울 외 Deny</a:t>
            </a:r>
            <a:endParaRPr lang="en-US" sz="1200" dirty="0"/>
          </a:p>
        </p:txBody>
      </p:sp>
      <p:sp>
        <p:nvSpPr>
          <p:cNvPr id="7" name="Text 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실전 패턴 2: 인스턴스 타입 제한</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비싼 EC2 인스턴스 생성 차단</a:t>
            </a:r>
            <a:endParaRPr lang="en-US" sz="1400" dirty="0"/>
          </a:p>
        </p:txBody>
      </p:sp>
      <p:sp>
        <p:nvSpPr>
          <p:cNvPr id="4" name="Shape 2"/>
          <p:cNvSpPr/>
          <p:nvPr/>
        </p:nvSpPr>
        <p:spPr>
          <a:xfrm>
            <a:off x="457200" y="1234440"/>
            <a:ext cx="8229600" cy="2377440"/>
          </a:xfrm>
          <a:prstGeom prst="roundRect">
            <a:avLst/>
          </a:prstGeom>
          <a:solidFill>
            <a:srgbClr val="F1F5F9"/>
          </a:solidFill>
          <a:ln/>
        </p:spPr>
      </p:sp>
      <p:sp>
        <p:nvSpPr>
          <p:cNvPr id="5" name="Text 3"/>
          <p:cNvSpPr/>
          <p:nvPr/>
        </p:nvSpPr>
        <p:spPr>
          <a:xfrm>
            <a:off x="640080" y="1371600"/>
            <a:ext cx="7863840" cy="2103120"/>
          </a:xfrm>
          <a:prstGeom prst="rect">
            <a:avLst/>
          </a:prstGeom>
          <a:noFill/>
          <a:ln/>
        </p:spPr>
        <p:txBody>
          <a:bodyPr wrap="square" rtlCol="0" anchor="ctr"/>
          <a:lstStyle/>
          <a:p>
            <a:pPr indent="0" marL="0">
              <a:buNone/>
            </a:pPr>
            <a:r>
              <a:rPr lang="en-US" sz="1200" dirty="0">
                <a:solidFill>
                  <a:srgbClr val="33415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"Sid": "DenyEc2Expensive",</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"Effect": "Deny",</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"Action": "ec2:RunInstances",</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"Resource": "arn:aws:ec2:*:*:instance/*",</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"Condition":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"StringNotLike":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"ec2:InstanceType": ["t3.nano", "t3.micro", "t3.small", "t3.medium"]</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334155"/>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3749040"/>
            <a:ext cx="8229600" cy="457200"/>
          </a:xfrm>
          <a:prstGeom prst="rect">
            <a:avLst/>
          </a:prstGeom>
          <a:noFill/>
          <a:ln/>
        </p:spPr>
        <p:txBody>
          <a:bodyPr wrap="square" rtlCol="0" anchor="ctr"/>
          <a:lstStyle/>
          <a:p>
            <a:pPr indent="0" marL="0">
              <a:buNone/>
            </a:pPr>
            <a:r>
              <a:rPr lang="en-US" sz="1200" dirty="0">
                <a:solidFill>
                  <a:srgbClr val="334155"/>
                </a:solidFill>
              </a:rPr>
              <a:t>💡 해설: t3.nano ~ t3.medium만 허용, StringNotLike + Deny로 화이트리스트 구현</a:t>
            </a:r>
            <a:endParaRPr lang="en-US" sz="1200" dirty="0"/>
          </a:p>
        </p:txBody>
      </p:sp>
      <p:sp>
        <p:nvSpPr>
          <p:cNvPr id="7" name="Text 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실전 패턴 3: MFA 필수</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MFA 없이 로그인하면 대부분의 작업 차단</a:t>
            </a:r>
            <a:endParaRPr lang="en-US" sz="1400" dirty="0"/>
          </a:p>
        </p:txBody>
      </p:sp>
      <p:sp>
        <p:nvSpPr>
          <p:cNvPr id="4" name="Shape 2"/>
          <p:cNvSpPr/>
          <p:nvPr/>
        </p:nvSpPr>
        <p:spPr>
          <a:xfrm>
            <a:off x="457200" y="1234440"/>
            <a:ext cx="8229600" cy="2560320"/>
          </a:xfrm>
          <a:prstGeom prst="roundRect">
            <a:avLst/>
          </a:prstGeom>
          <a:solidFill>
            <a:srgbClr val="F1F5F9"/>
          </a:solidFill>
          <a:ln/>
        </p:spPr>
      </p:sp>
      <p:sp>
        <p:nvSpPr>
          <p:cNvPr id="5" name="Text 3"/>
          <p:cNvSpPr/>
          <p:nvPr/>
        </p:nvSpPr>
        <p:spPr>
          <a:xfrm>
            <a:off x="640080" y="1371600"/>
            <a:ext cx="7863840" cy="228600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"Sid": "BlockMostAccessUnlessSignedInWithMFA",</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"Effect": "Deny",</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"NotAction":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"iam:CreateVirtualMFADevice",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"iam:EnableMFADevice",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"iam:ChangePassword"</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"Resource":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"Condition":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"Bool":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"aws:MultiFactorAuthPresent": "false",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"aws:ViaAWSService": "false"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p:txBody>
      </p:sp>
      <p:sp>
        <p:nvSpPr>
          <p:cNvPr id="6" name="Text 4"/>
          <p:cNvSpPr/>
          <p:nvPr/>
        </p:nvSpPr>
        <p:spPr>
          <a:xfrm>
            <a:off x="457200" y="3931920"/>
            <a:ext cx="8229600" cy="457200"/>
          </a:xfrm>
          <a:prstGeom prst="rect">
            <a:avLst/>
          </a:prstGeom>
          <a:noFill/>
          <a:ln/>
        </p:spPr>
        <p:txBody>
          <a:bodyPr wrap="square" rtlCol="0" anchor="ctr"/>
          <a:lstStyle/>
          <a:p>
            <a:pPr indent="0" marL="0">
              <a:buNone/>
            </a:pPr>
            <a:r>
              <a:rPr lang="en-US" sz="1200" dirty="0">
                <a:solidFill>
                  <a:srgbClr val="334155"/>
                </a:solidFill>
              </a:rPr>
              <a:t>💡 해설: ViaAWSService:false → 사용자 직접 요청만 차단, MFA 등록 Action은 예외</a:t>
            </a:r>
            <a:endParaRPr lang="en-US" sz="1200" dirty="0"/>
          </a:p>
        </p:txBody>
      </p:sp>
      <p:sp>
        <p:nvSpPr>
          <p:cNvPr id="7" name="Text 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실전 패턴 4: 자기 리소스만 제어</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태그 기반 접근 제어 (ABAC)</a:t>
            </a:r>
            <a:endParaRPr lang="en-US" sz="1400" dirty="0"/>
          </a:p>
        </p:txBody>
      </p:sp>
      <p:sp>
        <p:nvSpPr>
          <p:cNvPr id="4" name="Shape 2"/>
          <p:cNvSpPr/>
          <p:nvPr/>
        </p:nvSpPr>
        <p:spPr>
          <a:xfrm>
            <a:off x="457200" y="1234440"/>
            <a:ext cx="8229600" cy="1920240"/>
          </a:xfrm>
          <a:prstGeom prst="roundRect">
            <a:avLst/>
          </a:prstGeom>
          <a:solidFill>
            <a:srgbClr val="F1F5F9"/>
          </a:solidFill>
          <a:ln/>
        </p:spPr>
      </p:sp>
      <p:sp>
        <p:nvSpPr>
          <p:cNvPr id="5" name="Text 3"/>
          <p:cNvSpPr/>
          <p:nvPr/>
        </p:nvSpPr>
        <p:spPr>
          <a:xfrm>
            <a:off x="640080" y="1371600"/>
            <a:ext cx="7863840" cy="164592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"Sid": "ControlOnlyMine",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"Effect": "Allow",</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"Action": ["ec2:TerminateInstances", "ec2:StopInstances"],</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"Resource":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"Condition":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"StringEquals":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"aws:ResourceTag/username": "${aws:username}"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p:txBody>
      </p:sp>
      <p:sp>
        <p:nvSpPr>
          <p:cNvPr id="6" name="Text 4"/>
          <p:cNvSpPr/>
          <p:nvPr/>
        </p:nvSpPr>
        <p:spPr>
          <a:xfrm>
            <a:off x="457200" y="3291840"/>
            <a:ext cx="8229600" cy="320040"/>
          </a:xfrm>
          <a:prstGeom prst="rect">
            <a:avLst/>
          </a:prstGeom>
          <a:noFill/>
          <a:ln/>
        </p:spPr>
        <p:txBody>
          <a:bodyPr wrap="square" rtlCol="0" anchor="ctr"/>
          <a:lstStyle/>
          <a:p>
            <a:pPr indent="0" marL="0">
              <a:buNone/>
            </a:pPr>
            <a:r>
              <a:rPr lang="en-US" sz="1300" b="1" dirty="0">
                <a:solidFill>
                  <a:srgbClr val="1E293B"/>
                </a:solidFill>
              </a:rPr>
              <a:t>💡 해설</a:t>
            </a:r>
            <a:endParaRPr lang="en-US" sz="1300" dirty="0"/>
          </a:p>
        </p:txBody>
      </p:sp>
      <p:sp>
        <p:nvSpPr>
          <p:cNvPr id="7" name="Text 5"/>
          <p:cNvSpPr/>
          <p:nvPr/>
        </p:nvSpPr>
        <p:spPr>
          <a:xfrm>
            <a:off x="457200" y="3611880"/>
            <a:ext cx="8229600" cy="914400"/>
          </a:xfrm>
          <a:prstGeom prst="rect">
            <a:avLst/>
          </a:prstGeom>
          <a:noFill/>
          <a:ln/>
        </p:spPr>
        <p:txBody>
          <a:bodyPr wrap="square" rtlCol="0" anchor="ctr"/>
          <a:lstStyle/>
          <a:p>
            <a:pPr indent="0" marL="0">
              <a:buNone/>
            </a:pPr>
            <a:r>
              <a:rPr lang="en-US" sz="1100" dirty="0">
                <a:solidFill>
                  <a:srgbClr val="334155"/>
                </a:solidFill>
              </a:rPr>
              <a:t>• ${aws:username}: 정책 변수, 실행 시점 사용자 이름으로 치환</a:t>
            </a:r>
            <a:endParaRPr lang="en-US" sz="1100" dirty="0"/>
          </a:p>
          <a:p>
            <a:pPr indent="0" marL="0">
              <a:buNone/>
            </a:pPr>
            <a:r>
              <a:rPr lang="en-US" sz="1100" dirty="0">
                <a:solidFill>
                  <a:srgbClr val="334155"/>
                </a:solidFill>
              </a:rPr>
              <a:t>• aws:ResourceTag/username: 리소스의 태그 값 확인</a:t>
            </a:r>
            <a:endParaRPr lang="en-US" sz="1100" dirty="0"/>
          </a:p>
          <a:p>
            <a:pPr indent="0" marL="0">
              <a:buNone/>
            </a:pPr>
            <a:r>
              <a:rPr lang="en-US" sz="1100" dirty="0">
                <a:solidFill>
                  <a:srgbClr val="334155"/>
                </a:solidFill>
              </a:rPr>
              <a:t>• 주의: 태그 없는 리소스는 별도 정책 필요 (Null 조건 활용)</a:t>
            </a:r>
            <a:endParaRPr lang="en-US" sz="1100" dirty="0"/>
          </a:p>
        </p:txBody>
      </p:sp>
      <p:sp>
        <p:nvSpPr>
          <p:cNvPr id="8" name="Text 6"/>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실전 패턴 5: 태그 변조 방지</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비용 추적용 태그 수정 차단</a:t>
            </a:r>
            <a:endParaRPr lang="en-US" sz="1400" dirty="0"/>
          </a:p>
        </p:txBody>
      </p:sp>
      <p:sp>
        <p:nvSpPr>
          <p:cNvPr id="4" name="Shape 2"/>
          <p:cNvSpPr/>
          <p:nvPr/>
        </p:nvSpPr>
        <p:spPr>
          <a:xfrm>
            <a:off x="457200" y="1234440"/>
            <a:ext cx="8229600" cy="2377440"/>
          </a:xfrm>
          <a:prstGeom prst="roundRect">
            <a:avLst/>
          </a:prstGeom>
          <a:solidFill>
            <a:srgbClr val="F1F5F9"/>
          </a:solidFill>
          <a:ln/>
        </p:spPr>
      </p:sp>
      <p:sp>
        <p:nvSpPr>
          <p:cNvPr id="5" name="Text 3"/>
          <p:cNvSpPr/>
          <p:nvPr/>
        </p:nvSpPr>
        <p:spPr>
          <a:xfrm>
            <a:off x="640080" y="1371600"/>
            <a:ext cx="7863840" cy="210312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"Sid": "DenyCostAllocationTagManagement",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"Effect": "Deny",</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"Action":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"ec2:CreateTags", "ec2:DeleteTags",</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"lambda:TagResource", "lambda:UntagResource"</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"Resource":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"Condition":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"ForAnyValue:StringEquals":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"aws:TagKeys": ["username", "group"]</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p:txBody>
      </p:sp>
      <p:sp>
        <p:nvSpPr>
          <p:cNvPr id="6" name="Text 4"/>
          <p:cNvSpPr/>
          <p:nvPr/>
        </p:nvSpPr>
        <p:spPr>
          <a:xfrm>
            <a:off x="457200" y="3749040"/>
            <a:ext cx="8229600" cy="457200"/>
          </a:xfrm>
          <a:prstGeom prst="rect">
            <a:avLst/>
          </a:prstGeom>
          <a:noFill/>
          <a:ln/>
        </p:spPr>
        <p:txBody>
          <a:bodyPr wrap="square" rtlCol="0" anchor="ctr"/>
          <a:lstStyle/>
          <a:p>
            <a:pPr indent="0" marL="0">
              <a:buNone/>
            </a:pPr>
            <a:r>
              <a:rPr lang="en-US" sz="1200" dirty="0">
                <a:solidFill>
                  <a:srgbClr val="334155"/>
                </a:solidFill>
              </a:rPr>
              <a:t>💡 해설: username, group 태그는 관리자만 수정 가능. ForAnyValue로 태그 키 배열 검사</a:t>
            </a:r>
            <a:endParaRPr lang="en-US" sz="1200" dirty="0"/>
          </a:p>
        </p:txBody>
      </p:sp>
      <p:sp>
        <p:nvSpPr>
          <p:cNvPr id="7" name="Text 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Null 조건 사용법</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태그나 속성의 존재 여부 확인</a:t>
            </a:r>
            <a:endParaRPr lang="en-US" sz="1400" dirty="0"/>
          </a:p>
        </p:txBody>
      </p:sp>
      <p:sp>
        <p:nvSpPr>
          <p:cNvPr id="4" name="Shape 2"/>
          <p:cNvSpPr/>
          <p:nvPr/>
        </p:nvSpPr>
        <p:spPr>
          <a:xfrm>
            <a:off x="457200" y="1234440"/>
            <a:ext cx="3931920" cy="1828800"/>
          </a:xfrm>
          <a:prstGeom prst="roundRect">
            <a:avLst/>
          </a:prstGeom>
          <a:solidFill>
            <a:srgbClr val="D1FAE5"/>
          </a:solidFill>
          <a:ln/>
        </p:spPr>
      </p:sp>
      <p:sp>
        <p:nvSpPr>
          <p:cNvPr id="5" name="Text 3"/>
          <p:cNvSpPr/>
          <p:nvPr/>
        </p:nvSpPr>
        <p:spPr>
          <a:xfrm>
            <a:off x="640080" y="1371600"/>
            <a:ext cx="3566160" cy="365760"/>
          </a:xfrm>
          <a:prstGeom prst="rect">
            <a:avLst/>
          </a:prstGeom>
          <a:noFill/>
          <a:ln/>
        </p:spPr>
        <p:txBody>
          <a:bodyPr wrap="square" rtlCol="0" anchor="ctr"/>
          <a:lstStyle/>
          <a:p>
            <a:pPr indent="0" marL="0">
              <a:buNone/>
            </a:pPr>
            <a:r>
              <a:rPr lang="en-US" sz="1300" b="1" dirty="0">
                <a:solidFill>
                  <a:srgbClr val="22C55E"/>
                </a:solidFill>
              </a:rPr>
              <a:t>태그가 있는 리소스에만 적용</a:t>
            </a:r>
            <a:endParaRPr lang="en-US" sz="1300" dirty="0"/>
          </a:p>
        </p:txBody>
      </p:sp>
      <p:sp>
        <p:nvSpPr>
          <p:cNvPr id="6" name="Text 4"/>
          <p:cNvSpPr/>
          <p:nvPr/>
        </p:nvSpPr>
        <p:spPr>
          <a:xfrm>
            <a:off x="640080" y="1783080"/>
            <a:ext cx="3566160" cy="118872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"Condition":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"Null":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"aws:ResourceTag/username": "false"</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4754880" y="1234440"/>
            <a:ext cx="3931920" cy="1828800"/>
          </a:xfrm>
          <a:prstGeom prst="roundRect">
            <a:avLst/>
          </a:prstGeom>
          <a:solidFill>
            <a:srgbClr val="FEE2E2"/>
          </a:solidFill>
          <a:ln/>
        </p:spPr>
      </p:sp>
      <p:sp>
        <p:nvSpPr>
          <p:cNvPr id="8" name="Text 6"/>
          <p:cNvSpPr/>
          <p:nvPr/>
        </p:nvSpPr>
        <p:spPr>
          <a:xfrm>
            <a:off x="4937760" y="1371600"/>
            <a:ext cx="3566160" cy="365760"/>
          </a:xfrm>
          <a:prstGeom prst="rect">
            <a:avLst/>
          </a:prstGeom>
          <a:noFill/>
          <a:ln/>
        </p:spPr>
        <p:txBody>
          <a:bodyPr wrap="square" rtlCol="0" anchor="ctr"/>
          <a:lstStyle/>
          <a:p>
            <a:pPr indent="0" marL="0">
              <a:buNone/>
            </a:pPr>
            <a:r>
              <a:rPr lang="en-US" sz="1300" b="1" dirty="0">
                <a:solidFill>
                  <a:srgbClr val="EF4444"/>
                </a:solidFill>
              </a:rPr>
              <a:t>태그가 없는 리소스에만 적용</a:t>
            </a:r>
            <a:endParaRPr lang="en-US" sz="1300" dirty="0"/>
          </a:p>
        </p:txBody>
      </p:sp>
      <p:sp>
        <p:nvSpPr>
          <p:cNvPr id="9" name="Text 7"/>
          <p:cNvSpPr/>
          <p:nvPr/>
        </p:nvSpPr>
        <p:spPr>
          <a:xfrm>
            <a:off x="4937760" y="1783080"/>
            <a:ext cx="3566160" cy="118872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"Condition":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"Null":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"aws:ResourceTag/username": "true"</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00400"/>
            <a:ext cx="8229600" cy="1280160"/>
          </a:xfrm>
          <a:prstGeom prst="roundRect">
            <a:avLst/>
          </a:prstGeom>
          <a:solidFill>
            <a:srgbClr val="F1F5F9"/>
          </a:solidFill>
          <a:ln/>
        </p:spPr>
      </p:sp>
      <p:sp>
        <p:nvSpPr>
          <p:cNvPr id="11" name="Text 9"/>
          <p:cNvSpPr/>
          <p:nvPr/>
        </p:nvSpPr>
        <p:spPr>
          <a:xfrm>
            <a:off x="640080" y="3291840"/>
            <a:ext cx="7863840" cy="320040"/>
          </a:xfrm>
          <a:prstGeom prst="rect">
            <a:avLst/>
          </a:prstGeom>
          <a:noFill/>
          <a:ln/>
        </p:spPr>
        <p:txBody>
          <a:bodyPr wrap="square" rtlCol="0" anchor="ctr"/>
          <a:lstStyle/>
          <a:p>
            <a:pPr indent="0" marL="0">
              <a:buNone/>
            </a:pPr>
            <a:r>
              <a:rPr lang="en-US" sz="1200" b="1" dirty="0">
                <a:solidFill>
                  <a:srgbClr val="1E293B"/>
                </a:solidFill>
              </a:rPr>
              <a:t>💡 실무 팁: 태그 기반 Deny 정책에서 태그 없는 리소스도 차단하려면</a:t>
            </a:r>
            <a:endParaRPr lang="en-US" sz="1200" dirty="0"/>
          </a:p>
        </p:txBody>
      </p:sp>
      <p:sp>
        <p:nvSpPr>
          <p:cNvPr id="12" name="Text 10"/>
          <p:cNvSpPr/>
          <p:nvPr/>
        </p:nvSpPr>
        <p:spPr>
          <a:xfrm>
            <a:off x="640080" y="3657600"/>
            <a:ext cx="7863840" cy="73152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 태그 없는 리소스 별도 차단</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"Sid": "DenyUntagged", "Effect": "Deny",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"Condition": { "Null": { "aws:ResourceTag/username": "true" } } }</a:t>
            </a:r>
            <a:endParaRPr lang="en-US" sz="1000" dirty="0"/>
          </a:p>
        </p:txBody>
      </p:sp>
      <p:sp>
        <p:nvSpPr>
          <p:cNvPr id="13" name="Text 11"/>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여러 Condition의 AND/OR 평가</a:t>
            </a:r>
            <a:endParaRPr lang="en-US" sz="3200" dirty="0"/>
          </a:p>
        </p:txBody>
      </p:sp>
      <p:sp>
        <p:nvSpPr>
          <p:cNvPr id="3" name="Shape 1"/>
          <p:cNvSpPr/>
          <p:nvPr/>
        </p:nvSpPr>
        <p:spPr>
          <a:xfrm>
            <a:off x="457200" y="1234440"/>
            <a:ext cx="8229600" cy="457200"/>
          </a:xfrm>
          <a:prstGeom prst="roundRect">
            <a:avLst/>
          </a:prstGeom>
          <a:solidFill>
            <a:srgbClr val="F1F5F9"/>
          </a:solidFill>
          <a:ln/>
        </p:spPr>
      </p:sp>
      <p:sp>
        <p:nvSpPr>
          <p:cNvPr id="4" name="Text 2"/>
          <p:cNvSpPr/>
          <p:nvPr/>
        </p:nvSpPr>
        <p:spPr>
          <a:xfrm>
            <a:off x="640080" y="1234440"/>
            <a:ext cx="5029200" cy="457200"/>
          </a:xfrm>
          <a:prstGeom prst="rect">
            <a:avLst/>
          </a:prstGeom>
          <a:noFill/>
          <a:ln/>
        </p:spPr>
        <p:txBody>
          <a:bodyPr wrap="square" rtlCol="0" anchor="ctr"/>
          <a:lstStyle/>
          <a:p>
            <a:pPr indent="0" marL="0">
              <a:buNone/>
            </a:pPr>
            <a:r>
              <a:rPr lang="en-US" sz="1200" dirty="0">
                <a:solidFill>
                  <a:srgbClr val="334155"/>
                </a:solidFill>
              </a:rPr>
              <a:t>같은 블록 내 다른 조건키</a:t>
            </a:r>
            <a:endParaRPr lang="en-US" sz="1200" dirty="0"/>
          </a:p>
        </p:txBody>
      </p:sp>
      <p:sp>
        <p:nvSpPr>
          <p:cNvPr id="5" name="Text 3"/>
          <p:cNvSpPr/>
          <p:nvPr/>
        </p:nvSpPr>
        <p:spPr>
          <a:xfrm>
            <a:off x="5669280" y="1234440"/>
            <a:ext cx="2834640" cy="457200"/>
          </a:xfrm>
          <a:prstGeom prst="rect">
            <a:avLst/>
          </a:prstGeom>
          <a:noFill/>
          <a:ln/>
        </p:spPr>
        <p:txBody>
          <a:bodyPr wrap="square" rtlCol="0" anchor="ctr"/>
          <a:lstStyle/>
          <a:p>
            <a:pPr indent="0" marL="0">
              <a:buNone/>
            </a:pPr>
            <a:r>
              <a:rPr lang="en-US" sz="1200" b="1" dirty="0">
                <a:solidFill>
                  <a:srgbClr val="2563EB"/>
                </a:solidFill>
              </a:rPr>
              <a:t>AND</a:t>
            </a:r>
            <a:endParaRPr lang="en-US" sz="1200" dirty="0"/>
          </a:p>
        </p:txBody>
      </p:sp>
      <p:sp>
        <p:nvSpPr>
          <p:cNvPr id="6" name="Shape 4"/>
          <p:cNvSpPr/>
          <p:nvPr/>
        </p:nvSpPr>
        <p:spPr>
          <a:xfrm>
            <a:off x="457200" y="1737360"/>
            <a:ext cx="8229600" cy="457200"/>
          </a:xfrm>
          <a:prstGeom prst="roundRect">
            <a:avLst/>
          </a:prstGeom>
          <a:solidFill>
            <a:srgbClr val="FFFFFF"/>
          </a:solidFill>
          <a:ln/>
        </p:spPr>
      </p:sp>
      <p:sp>
        <p:nvSpPr>
          <p:cNvPr id="7" name="Text 5"/>
          <p:cNvSpPr/>
          <p:nvPr/>
        </p:nvSpPr>
        <p:spPr>
          <a:xfrm>
            <a:off x="640080" y="1737360"/>
            <a:ext cx="5029200" cy="457200"/>
          </a:xfrm>
          <a:prstGeom prst="rect">
            <a:avLst/>
          </a:prstGeom>
          <a:noFill/>
          <a:ln/>
        </p:spPr>
        <p:txBody>
          <a:bodyPr wrap="square" rtlCol="0" anchor="ctr"/>
          <a:lstStyle/>
          <a:p>
            <a:pPr indent="0" marL="0">
              <a:buNone/>
            </a:pPr>
            <a:r>
              <a:rPr lang="en-US" sz="1200" dirty="0">
                <a:solidFill>
                  <a:srgbClr val="334155"/>
                </a:solidFill>
              </a:rPr>
              <a:t>같은 조건키 내 여러 값</a:t>
            </a:r>
            <a:endParaRPr lang="en-US" sz="1200" dirty="0"/>
          </a:p>
        </p:txBody>
      </p:sp>
      <p:sp>
        <p:nvSpPr>
          <p:cNvPr id="8" name="Text 6"/>
          <p:cNvSpPr/>
          <p:nvPr/>
        </p:nvSpPr>
        <p:spPr>
          <a:xfrm>
            <a:off x="5669280" y="1737360"/>
            <a:ext cx="2834640" cy="457200"/>
          </a:xfrm>
          <a:prstGeom prst="rect">
            <a:avLst/>
          </a:prstGeom>
          <a:noFill/>
          <a:ln/>
        </p:spPr>
        <p:txBody>
          <a:bodyPr wrap="square" rtlCol="0" anchor="ctr"/>
          <a:lstStyle/>
          <a:p>
            <a:pPr indent="0" marL="0">
              <a:buNone/>
            </a:pPr>
            <a:r>
              <a:rPr lang="en-US" sz="1200" b="1" dirty="0">
                <a:solidFill>
                  <a:srgbClr val="2563EB"/>
                </a:solidFill>
              </a:rPr>
              <a:t>OR (배열)</a:t>
            </a:r>
            <a:endParaRPr lang="en-US" sz="1200" dirty="0"/>
          </a:p>
        </p:txBody>
      </p:sp>
      <p:sp>
        <p:nvSpPr>
          <p:cNvPr id="9" name="Shape 7"/>
          <p:cNvSpPr/>
          <p:nvPr/>
        </p:nvSpPr>
        <p:spPr>
          <a:xfrm>
            <a:off x="457200" y="2240280"/>
            <a:ext cx="8229600" cy="457200"/>
          </a:xfrm>
          <a:prstGeom prst="roundRect">
            <a:avLst/>
          </a:prstGeom>
          <a:solidFill>
            <a:srgbClr val="F1F5F9"/>
          </a:solidFill>
          <a:ln/>
        </p:spPr>
      </p:sp>
      <p:sp>
        <p:nvSpPr>
          <p:cNvPr id="10" name="Text 8"/>
          <p:cNvSpPr/>
          <p:nvPr/>
        </p:nvSpPr>
        <p:spPr>
          <a:xfrm>
            <a:off x="640080" y="2240280"/>
            <a:ext cx="5029200" cy="457200"/>
          </a:xfrm>
          <a:prstGeom prst="rect">
            <a:avLst/>
          </a:prstGeom>
          <a:noFill/>
          <a:ln/>
        </p:spPr>
        <p:txBody>
          <a:bodyPr wrap="square" rtlCol="0" anchor="ctr"/>
          <a:lstStyle/>
          <a:p>
            <a:pPr indent="0" marL="0">
              <a:buNone/>
            </a:pPr>
            <a:r>
              <a:rPr lang="en-US" sz="1200" dirty="0">
                <a:solidFill>
                  <a:srgbClr val="334155"/>
                </a:solidFill>
              </a:rPr>
              <a:t>ForAnyValue</a:t>
            </a:r>
            <a:endParaRPr lang="en-US" sz="1200" dirty="0"/>
          </a:p>
        </p:txBody>
      </p:sp>
      <p:sp>
        <p:nvSpPr>
          <p:cNvPr id="11" name="Text 9"/>
          <p:cNvSpPr/>
          <p:nvPr/>
        </p:nvSpPr>
        <p:spPr>
          <a:xfrm>
            <a:off x="5669280" y="2240280"/>
            <a:ext cx="2834640" cy="457200"/>
          </a:xfrm>
          <a:prstGeom prst="rect">
            <a:avLst/>
          </a:prstGeom>
          <a:noFill/>
          <a:ln/>
        </p:spPr>
        <p:txBody>
          <a:bodyPr wrap="square" rtlCol="0" anchor="ctr"/>
          <a:lstStyle/>
          <a:p>
            <a:pPr indent="0" marL="0">
              <a:buNone/>
            </a:pPr>
            <a:r>
              <a:rPr lang="en-US" sz="1200" b="1" dirty="0">
                <a:solidFill>
                  <a:srgbClr val="2563EB"/>
                </a:solidFill>
              </a:rPr>
              <a:t>배열 중 하나라도 일치 (OR)</a:t>
            </a:r>
            <a:endParaRPr lang="en-US" sz="1200" dirty="0"/>
          </a:p>
        </p:txBody>
      </p:sp>
      <p:sp>
        <p:nvSpPr>
          <p:cNvPr id="12" name="Shape 10"/>
          <p:cNvSpPr/>
          <p:nvPr/>
        </p:nvSpPr>
        <p:spPr>
          <a:xfrm>
            <a:off x="457200" y="2743200"/>
            <a:ext cx="8229600" cy="457200"/>
          </a:xfrm>
          <a:prstGeom prst="roundRect">
            <a:avLst/>
          </a:prstGeom>
          <a:solidFill>
            <a:srgbClr val="FFFFFF"/>
          </a:solidFill>
          <a:ln/>
        </p:spPr>
      </p:sp>
      <p:sp>
        <p:nvSpPr>
          <p:cNvPr id="13" name="Text 11"/>
          <p:cNvSpPr/>
          <p:nvPr/>
        </p:nvSpPr>
        <p:spPr>
          <a:xfrm>
            <a:off x="640080" y="2743200"/>
            <a:ext cx="5029200" cy="457200"/>
          </a:xfrm>
          <a:prstGeom prst="rect">
            <a:avLst/>
          </a:prstGeom>
          <a:noFill/>
          <a:ln/>
        </p:spPr>
        <p:txBody>
          <a:bodyPr wrap="square" rtlCol="0" anchor="ctr"/>
          <a:lstStyle/>
          <a:p>
            <a:pPr indent="0" marL="0">
              <a:buNone/>
            </a:pPr>
            <a:r>
              <a:rPr lang="en-US" sz="1200" dirty="0">
                <a:solidFill>
                  <a:srgbClr val="334155"/>
                </a:solidFill>
              </a:rPr>
              <a:t>ForAllValues</a:t>
            </a:r>
            <a:endParaRPr lang="en-US" sz="1200" dirty="0"/>
          </a:p>
        </p:txBody>
      </p:sp>
      <p:sp>
        <p:nvSpPr>
          <p:cNvPr id="14" name="Text 12"/>
          <p:cNvSpPr/>
          <p:nvPr/>
        </p:nvSpPr>
        <p:spPr>
          <a:xfrm>
            <a:off x="5669280" y="2743200"/>
            <a:ext cx="2834640" cy="457200"/>
          </a:xfrm>
          <a:prstGeom prst="rect">
            <a:avLst/>
          </a:prstGeom>
          <a:noFill/>
          <a:ln/>
        </p:spPr>
        <p:txBody>
          <a:bodyPr wrap="square" rtlCol="0" anchor="ctr"/>
          <a:lstStyle/>
          <a:p>
            <a:pPr indent="0" marL="0">
              <a:buNone/>
            </a:pPr>
            <a:r>
              <a:rPr lang="en-US" sz="1200" b="1" dirty="0">
                <a:solidFill>
                  <a:srgbClr val="2563EB"/>
                </a:solidFill>
              </a:rPr>
              <a:t>배열 모두 일치 (AND)</a:t>
            </a:r>
            <a:endParaRPr lang="en-US" sz="1200" dirty="0"/>
          </a:p>
        </p:txBody>
      </p:sp>
      <p:sp>
        <p:nvSpPr>
          <p:cNvPr id="15" name="Shape 13"/>
          <p:cNvSpPr/>
          <p:nvPr/>
        </p:nvSpPr>
        <p:spPr>
          <a:xfrm>
            <a:off x="457200" y="3246120"/>
            <a:ext cx="8229600" cy="457200"/>
          </a:xfrm>
          <a:prstGeom prst="roundRect">
            <a:avLst/>
          </a:prstGeom>
          <a:solidFill>
            <a:srgbClr val="F1F5F9"/>
          </a:solidFill>
          <a:ln/>
        </p:spPr>
      </p:sp>
      <p:sp>
        <p:nvSpPr>
          <p:cNvPr id="16" name="Text 14"/>
          <p:cNvSpPr/>
          <p:nvPr/>
        </p:nvSpPr>
        <p:spPr>
          <a:xfrm>
            <a:off x="640080" y="3246120"/>
            <a:ext cx="5029200" cy="457200"/>
          </a:xfrm>
          <a:prstGeom prst="rect">
            <a:avLst/>
          </a:prstGeom>
          <a:noFill/>
          <a:ln/>
        </p:spPr>
        <p:txBody>
          <a:bodyPr wrap="square" rtlCol="0" anchor="ctr"/>
          <a:lstStyle/>
          <a:p>
            <a:pPr indent="0" marL="0">
              <a:buNone/>
            </a:pPr>
            <a:r>
              <a:rPr lang="en-US" sz="1200" dirty="0">
                <a:solidFill>
                  <a:srgbClr val="334155"/>
                </a:solidFill>
              </a:rPr>
              <a:t>다른 조건 연산자 블록 간</a:t>
            </a:r>
            <a:endParaRPr lang="en-US" sz="1200" dirty="0"/>
          </a:p>
        </p:txBody>
      </p:sp>
      <p:sp>
        <p:nvSpPr>
          <p:cNvPr id="17" name="Text 15"/>
          <p:cNvSpPr/>
          <p:nvPr/>
        </p:nvSpPr>
        <p:spPr>
          <a:xfrm>
            <a:off x="5669280" y="3246120"/>
            <a:ext cx="2834640" cy="457200"/>
          </a:xfrm>
          <a:prstGeom prst="rect">
            <a:avLst/>
          </a:prstGeom>
          <a:noFill/>
          <a:ln/>
        </p:spPr>
        <p:txBody>
          <a:bodyPr wrap="square" rtlCol="0" anchor="ctr"/>
          <a:lstStyle/>
          <a:p>
            <a:pPr indent="0" marL="0">
              <a:buNone/>
            </a:pPr>
            <a:r>
              <a:rPr lang="en-US" sz="1200" b="1" dirty="0">
                <a:solidFill>
                  <a:srgbClr val="2563EB"/>
                </a:solidFill>
              </a:rPr>
              <a:t>AND</a:t>
            </a:r>
            <a:endParaRPr lang="en-US" sz="1200" dirty="0"/>
          </a:p>
        </p:txBody>
      </p:sp>
      <p:sp>
        <p:nvSpPr>
          <p:cNvPr id="18" name="Shape 16"/>
          <p:cNvSpPr/>
          <p:nvPr/>
        </p:nvSpPr>
        <p:spPr>
          <a:xfrm>
            <a:off x="457200" y="3794760"/>
            <a:ext cx="8229600" cy="1051560"/>
          </a:xfrm>
          <a:prstGeom prst="roundRect">
            <a:avLst/>
          </a:prstGeom>
          <a:solidFill>
            <a:srgbClr val="F1F5F9"/>
          </a:solidFill>
          <a:ln/>
        </p:spPr>
      </p:sp>
      <p:sp>
        <p:nvSpPr>
          <p:cNvPr id="19" name="Text 17"/>
          <p:cNvSpPr/>
          <p:nvPr/>
        </p:nvSpPr>
        <p:spPr>
          <a:xfrm>
            <a:off x="640080" y="3886200"/>
            <a:ext cx="7863840" cy="86868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"Condition":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"StringEquals": { "aws:RequestedRegion": "ap-northeast-2",</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"ec2:InstanceType": ["t3.micro", "t3.small"] }</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 리전 AND (micro OR small)</a:t>
            </a:r>
            <a:endParaRPr lang="en-US" sz="1000" dirty="0"/>
          </a:p>
        </p:txBody>
      </p:sp>
      <p:sp>
        <p:nvSpPr>
          <p:cNvPr id="20" name="Text 18"/>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조건을 평가할 수 없으면?</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조건 불일치(mismatch)로 처리 → Statement 무시</a:t>
            </a:r>
            <a:endParaRPr lang="en-US" sz="1400" dirty="0"/>
          </a:p>
        </p:txBody>
      </p:sp>
      <p:sp>
        <p:nvSpPr>
          <p:cNvPr id="4" name="Shape 2"/>
          <p:cNvSpPr/>
          <p:nvPr/>
        </p:nvSpPr>
        <p:spPr>
          <a:xfrm>
            <a:off x="457200" y="1234440"/>
            <a:ext cx="8229600" cy="1188720"/>
          </a:xfrm>
          <a:prstGeom prst="roundRect">
            <a:avLst/>
          </a:prstGeom>
          <a:solidFill>
            <a:srgbClr val="FEE2E2"/>
          </a:solidFill>
          <a:ln/>
        </p:spPr>
      </p:sp>
      <p:sp>
        <p:nvSpPr>
          <p:cNvPr id="5" name="Text 3"/>
          <p:cNvSpPr/>
          <p:nvPr/>
        </p:nvSpPr>
        <p:spPr>
          <a:xfrm>
            <a:off x="640080" y="1325880"/>
            <a:ext cx="7863840" cy="320040"/>
          </a:xfrm>
          <a:prstGeom prst="rect">
            <a:avLst/>
          </a:prstGeom>
          <a:noFill/>
          <a:ln/>
        </p:spPr>
        <p:txBody>
          <a:bodyPr wrap="square" rtlCol="0" anchor="ctr"/>
          <a:lstStyle/>
          <a:p>
            <a:pPr indent="0" marL="0">
              <a:buNone/>
            </a:pPr>
            <a:r>
              <a:rPr lang="en-US" sz="1400" b="1" dirty="0">
                <a:solidFill>
                  <a:srgbClr val="EF4444"/>
                </a:solidFill>
              </a:rPr>
              <a:t>⚠️ 조건 평가 불가 상황</a:t>
            </a:r>
            <a:endParaRPr lang="en-US" sz="1400" dirty="0"/>
          </a:p>
        </p:txBody>
      </p:sp>
      <p:sp>
        <p:nvSpPr>
          <p:cNvPr id="6" name="Text 4"/>
          <p:cNvSpPr/>
          <p:nvPr/>
        </p:nvSpPr>
        <p:spPr>
          <a:xfrm>
            <a:off x="640080" y="1691640"/>
            <a:ext cx="7863840" cy="640080"/>
          </a:xfrm>
          <a:prstGeom prst="rect">
            <a:avLst/>
          </a:prstGeom>
          <a:noFill/>
          <a:ln/>
        </p:spPr>
        <p:txBody>
          <a:bodyPr wrap="square" rtlCol="0" anchor="ctr"/>
          <a:lstStyle/>
          <a:p>
            <a:pPr indent="0" marL="0">
              <a:buNone/>
            </a:pPr>
            <a:r>
              <a:rPr lang="en-US" sz="1100" dirty="0">
                <a:solidFill>
                  <a:srgbClr val="334155"/>
                </a:solidFill>
              </a:rPr>
              <a:t>• Action이 해당 조건키를 지원하지 않음 (예: DescribeInstances에서 ec2:InstanceType)</a:t>
            </a:r>
            <a:endParaRPr lang="en-US" sz="1100" dirty="0"/>
          </a:p>
          <a:p>
            <a:pPr indent="0" marL="0">
              <a:buNone/>
            </a:pPr>
            <a:r>
              <a:rPr lang="en-US" sz="1100" dirty="0">
                <a:solidFill>
                  <a:srgbClr val="334155"/>
                </a:solidFill>
              </a:rPr>
              <a:t>• 조건키는 지원하지만 값이 존재하지 않음 (예: 태그 없는 리소스에서 ResourceTag 사용)</a:t>
            </a:r>
            <a:endParaRPr lang="en-US" sz="1100" dirty="0"/>
          </a:p>
        </p:txBody>
      </p:sp>
      <p:sp>
        <p:nvSpPr>
          <p:cNvPr id="7" name="Shape 5"/>
          <p:cNvSpPr/>
          <p:nvPr/>
        </p:nvSpPr>
        <p:spPr>
          <a:xfrm>
            <a:off x="457200" y="2560320"/>
            <a:ext cx="8229600" cy="1371600"/>
          </a:xfrm>
          <a:prstGeom prst="roundRect">
            <a:avLst/>
          </a:prstGeom>
          <a:solidFill>
            <a:srgbClr val="F1F5F9"/>
          </a:solidFill>
          <a:ln/>
        </p:spPr>
      </p:sp>
      <p:sp>
        <p:nvSpPr>
          <p:cNvPr id="8" name="Text 6"/>
          <p:cNvSpPr/>
          <p:nvPr/>
        </p:nvSpPr>
        <p:spPr>
          <a:xfrm>
            <a:off x="640080" y="2651760"/>
            <a:ext cx="7863840" cy="320040"/>
          </a:xfrm>
          <a:prstGeom prst="rect">
            <a:avLst/>
          </a:prstGeom>
          <a:noFill/>
          <a:ln/>
        </p:spPr>
        <p:txBody>
          <a:bodyPr wrap="square" rtlCol="0" anchor="ctr"/>
          <a:lstStyle/>
          <a:p>
            <a:pPr indent="0" marL="0">
              <a:buNone/>
            </a:pPr>
            <a:r>
              <a:rPr lang="en-US" sz="1200" b="1" dirty="0">
                <a:solidFill>
                  <a:srgbClr val="1E293B"/>
                </a:solidFill>
              </a:rPr>
              <a:t>🎯 비유: "이 사람의 이름이 Jack이 아닌가?" (StringNotEquals)</a:t>
            </a:r>
            <a:endParaRPr lang="en-US" sz="1200" dirty="0"/>
          </a:p>
        </p:txBody>
      </p:sp>
      <p:sp>
        <p:nvSpPr>
          <p:cNvPr id="9" name="Text 7"/>
          <p:cNvSpPr/>
          <p:nvPr/>
        </p:nvSpPr>
        <p:spPr>
          <a:xfrm>
            <a:off x="640080" y="3017520"/>
            <a:ext cx="7863840" cy="822960"/>
          </a:xfrm>
          <a:prstGeom prst="rect">
            <a:avLst/>
          </a:prstGeom>
          <a:noFill/>
          <a:ln/>
        </p:spPr>
        <p:txBody>
          <a:bodyPr wrap="square" rtlCol="0" anchor="ctr"/>
          <a:lstStyle/>
          <a:p>
            <a:pPr indent="0" marL="0">
              <a:buNone/>
            </a:pPr>
            <a:r>
              <a:rPr lang="en-US" sz="1100" dirty="0">
                <a:solidFill>
                  <a:srgbClr val="334155"/>
                </a:solidFill>
              </a:rPr>
              <a:t>• 이름 = "Tom" → "네, Jack이 아닙니다" → true (조건 충족)</a:t>
            </a:r>
            <a:endParaRPr lang="en-US" sz="1100" dirty="0"/>
          </a:p>
          <a:p>
            <a:pPr indent="0" marL="0">
              <a:buNone/>
            </a:pPr>
            <a:r>
              <a:rPr lang="en-US" sz="1100" dirty="0">
                <a:solidFill>
                  <a:srgbClr val="334155"/>
                </a:solidFill>
              </a:rPr>
              <a:t>• 이름 = "Jack" → "아니요, Jack입니다" → false (조건 불충족)</a:t>
            </a:r>
            <a:endParaRPr lang="en-US" sz="1100" dirty="0"/>
          </a:p>
          <a:p>
            <a:pPr indent="0" marL="0">
              <a:buNone/>
            </a:pPr>
            <a:r>
              <a:rPr lang="en-US" sz="1100" dirty="0">
                <a:solidFill>
                  <a:srgbClr val="334155"/>
                </a:solidFill>
              </a:rPr>
              <a:t>• 이름표 없음 → "판단 불가" → mismatch (Statement 무시!)</a:t>
            </a:r>
            <a:endParaRPr lang="en-US" sz="1100" dirty="0"/>
          </a:p>
        </p:txBody>
      </p:sp>
      <p:sp>
        <p:nvSpPr>
          <p:cNvPr id="10" name="Shape 8"/>
          <p:cNvSpPr/>
          <p:nvPr/>
        </p:nvSpPr>
        <p:spPr>
          <a:xfrm>
            <a:off x="457200" y="4069080"/>
            <a:ext cx="8229600" cy="594360"/>
          </a:xfrm>
          <a:prstGeom prst="roundRect">
            <a:avLst/>
          </a:prstGeom>
          <a:solidFill>
            <a:srgbClr val="0F172A"/>
          </a:solidFill>
          <a:ln/>
        </p:spPr>
      </p:sp>
      <p:sp>
        <p:nvSpPr>
          <p:cNvPr id="11" name="Text 9"/>
          <p:cNvSpPr/>
          <p:nvPr/>
        </p:nvSpPr>
        <p:spPr>
          <a:xfrm>
            <a:off x="640080" y="4160520"/>
            <a:ext cx="7863840" cy="411480"/>
          </a:xfrm>
          <a:prstGeom prst="rect">
            <a:avLst/>
          </a:prstGeom>
          <a:noFill/>
          <a:ln/>
        </p:spPr>
        <p:txBody>
          <a:bodyPr wrap="square" rtlCol="0" anchor="ctr"/>
          <a:lstStyle/>
          <a:p>
            <a:pPr indent="0" marL="0">
              <a:buNone/>
            </a:pPr>
            <a:r>
              <a:rPr lang="en-US" sz="1100" b="1" dirty="0">
                <a:solidFill>
                  <a:srgbClr val="FFFFFF"/>
                </a:solidFill>
              </a:rPr>
              <a:t>💡 실무: 태그 기반 Deny에서 태그 없는 리소스도 차단하려면 Null 조건 Statement 별도 필요!</a:t>
            </a:r>
            <a:endParaRPr lang="en-US" sz="1100" dirty="0"/>
          </a:p>
        </p:txBody>
      </p:sp>
      <p:sp>
        <p:nvSpPr>
          <p:cNvPr id="12" name="Text 10"/>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ec2:RunInstances의 여러 Resource ARN</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EC2 인스턴스 생성 시 여러 리소스가 동시에 관여</a:t>
            </a:r>
            <a:endParaRPr lang="en-US" sz="1400" dirty="0"/>
          </a:p>
        </p:txBody>
      </p:sp>
      <p:sp>
        <p:nvSpPr>
          <p:cNvPr id="4" name="Shape 2"/>
          <p:cNvSpPr/>
          <p:nvPr/>
        </p:nvSpPr>
        <p:spPr>
          <a:xfrm>
            <a:off x="457200" y="1234440"/>
            <a:ext cx="8229600" cy="2560320"/>
          </a:xfrm>
          <a:prstGeom prst="roundRect">
            <a:avLst/>
          </a:prstGeom>
          <a:solidFill>
            <a:srgbClr val="F1F5F9"/>
          </a:solidFill>
          <a:ln/>
        </p:spPr>
      </p:sp>
      <p:sp>
        <p:nvSpPr>
          <p:cNvPr id="5" name="Text 3"/>
          <p:cNvSpPr/>
          <p:nvPr/>
        </p:nvSpPr>
        <p:spPr>
          <a:xfrm>
            <a:off x="640080" y="1371600"/>
            <a:ext cx="7863840" cy="2286000"/>
          </a:xfrm>
          <a:prstGeom prst="rect">
            <a:avLst/>
          </a:prstGeom>
          <a:noFill/>
          <a:ln/>
        </p:spPr>
        <p:txBody>
          <a:bodyPr wrap="square"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"Effect": "Allow",</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"Action": "ec2:RunInstances",</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"Resource":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"arn:aws:ec2:*:*:instance/*",          // 생성될 인스턴스</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"arn:aws:ec2:*::image/ami-*",          // 사용할 AMI</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"arn:aws:ec2:*:*:key-pair/*",          // SSH 키페어</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"arn:aws:ec2:*:*:network-interface/*", // 네트워크 인터페이스</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"arn:aws:ec2:*:*:security-group/*",    // 보안 그룹</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"arn:aws:ec2:*:*:subnet/*",            // 서브넷</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"arn:aws:ec2:*:*:volume/*"             // EBS 볼륨</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334155"/>
                </a:solidFill>
                <a:latin typeface="Courier New" pitchFamily="34" charset="0"/>
                <a:ea typeface="Courier New" pitchFamily="34" charset="-122"/>
                <a:cs typeface="Courier New" pitchFamily="34" charset="-120"/>
              </a:rPr>
              <a:t>}</a:t>
            </a:r>
            <a:endParaRPr lang="en-US" sz="1100" dirty="0"/>
          </a:p>
        </p:txBody>
      </p:sp>
      <p:sp>
        <p:nvSpPr>
          <p:cNvPr id="6" name="Text 4"/>
          <p:cNvSpPr/>
          <p:nvPr/>
        </p:nvSpPr>
        <p:spPr>
          <a:xfrm>
            <a:off x="457200" y="3931920"/>
            <a:ext cx="8229600" cy="457200"/>
          </a:xfrm>
          <a:prstGeom prst="rect">
            <a:avLst/>
          </a:prstGeom>
          <a:noFill/>
          <a:ln/>
        </p:spPr>
        <p:txBody>
          <a:bodyPr wrap="square" rtlCol="0" anchor="ctr"/>
          <a:lstStyle/>
          <a:p>
            <a:pPr indent="0" marL="0">
              <a:buNone/>
            </a:pPr>
            <a:r>
              <a:rPr lang="en-US" sz="1100" dirty="0">
                <a:solidFill>
                  <a:srgbClr val="334155"/>
                </a:solidFill>
              </a:rPr>
              <a:t>💡 위 모든 리소스에 대한 권한이 있어야 인스턴스 생성 성공 (AWS 공식문서 Dependent actions 참고)</a:t>
            </a:r>
            <a:endParaRPr lang="en-US" sz="1100" dirty="0"/>
          </a:p>
        </p:txBody>
      </p:sp>
      <p:sp>
        <p:nvSpPr>
          <p:cNvPr id="7" name="Text 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정책 평가 순서</a:t>
            </a:r>
            <a:endParaRPr lang="en-US" sz="3200" dirty="0"/>
          </a:p>
        </p:txBody>
      </p:sp>
      <p:sp>
        <p:nvSpPr>
          <p:cNvPr id="3" name="Shape 1"/>
          <p:cNvSpPr/>
          <p:nvPr/>
        </p:nvSpPr>
        <p:spPr>
          <a:xfrm>
            <a:off x="3657600" y="1280160"/>
            <a:ext cx="1828800" cy="640080"/>
          </a:xfrm>
          <a:prstGeom prst="roundRect">
            <a:avLst/>
          </a:prstGeom>
          <a:solidFill>
            <a:srgbClr val="E2E8F0"/>
          </a:solidFill>
          <a:ln/>
        </p:spPr>
      </p:sp>
      <p:sp>
        <p:nvSpPr>
          <p:cNvPr id="4" name="Text 2"/>
          <p:cNvSpPr/>
          <p:nvPr/>
        </p:nvSpPr>
        <p:spPr>
          <a:xfrm>
            <a:off x="3657600" y="1280160"/>
            <a:ext cx="1828800" cy="640080"/>
          </a:xfrm>
          <a:prstGeom prst="rect">
            <a:avLst/>
          </a:prstGeom>
          <a:noFill/>
          <a:ln/>
        </p:spPr>
        <p:txBody>
          <a:bodyPr wrap="square" rtlCol="0" anchor="ctr"/>
          <a:lstStyle/>
          <a:p>
            <a:pPr algn="ctr" indent="0" marL="0">
              <a:buNone/>
            </a:pPr>
            <a:r>
              <a:rPr lang="en-US" sz="1300" dirty="0">
                <a:solidFill>
                  <a:srgbClr val="334155"/>
                </a:solidFill>
              </a:rPr>
              <a:t>요청 발생</a:t>
            </a:r>
            <a:endParaRPr lang="en-US" sz="1300" dirty="0"/>
          </a:p>
        </p:txBody>
      </p:sp>
      <p:sp>
        <p:nvSpPr>
          <p:cNvPr id="5" name="Text 3"/>
          <p:cNvSpPr/>
          <p:nvPr/>
        </p:nvSpPr>
        <p:spPr>
          <a:xfrm>
            <a:off x="4343400" y="1920240"/>
            <a:ext cx="457200" cy="274320"/>
          </a:xfrm>
          <a:prstGeom prst="rect">
            <a:avLst/>
          </a:prstGeom>
          <a:noFill/>
          <a:ln/>
        </p:spPr>
        <p:txBody>
          <a:bodyPr wrap="square" rtlCol="0" anchor="ctr"/>
          <a:lstStyle/>
          <a:p>
            <a:pPr algn="ctr" indent="0" marL="0">
              <a:buNone/>
            </a:pPr>
            <a:r>
              <a:rPr lang="en-US" sz="1600" dirty="0">
                <a:solidFill>
                  <a:srgbClr val="94A3B8"/>
                </a:solidFill>
              </a:rPr>
              <a:t>↓</a:t>
            </a:r>
            <a:endParaRPr lang="en-US" sz="1600" dirty="0"/>
          </a:p>
        </p:txBody>
      </p:sp>
      <p:sp>
        <p:nvSpPr>
          <p:cNvPr id="6" name="Shape 4"/>
          <p:cNvSpPr/>
          <p:nvPr/>
        </p:nvSpPr>
        <p:spPr>
          <a:xfrm>
            <a:off x="2286000" y="2286000"/>
            <a:ext cx="4572000" cy="685800"/>
          </a:xfrm>
          <a:prstGeom prst="roundRect">
            <a:avLst/>
          </a:prstGeom>
          <a:solidFill>
            <a:srgbClr val="FEE2E2"/>
          </a:solidFill>
          <a:ln/>
        </p:spPr>
      </p:sp>
      <p:sp>
        <p:nvSpPr>
          <p:cNvPr id="7" name="Text 5"/>
          <p:cNvSpPr/>
          <p:nvPr/>
        </p:nvSpPr>
        <p:spPr>
          <a:xfrm>
            <a:off x="2286000" y="2286000"/>
            <a:ext cx="4572000" cy="685800"/>
          </a:xfrm>
          <a:prstGeom prst="rect">
            <a:avLst/>
          </a:prstGeom>
          <a:noFill/>
          <a:ln/>
        </p:spPr>
        <p:txBody>
          <a:bodyPr wrap="square" rtlCol="0" anchor="ctr"/>
          <a:lstStyle/>
          <a:p>
            <a:pPr algn="ctr" indent="0" marL="0">
              <a:buNone/>
            </a:pPr>
            <a:r>
              <a:rPr lang="en-US" sz="1300" b="1" dirty="0">
                <a:solidFill>
                  <a:srgbClr val="EF4444"/>
                </a:solidFill>
              </a:rPr>
              <a:t>1️⃣ 명시적 Deny 있음? → 무조건 거부 (최우선)</a:t>
            </a:r>
            <a:endParaRPr lang="en-US" sz="1300" dirty="0"/>
          </a:p>
        </p:txBody>
      </p:sp>
      <p:sp>
        <p:nvSpPr>
          <p:cNvPr id="8" name="Text 6"/>
          <p:cNvSpPr/>
          <p:nvPr/>
        </p:nvSpPr>
        <p:spPr>
          <a:xfrm>
            <a:off x="4343400" y="2971800"/>
            <a:ext cx="457200" cy="274320"/>
          </a:xfrm>
          <a:prstGeom prst="rect">
            <a:avLst/>
          </a:prstGeom>
          <a:noFill/>
          <a:ln/>
        </p:spPr>
        <p:txBody>
          <a:bodyPr wrap="square" rtlCol="0" anchor="ctr"/>
          <a:lstStyle/>
          <a:p>
            <a:pPr algn="ctr" indent="0" marL="0">
              <a:buNone/>
            </a:pPr>
            <a:r>
              <a:rPr lang="en-US" sz="1200" dirty="0">
                <a:solidFill>
                  <a:srgbClr val="94A3B8"/>
                </a:solidFill>
              </a:rPr>
              <a:t>↓ No</a:t>
            </a:r>
            <a:endParaRPr lang="en-US" sz="1200" dirty="0"/>
          </a:p>
        </p:txBody>
      </p:sp>
      <p:sp>
        <p:nvSpPr>
          <p:cNvPr id="9" name="Shape 7"/>
          <p:cNvSpPr/>
          <p:nvPr/>
        </p:nvSpPr>
        <p:spPr>
          <a:xfrm>
            <a:off x="2286000" y="3246120"/>
            <a:ext cx="4572000" cy="685800"/>
          </a:xfrm>
          <a:prstGeom prst="roundRect">
            <a:avLst/>
          </a:prstGeom>
          <a:solidFill>
            <a:srgbClr val="D1FAE5"/>
          </a:solidFill>
          <a:ln/>
        </p:spPr>
      </p:sp>
      <p:sp>
        <p:nvSpPr>
          <p:cNvPr id="10" name="Text 8"/>
          <p:cNvSpPr/>
          <p:nvPr/>
        </p:nvSpPr>
        <p:spPr>
          <a:xfrm>
            <a:off x="2286000" y="3246120"/>
            <a:ext cx="4572000" cy="685800"/>
          </a:xfrm>
          <a:prstGeom prst="rect">
            <a:avLst/>
          </a:prstGeom>
          <a:noFill/>
          <a:ln/>
        </p:spPr>
        <p:txBody>
          <a:bodyPr wrap="square" rtlCol="0" anchor="ctr"/>
          <a:lstStyle/>
          <a:p>
            <a:pPr algn="ctr" indent="0" marL="0">
              <a:buNone/>
            </a:pPr>
            <a:r>
              <a:rPr lang="en-US" sz="1300" b="1" dirty="0">
                <a:solidFill>
                  <a:srgbClr val="22C55E"/>
                </a:solidFill>
              </a:rPr>
              <a:t>2️⃣ 명시적 Allow 있음? → 허용</a:t>
            </a:r>
            <a:endParaRPr lang="en-US" sz="1300" dirty="0"/>
          </a:p>
        </p:txBody>
      </p:sp>
      <p:sp>
        <p:nvSpPr>
          <p:cNvPr id="11" name="Text 9"/>
          <p:cNvSpPr/>
          <p:nvPr/>
        </p:nvSpPr>
        <p:spPr>
          <a:xfrm>
            <a:off x="4343400" y="3931920"/>
            <a:ext cx="457200" cy="274320"/>
          </a:xfrm>
          <a:prstGeom prst="rect">
            <a:avLst/>
          </a:prstGeom>
          <a:noFill/>
          <a:ln/>
        </p:spPr>
        <p:txBody>
          <a:bodyPr wrap="square" rtlCol="0" anchor="ctr"/>
          <a:lstStyle/>
          <a:p>
            <a:pPr algn="ctr" indent="0" marL="0">
              <a:buNone/>
            </a:pPr>
            <a:r>
              <a:rPr lang="en-US" sz="1200" dirty="0">
                <a:solidFill>
                  <a:srgbClr val="94A3B8"/>
                </a:solidFill>
              </a:rPr>
              <a:t>↓ No</a:t>
            </a:r>
            <a:endParaRPr lang="en-US" sz="1200" dirty="0"/>
          </a:p>
        </p:txBody>
      </p:sp>
      <p:sp>
        <p:nvSpPr>
          <p:cNvPr id="12" name="Shape 10"/>
          <p:cNvSpPr/>
          <p:nvPr/>
        </p:nvSpPr>
        <p:spPr>
          <a:xfrm>
            <a:off x="2286000" y="4206240"/>
            <a:ext cx="4572000" cy="685800"/>
          </a:xfrm>
          <a:prstGeom prst="roundRect">
            <a:avLst/>
          </a:prstGeom>
          <a:solidFill>
            <a:srgbClr val="E2E8F0"/>
          </a:solidFill>
          <a:ln w="12700">
            <a:solidFill>
              <a:srgbClr val="EF4444"/>
            </a:solidFill>
            <a:prstDash val="dash"/>
          </a:ln>
        </p:spPr>
      </p:sp>
      <p:sp>
        <p:nvSpPr>
          <p:cNvPr id="13" name="Text 11"/>
          <p:cNvSpPr/>
          <p:nvPr/>
        </p:nvSpPr>
        <p:spPr>
          <a:xfrm>
            <a:off x="2286000" y="4206240"/>
            <a:ext cx="4572000" cy="685800"/>
          </a:xfrm>
          <a:prstGeom prst="rect">
            <a:avLst/>
          </a:prstGeom>
          <a:noFill/>
          <a:ln/>
        </p:spPr>
        <p:txBody>
          <a:bodyPr wrap="square" rtlCol="0" anchor="ctr"/>
          <a:lstStyle/>
          <a:p>
            <a:pPr algn="ctr" indent="0" marL="0">
              <a:buNone/>
            </a:pPr>
            <a:r>
              <a:rPr lang="en-US" sz="1300" b="1" dirty="0">
                <a:solidFill>
                  <a:srgbClr val="EF4444"/>
                </a:solidFill>
              </a:rPr>
              <a:t>3️⃣ 암묵적 Deny (기본값) → 거부</a:t>
            </a:r>
            <a:endParaRPr lang="en-US" sz="1300" dirty="0"/>
          </a:p>
        </p:txBody>
      </p:sp>
      <p:sp>
        <p:nvSpPr>
          <p:cNvPr id="14" name="Text 12"/>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흔한 실수와 해결책</a:t>
            </a:r>
            <a:endParaRPr lang="en-US" sz="3200" dirty="0"/>
          </a:p>
        </p:txBody>
      </p:sp>
      <p:sp>
        <p:nvSpPr>
          <p:cNvPr id="3" name="Shape 1"/>
          <p:cNvSpPr/>
          <p:nvPr/>
        </p:nvSpPr>
        <p:spPr>
          <a:xfrm>
            <a:off x="457200" y="1234440"/>
            <a:ext cx="8229600" cy="640080"/>
          </a:xfrm>
          <a:prstGeom prst="roundRect">
            <a:avLst/>
          </a:prstGeom>
          <a:solidFill>
            <a:srgbClr val="F1F5F9"/>
          </a:solidFill>
          <a:ln/>
        </p:spPr>
      </p:sp>
      <p:sp>
        <p:nvSpPr>
          <p:cNvPr id="4" name="Text 2"/>
          <p:cNvSpPr/>
          <p:nvPr/>
        </p:nvSpPr>
        <p:spPr>
          <a:xfrm>
            <a:off x="640080" y="1325880"/>
            <a:ext cx="3474720" cy="457200"/>
          </a:xfrm>
          <a:prstGeom prst="rect">
            <a:avLst/>
          </a:prstGeom>
          <a:noFill/>
          <a:ln/>
        </p:spPr>
        <p:txBody>
          <a:bodyPr wrap="square" rtlCol="0" anchor="ctr"/>
          <a:lstStyle/>
          <a:p>
            <a:pPr indent="0" marL="0">
              <a:buNone/>
            </a:pPr>
            <a:r>
              <a:rPr lang="en-US" sz="1300" b="1" dirty="0">
                <a:solidFill>
                  <a:srgbClr val="1E293B"/>
                </a:solidFill>
              </a:rPr>
              <a:t>❌ Resource에 * 누락</a:t>
            </a:r>
            <a:endParaRPr lang="en-US" sz="1300" dirty="0"/>
          </a:p>
        </p:txBody>
      </p:sp>
      <p:sp>
        <p:nvSpPr>
          <p:cNvPr id="5" name="Text 3"/>
          <p:cNvSpPr/>
          <p:nvPr/>
        </p:nvSpPr>
        <p:spPr>
          <a:xfrm>
            <a:off x="4114800" y="1325880"/>
            <a:ext cx="4389120" cy="457200"/>
          </a:xfrm>
          <a:prstGeom prst="rect">
            <a:avLst/>
          </a:prstGeom>
          <a:noFill/>
          <a:ln/>
        </p:spPr>
        <p:txBody>
          <a:bodyPr wrap="square" rtlCol="0" anchor="ctr"/>
          <a:lstStyle/>
          <a:p>
            <a:pPr indent="0" marL="0">
              <a:buNone/>
            </a:pPr>
            <a:r>
              <a:rPr lang="en-US" sz="1300" dirty="0">
                <a:solidFill>
                  <a:srgbClr val="334155"/>
                </a:solidFill>
              </a:rPr>
              <a:t>→ 서비스별 필수 Resource 확인</a:t>
            </a:r>
            <a:endParaRPr lang="en-US" sz="1300" dirty="0"/>
          </a:p>
        </p:txBody>
      </p:sp>
      <p:sp>
        <p:nvSpPr>
          <p:cNvPr id="6" name="Shape 4"/>
          <p:cNvSpPr/>
          <p:nvPr/>
        </p:nvSpPr>
        <p:spPr>
          <a:xfrm>
            <a:off x="457200" y="1947672"/>
            <a:ext cx="8229600" cy="640080"/>
          </a:xfrm>
          <a:prstGeom prst="roundRect">
            <a:avLst/>
          </a:prstGeom>
          <a:solidFill>
            <a:srgbClr val="F1F5F9"/>
          </a:solidFill>
          <a:ln/>
        </p:spPr>
      </p:sp>
      <p:sp>
        <p:nvSpPr>
          <p:cNvPr id="7" name="Text 5"/>
          <p:cNvSpPr/>
          <p:nvPr/>
        </p:nvSpPr>
        <p:spPr>
          <a:xfrm>
            <a:off x="640080" y="2039112"/>
            <a:ext cx="3474720" cy="457200"/>
          </a:xfrm>
          <a:prstGeom prst="rect">
            <a:avLst/>
          </a:prstGeom>
          <a:noFill/>
          <a:ln/>
        </p:spPr>
        <p:txBody>
          <a:bodyPr wrap="square" rtlCol="0" anchor="ctr"/>
          <a:lstStyle/>
          <a:p>
            <a:pPr indent="0" marL="0">
              <a:buNone/>
            </a:pPr>
            <a:r>
              <a:rPr lang="en-US" sz="1300" b="1" dirty="0">
                <a:solidFill>
                  <a:srgbClr val="1E293B"/>
                </a:solidFill>
              </a:rPr>
              <a:t>❌ NotAction 오용</a:t>
            </a:r>
            <a:endParaRPr lang="en-US" sz="1300" dirty="0"/>
          </a:p>
        </p:txBody>
      </p:sp>
      <p:sp>
        <p:nvSpPr>
          <p:cNvPr id="8" name="Text 6"/>
          <p:cNvSpPr/>
          <p:nvPr/>
        </p:nvSpPr>
        <p:spPr>
          <a:xfrm>
            <a:off x="4114800" y="2039112"/>
            <a:ext cx="4389120" cy="457200"/>
          </a:xfrm>
          <a:prstGeom prst="rect">
            <a:avLst/>
          </a:prstGeom>
          <a:noFill/>
          <a:ln/>
        </p:spPr>
        <p:txBody>
          <a:bodyPr wrap="square" rtlCol="0" anchor="ctr"/>
          <a:lstStyle/>
          <a:p>
            <a:pPr indent="0" marL="0">
              <a:buNone/>
            </a:pPr>
            <a:r>
              <a:rPr lang="en-US" sz="1300" dirty="0">
                <a:solidFill>
                  <a:srgbClr val="334155"/>
                </a:solidFill>
              </a:rPr>
              <a:t>→ Allow+NotAction 조합 주의</a:t>
            </a:r>
            <a:endParaRPr lang="en-US" sz="1300" dirty="0"/>
          </a:p>
        </p:txBody>
      </p:sp>
      <p:sp>
        <p:nvSpPr>
          <p:cNvPr id="9" name="Shape 7"/>
          <p:cNvSpPr/>
          <p:nvPr/>
        </p:nvSpPr>
        <p:spPr>
          <a:xfrm>
            <a:off x="457200" y="2660904"/>
            <a:ext cx="8229600" cy="640080"/>
          </a:xfrm>
          <a:prstGeom prst="roundRect">
            <a:avLst/>
          </a:prstGeom>
          <a:solidFill>
            <a:srgbClr val="F1F5F9"/>
          </a:solidFill>
          <a:ln/>
        </p:spPr>
      </p:sp>
      <p:sp>
        <p:nvSpPr>
          <p:cNvPr id="10" name="Text 8"/>
          <p:cNvSpPr/>
          <p:nvPr/>
        </p:nvSpPr>
        <p:spPr>
          <a:xfrm>
            <a:off x="640080" y="2752344"/>
            <a:ext cx="3474720" cy="457200"/>
          </a:xfrm>
          <a:prstGeom prst="rect">
            <a:avLst/>
          </a:prstGeom>
          <a:noFill/>
          <a:ln/>
        </p:spPr>
        <p:txBody>
          <a:bodyPr wrap="square" rtlCol="0" anchor="ctr"/>
          <a:lstStyle/>
          <a:p>
            <a:pPr indent="0" marL="0">
              <a:buNone/>
            </a:pPr>
            <a:r>
              <a:rPr lang="en-US" sz="1300" b="1" dirty="0">
                <a:solidFill>
                  <a:srgbClr val="1E293B"/>
                </a:solidFill>
              </a:rPr>
              <a:t>❌ 조건키 오타</a:t>
            </a:r>
            <a:endParaRPr lang="en-US" sz="1300" dirty="0"/>
          </a:p>
        </p:txBody>
      </p:sp>
      <p:sp>
        <p:nvSpPr>
          <p:cNvPr id="11" name="Text 9"/>
          <p:cNvSpPr/>
          <p:nvPr/>
        </p:nvSpPr>
        <p:spPr>
          <a:xfrm>
            <a:off x="4114800" y="2752344"/>
            <a:ext cx="4389120" cy="457200"/>
          </a:xfrm>
          <a:prstGeom prst="rect">
            <a:avLst/>
          </a:prstGeom>
          <a:noFill/>
          <a:ln/>
        </p:spPr>
        <p:txBody>
          <a:bodyPr wrap="square" rtlCol="0" anchor="ctr"/>
          <a:lstStyle/>
          <a:p>
            <a:pPr indent="0" marL="0">
              <a:buNone/>
            </a:pPr>
            <a:r>
              <a:rPr lang="en-US" sz="1300" dirty="0">
                <a:solidFill>
                  <a:srgbClr val="334155"/>
                </a:solidFill>
              </a:rPr>
              <a:t>→ AWS 문서에서 정확한 키 확인</a:t>
            </a:r>
            <a:endParaRPr lang="en-US" sz="1300" dirty="0"/>
          </a:p>
        </p:txBody>
      </p:sp>
      <p:sp>
        <p:nvSpPr>
          <p:cNvPr id="12" name="Shape 10"/>
          <p:cNvSpPr/>
          <p:nvPr/>
        </p:nvSpPr>
        <p:spPr>
          <a:xfrm>
            <a:off x="457200" y="3374136"/>
            <a:ext cx="8229600" cy="640080"/>
          </a:xfrm>
          <a:prstGeom prst="roundRect">
            <a:avLst/>
          </a:prstGeom>
          <a:solidFill>
            <a:srgbClr val="F1F5F9"/>
          </a:solidFill>
          <a:ln/>
        </p:spPr>
      </p:sp>
      <p:sp>
        <p:nvSpPr>
          <p:cNvPr id="13" name="Text 11"/>
          <p:cNvSpPr/>
          <p:nvPr/>
        </p:nvSpPr>
        <p:spPr>
          <a:xfrm>
            <a:off x="640080" y="3465576"/>
            <a:ext cx="3474720" cy="457200"/>
          </a:xfrm>
          <a:prstGeom prst="rect">
            <a:avLst/>
          </a:prstGeom>
          <a:noFill/>
          <a:ln/>
        </p:spPr>
        <p:txBody>
          <a:bodyPr wrap="square" rtlCol="0" anchor="ctr"/>
          <a:lstStyle/>
          <a:p>
            <a:pPr indent="0" marL="0">
              <a:buNone/>
            </a:pPr>
            <a:r>
              <a:rPr lang="en-US" sz="1300" b="1" dirty="0">
                <a:solidFill>
                  <a:srgbClr val="1E293B"/>
                </a:solidFill>
              </a:rPr>
              <a:t>❌ 정책 크기 초과</a:t>
            </a:r>
            <a:endParaRPr lang="en-US" sz="1300" dirty="0"/>
          </a:p>
        </p:txBody>
      </p:sp>
      <p:sp>
        <p:nvSpPr>
          <p:cNvPr id="14" name="Text 12"/>
          <p:cNvSpPr/>
          <p:nvPr/>
        </p:nvSpPr>
        <p:spPr>
          <a:xfrm>
            <a:off x="4114800" y="3465576"/>
            <a:ext cx="4389120" cy="457200"/>
          </a:xfrm>
          <a:prstGeom prst="rect">
            <a:avLst/>
          </a:prstGeom>
          <a:noFill/>
          <a:ln/>
        </p:spPr>
        <p:txBody>
          <a:bodyPr wrap="square" rtlCol="0" anchor="ctr"/>
          <a:lstStyle/>
          <a:p>
            <a:pPr indent="0" marL="0">
              <a:buNone/>
            </a:pPr>
            <a:r>
              <a:rPr lang="en-US" sz="1300" dirty="0">
                <a:solidFill>
                  <a:srgbClr val="334155"/>
                </a:solidFill>
              </a:rPr>
              <a:t>→ 6,144자 제한, 정책 분리 필요</a:t>
            </a:r>
            <a:endParaRPr lang="en-US" sz="1300" dirty="0"/>
          </a:p>
        </p:txBody>
      </p:sp>
      <p:sp>
        <p:nvSpPr>
          <p:cNvPr id="15" name="Shape 13"/>
          <p:cNvSpPr/>
          <p:nvPr/>
        </p:nvSpPr>
        <p:spPr>
          <a:xfrm>
            <a:off x="457200" y="4087368"/>
            <a:ext cx="8229600" cy="640080"/>
          </a:xfrm>
          <a:prstGeom prst="roundRect">
            <a:avLst/>
          </a:prstGeom>
          <a:solidFill>
            <a:srgbClr val="FEE2E2"/>
          </a:solidFill>
          <a:ln/>
        </p:spPr>
      </p:sp>
      <p:sp>
        <p:nvSpPr>
          <p:cNvPr id="16" name="Text 14"/>
          <p:cNvSpPr/>
          <p:nvPr/>
        </p:nvSpPr>
        <p:spPr>
          <a:xfrm>
            <a:off x="640080" y="4178808"/>
            <a:ext cx="3474720" cy="457200"/>
          </a:xfrm>
          <a:prstGeom prst="rect">
            <a:avLst/>
          </a:prstGeom>
          <a:noFill/>
          <a:ln/>
        </p:spPr>
        <p:txBody>
          <a:bodyPr wrap="square" rtlCol="0" anchor="ctr"/>
          <a:lstStyle/>
          <a:p>
            <a:pPr indent="0" marL="0">
              <a:buNone/>
            </a:pPr>
            <a:r>
              <a:rPr lang="en-US" sz="1300" b="1" dirty="0">
                <a:solidFill>
                  <a:srgbClr val="EF4444"/>
                </a:solidFill>
              </a:rPr>
              <a:t>❌ 지원 안 되는 조건키</a:t>
            </a:r>
            <a:endParaRPr lang="en-US" sz="1300" dirty="0"/>
          </a:p>
        </p:txBody>
      </p:sp>
      <p:sp>
        <p:nvSpPr>
          <p:cNvPr id="17" name="Text 15"/>
          <p:cNvSpPr/>
          <p:nvPr/>
        </p:nvSpPr>
        <p:spPr>
          <a:xfrm>
            <a:off x="4114800" y="4178808"/>
            <a:ext cx="4389120" cy="457200"/>
          </a:xfrm>
          <a:prstGeom prst="rect">
            <a:avLst/>
          </a:prstGeom>
          <a:noFill/>
          <a:ln/>
        </p:spPr>
        <p:txBody>
          <a:bodyPr wrap="square" rtlCol="0" anchor="ctr"/>
          <a:lstStyle/>
          <a:p>
            <a:pPr indent="0" marL="0">
              <a:buNone/>
            </a:pPr>
            <a:r>
              <a:rPr lang="en-US" sz="1300" dirty="0">
                <a:solidFill>
                  <a:srgbClr val="334155"/>
                </a:solidFill>
              </a:rPr>
              <a:t>→ 조건이 무시되어 의도치 않은 허용!</a:t>
            </a:r>
            <a:endParaRPr lang="en-US" sz="1300" dirty="0"/>
          </a:p>
        </p:txBody>
      </p:sp>
      <p:sp>
        <p:nvSpPr>
          <p:cNvPr id="18" name="Text 16"/>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7200" b="1" dirty="0">
                <a:solidFill>
                  <a:srgbClr val="FFFFFF"/>
                </a:solidFill>
              </a:rPr>
              <a:t>05</a:t>
            </a:r>
            <a:endParaRPr lang="en-US" sz="7200" dirty="0"/>
          </a:p>
        </p:txBody>
      </p:sp>
      <p:sp>
        <p:nvSpPr>
          <p:cNvPr id="3" name="Text 1"/>
          <p:cNvSpPr/>
          <p:nvPr/>
        </p:nvSpPr>
        <p:spPr>
          <a:xfrm>
            <a:off x="457200" y="2560320"/>
            <a:ext cx="8229600" cy="640080"/>
          </a:xfrm>
          <a:prstGeom prst="rect">
            <a:avLst/>
          </a:prstGeom>
          <a:noFill/>
          <a:ln/>
        </p:spPr>
        <p:txBody>
          <a:bodyPr wrap="square" rtlCol="0" anchor="ctr"/>
          <a:lstStyle/>
          <a:p>
            <a:pPr algn="ctr" indent="0" marL="0">
              <a:buNone/>
            </a:pPr>
            <a:r>
              <a:rPr lang="en-US" sz="4000" b="1" dirty="0">
                <a:solidFill>
                  <a:srgbClr val="FFFFFF"/>
                </a:solidFill>
              </a:rPr>
              <a:t>자주 묻는 질문 (FAQ)</a:t>
            </a:r>
            <a:endParaRPr lang="en-US" sz="4000" dirty="0"/>
          </a:p>
        </p:txBody>
      </p:sp>
      <p:sp>
        <p:nvSpPr>
          <p:cNvPr id="4" name="Text 2"/>
          <p:cNvSpPr/>
          <p:nvPr/>
        </p:nvSpPr>
        <p:spPr>
          <a:xfrm>
            <a:off x="457200" y="3200400"/>
            <a:ext cx="8229600" cy="365760"/>
          </a:xfrm>
          <a:prstGeom prst="rect">
            <a:avLst/>
          </a:prstGeom>
          <a:noFill/>
          <a:ln/>
        </p:spPr>
        <p:txBody>
          <a:bodyPr wrap="square" rtlCol="0" anchor="ctr"/>
          <a:lstStyle/>
          <a:p>
            <a:pPr algn="ctr" indent="0" marL="0">
              <a:buNone/>
            </a:pPr>
            <a:r>
              <a:rPr lang="en-US" sz="1800" dirty="0">
                <a:solidFill>
                  <a:srgbClr val="94A3B8"/>
                </a:solidFill>
              </a:rPr>
              <a:t>실무에서 자주 발생하는 의문점 해결</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Q: Allow+NotAction vs Deny+Action?</a:t>
            </a:r>
            <a:endParaRPr lang="en-US" sz="3200" dirty="0"/>
          </a:p>
        </p:txBody>
      </p:sp>
      <p:sp>
        <p:nvSpPr>
          <p:cNvPr id="3" name="Text 1"/>
          <p:cNvSpPr/>
          <p:nvPr/>
        </p:nvSpPr>
        <p:spPr>
          <a:xfrm>
            <a:off x="457200" y="804672"/>
            <a:ext cx="8229600" cy="292608"/>
          </a:xfrm>
          <a:prstGeom prst="rect">
            <a:avLst/>
          </a:prstGeom>
          <a:noFill/>
          <a:ln/>
        </p:spPr>
        <p:txBody>
          <a:bodyPr wrap="square" rtlCol="0" anchor="ctr"/>
          <a:lstStyle/>
          <a:p>
            <a:pPr indent="0" marL="0">
              <a:buNone/>
            </a:pPr>
            <a:r>
              <a:rPr lang="en-US" sz="1400" dirty="0">
                <a:solidFill>
                  <a:srgbClr val="64748B"/>
                </a:solidFill>
              </a:rPr>
              <a:t>Deny + Action이 항상 더 안전합니다</a:t>
            </a:r>
            <a:endParaRPr lang="en-US" sz="1400" dirty="0"/>
          </a:p>
        </p:txBody>
      </p:sp>
      <p:sp>
        <p:nvSpPr>
          <p:cNvPr id="4" name="Shape 2"/>
          <p:cNvSpPr/>
          <p:nvPr/>
        </p:nvSpPr>
        <p:spPr>
          <a:xfrm>
            <a:off x="457200" y="1234440"/>
            <a:ext cx="3931920" cy="411480"/>
          </a:xfrm>
          <a:prstGeom prst="rect">
            <a:avLst/>
          </a:prstGeom>
          <a:solidFill>
            <a:srgbClr val="F59E0B"/>
          </a:solidFill>
          <a:ln/>
        </p:spPr>
      </p:sp>
      <p:sp>
        <p:nvSpPr>
          <p:cNvPr id="5" name="Text 3"/>
          <p:cNvSpPr/>
          <p:nvPr/>
        </p:nvSpPr>
        <p:spPr>
          <a:xfrm>
            <a:off x="457200" y="1234440"/>
            <a:ext cx="3931920" cy="411480"/>
          </a:xfrm>
          <a:prstGeom prst="rect">
            <a:avLst/>
          </a:prstGeom>
          <a:noFill/>
          <a:ln/>
        </p:spPr>
        <p:txBody>
          <a:bodyPr wrap="square" rtlCol="0" anchor="ctr"/>
          <a:lstStyle/>
          <a:p>
            <a:pPr algn="ctr" indent="0" marL="0">
              <a:buNone/>
            </a:pPr>
            <a:r>
              <a:rPr lang="en-US" sz="1300" b="1" dirty="0">
                <a:solidFill>
                  <a:srgbClr val="FFFFFF"/>
                </a:solidFill>
              </a:rPr>
              <a:t>Allow + NotAction</a:t>
            </a:r>
            <a:endParaRPr lang="en-US" sz="1300" dirty="0"/>
          </a:p>
        </p:txBody>
      </p:sp>
      <p:sp>
        <p:nvSpPr>
          <p:cNvPr id="6" name="Shape 4"/>
          <p:cNvSpPr/>
          <p:nvPr/>
        </p:nvSpPr>
        <p:spPr>
          <a:xfrm>
            <a:off x="4754880" y="1234440"/>
            <a:ext cx="3931920" cy="411480"/>
          </a:xfrm>
          <a:prstGeom prst="rect">
            <a:avLst/>
          </a:prstGeom>
          <a:solidFill>
            <a:srgbClr val="22C55E"/>
          </a:solidFill>
          <a:ln/>
        </p:spPr>
      </p:sp>
      <p:sp>
        <p:nvSpPr>
          <p:cNvPr id="7" name="Text 5"/>
          <p:cNvSpPr/>
          <p:nvPr/>
        </p:nvSpPr>
        <p:spPr>
          <a:xfrm>
            <a:off x="4754880" y="1234440"/>
            <a:ext cx="3931920" cy="411480"/>
          </a:xfrm>
          <a:prstGeom prst="rect">
            <a:avLst/>
          </a:prstGeom>
          <a:noFill/>
          <a:ln/>
        </p:spPr>
        <p:txBody>
          <a:bodyPr wrap="square" rtlCol="0" anchor="ctr"/>
          <a:lstStyle/>
          <a:p>
            <a:pPr algn="ctr" indent="0" marL="0">
              <a:buNone/>
            </a:pPr>
            <a:r>
              <a:rPr lang="en-US" sz="1300" b="1" dirty="0">
                <a:solidFill>
                  <a:srgbClr val="FFFFFF"/>
                </a:solidFill>
              </a:rPr>
              <a:t>Deny + Action ✓</a:t>
            </a:r>
            <a:endParaRPr lang="en-US" sz="1300" dirty="0"/>
          </a:p>
        </p:txBody>
      </p:sp>
      <p:sp>
        <p:nvSpPr>
          <p:cNvPr id="8" name="Shape 6"/>
          <p:cNvSpPr/>
          <p:nvPr/>
        </p:nvSpPr>
        <p:spPr>
          <a:xfrm>
            <a:off x="457200" y="1691640"/>
            <a:ext cx="3931920" cy="1371600"/>
          </a:xfrm>
          <a:prstGeom prst="roundRect">
            <a:avLst/>
          </a:prstGeom>
          <a:solidFill>
            <a:srgbClr val="FEF3C7"/>
          </a:solidFill>
          <a:ln/>
        </p:spPr>
      </p:sp>
      <p:sp>
        <p:nvSpPr>
          <p:cNvPr id="9" name="Text 7"/>
          <p:cNvSpPr/>
          <p:nvPr/>
        </p:nvSpPr>
        <p:spPr>
          <a:xfrm>
            <a:off x="640080" y="1828800"/>
            <a:ext cx="3566160" cy="1188720"/>
          </a:xfrm>
          <a:prstGeom prst="rect">
            <a:avLst/>
          </a:prstGeom>
          <a:noFill/>
          <a:ln/>
        </p:spPr>
        <p:txBody>
          <a:bodyPr wrap="square" rtlCol="0" anchor="ctr"/>
          <a:lstStyle/>
          <a:p>
            <a:pPr indent="0" marL="0">
              <a:buNone/>
            </a:pPr>
            <a:r>
              <a:rPr lang="en-US" sz="1200" dirty="0">
                <a:solidFill>
                  <a:srgbClr val="334155"/>
                </a:solidFill>
              </a:rPr>
              <a:t>지정한 Action 외 모두 허용</a:t>
            </a:r>
            <a:endParaRPr lang="en-US" sz="1200" dirty="0"/>
          </a:p>
          <a:p>
            <a:pPr indent="0" marL="0">
              <a:buNone/>
            </a:pPr>
            <a:endParaRPr lang="en-US" sz="1200" dirty="0"/>
          </a:p>
          <a:p>
            <a:pPr indent="0" marL="0">
              <a:buNone/>
            </a:pPr>
            <a:r>
              <a:rPr lang="en-US" sz="1200" dirty="0">
                <a:solidFill>
                  <a:srgbClr val="334155"/>
                </a:solidFill>
              </a:rPr>
              <a:t>신규 서비스 추가 시</a:t>
            </a:r>
            <a:endParaRPr lang="en-US" sz="1200" dirty="0"/>
          </a:p>
          <a:p>
            <a:pPr indent="0" marL="0">
              <a:buNone/>
            </a:pPr>
            <a:r>
              <a:rPr lang="en-US" sz="1200" dirty="0">
                <a:solidFill>
                  <a:srgbClr val="334155"/>
                </a:solidFill>
              </a:rPr>
              <a:t>→ 자동 허용 ⚠️</a:t>
            </a:r>
            <a:endParaRPr lang="en-US" sz="1200" dirty="0"/>
          </a:p>
        </p:txBody>
      </p:sp>
      <p:sp>
        <p:nvSpPr>
          <p:cNvPr id="10" name="Shape 8"/>
          <p:cNvSpPr/>
          <p:nvPr/>
        </p:nvSpPr>
        <p:spPr>
          <a:xfrm>
            <a:off x="4754880" y="1691640"/>
            <a:ext cx="3931920" cy="1371600"/>
          </a:xfrm>
          <a:prstGeom prst="roundRect">
            <a:avLst/>
          </a:prstGeom>
          <a:solidFill>
            <a:srgbClr val="D1FAE5"/>
          </a:solidFill>
          <a:ln/>
        </p:spPr>
      </p:sp>
      <p:sp>
        <p:nvSpPr>
          <p:cNvPr id="11" name="Text 9"/>
          <p:cNvSpPr/>
          <p:nvPr/>
        </p:nvSpPr>
        <p:spPr>
          <a:xfrm>
            <a:off x="4937760" y="1828800"/>
            <a:ext cx="3566160" cy="1188720"/>
          </a:xfrm>
          <a:prstGeom prst="rect">
            <a:avLst/>
          </a:prstGeom>
          <a:noFill/>
          <a:ln/>
        </p:spPr>
        <p:txBody>
          <a:bodyPr wrap="square" rtlCol="0" anchor="ctr"/>
          <a:lstStyle/>
          <a:p>
            <a:pPr indent="0" marL="0">
              <a:buNone/>
            </a:pPr>
            <a:r>
              <a:rPr lang="en-US" sz="1200" dirty="0">
                <a:solidFill>
                  <a:srgbClr val="334155"/>
                </a:solidFill>
              </a:rPr>
              <a:t>지정한 Action만 거부</a:t>
            </a:r>
            <a:endParaRPr lang="en-US" sz="1200" dirty="0"/>
          </a:p>
          <a:p>
            <a:pPr indent="0" marL="0">
              <a:buNone/>
            </a:pPr>
            <a:endParaRPr lang="en-US" sz="1200" dirty="0"/>
          </a:p>
          <a:p>
            <a:pPr indent="0" marL="0">
              <a:buNone/>
            </a:pPr>
            <a:r>
              <a:rPr lang="en-US" sz="1200" dirty="0">
                <a:solidFill>
                  <a:srgbClr val="334155"/>
                </a:solidFill>
              </a:rPr>
              <a:t>신규 서비스 추가 시</a:t>
            </a:r>
            <a:endParaRPr lang="en-US" sz="1200" dirty="0"/>
          </a:p>
          <a:p>
            <a:pPr indent="0" marL="0">
              <a:buNone/>
            </a:pPr>
            <a:r>
              <a:rPr lang="en-US" sz="1200" dirty="0">
                <a:solidFill>
                  <a:srgbClr val="334155"/>
                </a:solidFill>
              </a:rPr>
              <a:t>→ 영향 없음 ✅</a:t>
            </a:r>
            <a:endParaRPr lang="en-US" sz="1200" dirty="0"/>
          </a:p>
        </p:txBody>
      </p:sp>
      <p:sp>
        <p:nvSpPr>
          <p:cNvPr id="12" name="Shape 10"/>
          <p:cNvSpPr/>
          <p:nvPr/>
        </p:nvSpPr>
        <p:spPr>
          <a:xfrm>
            <a:off x="457200" y="3200400"/>
            <a:ext cx="8229600" cy="1280160"/>
          </a:xfrm>
          <a:prstGeom prst="roundRect">
            <a:avLst/>
          </a:prstGeom>
          <a:solidFill>
            <a:srgbClr val="F1F5F9"/>
          </a:solidFill>
          <a:ln/>
        </p:spPr>
      </p:sp>
      <p:sp>
        <p:nvSpPr>
          <p:cNvPr id="13" name="Text 11"/>
          <p:cNvSpPr/>
          <p:nvPr/>
        </p:nvSpPr>
        <p:spPr>
          <a:xfrm>
            <a:off x="640080" y="3291840"/>
            <a:ext cx="7863840" cy="1097280"/>
          </a:xfrm>
          <a:prstGeom prst="rect">
            <a:avLst/>
          </a:prstGeom>
          <a:noFill/>
          <a:ln/>
        </p:spPr>
        <p:txBody>
          <a:bodyPr wrap="square"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 ⚠️ 신규 서비스 자동 허용</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"Effect": "Allow", "NotAction": ["iam:*"], "Resource": "*" }</a:t>
            </a:r>
            <a:endParaRPr lang="en-US" sz="1000" dirty="0"/>
          </a:p>
          <a:p>
            <a:pPr indent="0" marL="0">
              <a:buNone/>
            </a:pP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 명시적 거부만</a:t>
            </a:r>
            <a:endParaRPr lang="en-US" sz="1000" dirty="0"/>
          </a:p>
          <a:p>
            <a:pPr indent="0" marL="0">
              <a:buNone/>
            </a:pPr>
            <a:r>
              <a:rPr lang="en-US" sz="1000" dirty="0">
                <a:solidFill>
                  <a:srgbClr val="334155"/>
                </a:solidFill>
                <a:latin typeface="Courier New" pitchFamily="34" charset="0"/>
                <a:ea typeface="Courier New" pitchFamily="34" charset="-122"/>
                <a:cs typeface="Courier New" pitchFamily="34" charset="-120"/>
              </a:rPr>
              <a:t>{ "Effect": "Deny", "Action": ["iam:*"], "Resource": "*" }</a:t>
            </a:r>
            <a:endParaRPr lang="en-US" sz="1000" dirty="0"/>
          </a:p>
        </p:txBody>
      </p:sp>
      <p:sp>
        <p:nvSpPr>
          <p:cNvPr id="14" name="Text 12"/>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2600" b="1" dirty="0">
                <a:solidFill>
                  <a:srgbClr val="38BDF8"/>
                </a:solidFill>
              </a:rPr>
              <a:t>🛡️ 정책 작성 전 체크리스트</a:t>
            </a:r>
            <a:endParaRPr lang="en-US" sz="2600" dirty="0"/>
          </a:p>
        </p:txBody>
      </p:sp>
      <p:sp>
        <p:nvSpPr>
          <p:cNvPr id="3" name="Text 1"/>
          <p:cNvSpPr/>
          <p:nvPr/>
        </p:nvSpPr>
        <p:spPr>
          <a:xfrm>
            <a:off x="457200" y="114300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4" name="Text 2"/>
          <p:cNvSpPr/>
          <p:nvPr/>
        </p:nvSpPr>
        <p:spPr>
          <a:xfrm>
            <a:off x="914400" y="1143000"/>
            <a:ext cx="7772400" cy="457200"/>
          </a:xfrm>
          <a:prstGeom prst="rect">
            <a:avLst/>
          </a:prstGeom>
          <a:noFill/>
          <a:ln/>
        </p:spPr>
        <p:txBody>
          <a:bodyPr wrap="square" rtlCol="0" anchor="ctr"/>
          <a:lstStyle/>
          <a:p>
            <a:pPr indent="0" marL="0">
              <a:buNone/>
            </a:pPr>
            <a:r>
              <a:rPr lang="en-US" sz="1400" dirty="0">
                <a:solidFill>
                  <a:srgbClr val="FFFFFF"/>
                </a:solidFill>
              </a:rPr>
              <a:t>조건키가 해당 Action에서 지원되는지 공식 문서에서 확인했는가?</a:t>
            </a:r>
            <a:endParaRPr lang="en-US" sz="1400" dirty="0"/>
          </a:p>
        </p:txBody>
      </p:sp>
      <p:sp>
        <p:nvSpPr>
          <p:cNvPr id="5" name="Text 3"/>
          <p:cNvSpPr/>
          <p:nvPr/>
        </p:nvSpPr>
        <p:spPr>
          <a:xfrm>
            <a:off x="457200" y="173736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6" name="Text 4"/>
          <p:cNvSpPr/>
          <p:nvPr/>
        </p:nvSpPr>
        <p:spPr>
          <a:xfrm>
            <a:off x="914400" y="1737360"/>
            <a:ext cx="7772400" cy="457200"/>
          </a:xfrm>
          <a:prstGeom prst="rect">
            <a:avLst/>
          </a:prstGeom>
          <a:noFill/>
          <a:ln/>
        </p:spPr>
        <p:txBody>
          <a:bodyPr wrap="square" rtlCol="0" anchor="ctr"/>
          <a:lstStyle/>
          <a:p>
            <a:pPr indent="0" marL="0">
              <a:buNone/>
            </a:pPr>
            <a:r>
              <a:rPr lang="en-US" sz="1400" dirty="0">
                <a:solidFill>
                  <a:srgbClr val="FFFFFF"/>
                </a:solidFill>
              </a:rPr>
              <a:t>Allow + NotAction 대신 Deny + Action을 사용할 수 있는지 검토했는가?</a:t>
            </a:r>
            <a:endParaRPr lang="en-US" sz="1400" dirty="0"/>
          </a:p>
        </p:txBody>
      </p:sp>
      <p:sp>
        <p:nvSpPr>
          <p:cNvPr id="7" name="Text 5"/>
          <p:cNvSpPr/>
          <p:nvPr/>
        </p:nvSpPr>
        <p:spPr>
          <a:xfrm>
            <a:off x="457200" y="233172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8" name="Text 6"/>
          <p:cNvSpPr/>
          <p:nvPr/>
        </p:nvSpPr>
        <p:spPr>
          <a:xfrm>
            <a:off x="914400" y="2331720"/>
            <a:ext cx="7772400" cy="457200"/>
          </a:xfrm>
          <a:prstGeom prst="rect">
            <a:avLst/>
          </a:prstGeom>
          <a:noFill/>
          <a:ln/>
        </p:spPr>
        <p:txBody>
          <a:bodyPr wrap="square" rtlCol="0" anchor="ctr"/>
          <a:lstStyle/>
          <a:p>
            <a:pPr indent="0" marL="0">
              <a:buNone/>
            </a:pPr>
            <a:r>
              <a:rPr lang="en-US" sz="1400" dirty="0">
                <a:solidFill>
                  <a:srgbClr val="FFFFFF"/>
                </a:solidFill>
              </a:rPr>
              <a:t>리소스의 "현재 상태" vs "변경하려는 값" 제어가 명확한가?</a:t>
            </a:r>
            <a:endParaRPr lang="en-US" sz="1400" dirty="0"/>
          </a:p>
        </p:txBody>
      </p:sp>
      <p:sp>
        <p:nvSpPr>
          <p:cNvPr id="9" name="Text 7"/>
          <p:cNvSpPr/>
          <p:nvPr/>
        </p:nvSpPr>
        <p:spPr>
          <a:xfrm>
            <a:off x="457200" y="292608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10" name="Text 8"/>
          <p:cNvSpPr/>
          <p:nvPr/>
        </p:nvSpPr>
        <p:spPr>
          <a:xfrm>
            <a:off x="914400" y="2926080"/>
            <a:ext cx="7772400" cy="457200"/>
          </a:xfrm>
          <a:prstGeom prst="rect">
            <a:avLst/>
          </a:prstGeom>
          <a:noFill/>
          <a:ln/>
        </p:spPr>
        <p:txBody>
          <a:bodyPr wrap="square" rtlCol="0" anchor="ctr"/>
          <a:lstStyle/>
          <a:p>
            <a:pPr indent="0" marL="0">
              <a:buNone/>
            </a:pPr>
            <a:r>
              <a:rPr lang="en-US" sz="1400" dirty="0">
                <a:solidFill>
                  <a:srgbClr val="FFFFFF"/>
                </a:solidFill>
              </a:rPr>
              <a:t>ForAnyValue/ForAllValues가 필요한 다중 값 조건키인지 확인했는가?</a:t>
            </a:r>
            <a:endParaRPr lang="en-US" sz="1400" dirty="0"/>
          </a:p>
        </p:txBody>
      </p:sp>
      <p:sp>
        <p:nvSpPr>
          <p:cNvPr id="11" name="Text 9"/>
          <p:cNvSpPr/>
          <p:nvPr/>
        </p:nvSpPr>
        <p:spPr>
          <a:xfrm>
            <a:off x="457200" y="352044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12" name="Text 10"/>
          <p:cNvSpPr/>
          <p:nvPr/>
        </p:nvSpPr>
        <p:spPr>
          <a:xfrm>
            <a:off x="914400" y="3520440"/>
            <a:ext cx="7772400" cy="457200"/>
          </a:xfrm>
          <a:prstGeom prst="rect">
            <a:avLst/>
          </a:prstGeom>
          <a:noFill/>
          <a:ln/>
        </p:spPr>
        <p:txBody>
          <a:bodyPr wrap="square" rtlCol="0" anchor="ctr"/>
          <a:lstStyle/>
          <a:p>
            <a:pPr indent="0" marL="0">
              <a:buNone/>
            </a:pPr>
            <a:r>
              <a:rPr lang="en-US" sz="1400" dirty="0">
                <a:solidFill>
                  <a:srgbClr val="FFFFFF"/>
                </a:solidFill>
              </a:rPr>
              <a:t>PassRole이 필요한 작업인지 확인했는가?</a:t>
            </a:r>
            <a:endParaRPr lang="en-US" sz="1400" dirty="0"/>
          </a:p>
        </p:txBody>
      </p:sp>
      <p:sp>
        <p:nvSpPr>
          <p:cNvPr id="13" name="Text 11"/>
          <p:cNvSpPr/>
          <p:nvPr/>
        </p:nvSpPr>
        <p:spPr>
          <a:xfrm>
            <a:off x="457200" y="4114800"/>
            <a:ext cx="365760" cy="457200"/>
          </a:xfrm>
          <a:prstGeom prst="rect">
            <a:avLst/>
          </a:prstGeom>
          <a:noFill/>
          <a:ln/>
        </p:spPr>
        <p:txBody>
          <a:bodyPr wrap="square" rtlCol="0" anchor="ctr"/>
          <a:lstStyle/>
          <a:p>
            <a:pPr indent="0" marL="0">
              <a:buNone/>
            </a:pPr>
            <a:r>
              <a:rPr lang="en-US" sz="1600" dirty="0">
                <a:solidFill>
                  <a:srgbClr val="38BDF8"/>
                </a:solidFill>
              </a:rPr>
              <a:t>☐</a:t>
            </a:r>
            <a:endParaRPr lang="en-US" sz="1600" dirty="0"/>
          </a:p>
        </p:txBody>
      </p:sp>
      <p:sp>
        <p:nvSpPr>
          <p:cNvPr id="14" name="Text 12"/>
          <p:cNvSpPr/>
          <p:nvPr/>
        </p:nvSpPr>
        <p:spPr>
          <a:xfrm>
            <a:off x="914400" y="4114800"/>
            <a:ext cx="7772400" cy="457200"/>
          </a:xfrm>
          <a:prstGeom prst="rect">
            <a:avLst/>
          </a:prstGeom>
          <a:noFill/>
          <a:ln/>
        </p:spPr>
        <p:txBody>
          <a:bodyPr wrap="square" rtlCol="0" anchor="ctr"/>
          <a:lstStyle/>
          <a:p>
            <a:pPr indent="0" marL="0">
              <a:buNone/>
            </a:pPr>
            <a:r>
              <a:rPr lang="en-US" sz="1400" dirty="0">
                <a:solidFill>
                  <a:srgbClr val="FFFFFF"/>
                </a:solidFill>
              </a:rPr>
              <a:t>태그 기반 정책에서 Null 조건을 추가해야 하는지 검토했는가?</a:t>
            </a:r>
            <a:endParaRPr lang="en-US" sz="1400" dirty="0"/>
          </a:p>
        </p:txBody>
      </p:sp>
      <p:sp>
        <p:nvSpPr>
          <p:cNvPr id="15" name="Text 13"/>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64748B"/>
                </a:solidFill>
              </a:rPr>
              <a:t>AWS IAM Policy Management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3200" b="1" dirty="0">
                <a:solidFill>
                  <a:srgbClr val="1E293B"/>
                </a:solidFill>
              </a:rPr>
              <a:t>참고 자료</a:t>
            </a:r>
            <a:endParaRPr lang="en-US" sz="3200" dirty="0"/>
          </a:p>
        </p:txBody>
      </p:sp>
      <p:sp>
        <p:nvSpPr>
          <p:cNvPr id="3" name="Shape 1"/>
          <p:cNvSpPr/>
          <p:nvPr/>
        </p:nvSpPr>
        <p:spPr>
          <a:xfrm>
            <a:off x="457200" y="1280160"/>
            <a:ext cx="8229600" cy="685800"/>
          </a:xfrm>
          <a:prstGeom prst="roundRect">
            <a:avLst/>
          </a:prstGeom>
          <a:solidFill>
            <a:srgbClr val="DBEAFE"/>
          </a:solidFill>
          <a:ln/>
        </p:spPr>
      </p:sp>
      <p:sp>
        <p:nvSpPr>
          <p:cNvPr id="4" name="Text 2"/>
          <p:cNvSpPr/>
          <p:nvPr/>
        </p:nvSpPr>
        <p:spPr>
          <a:xfrm>
            <a:off x="640080" y="1371600"/>
            <a:ext cx="7863840" cy="320040"/>
          </a:xfrm>
          <a:prstGeom prst="rect">
            <a:avLst/>
          </a:prstGeom>
          <a:noFill/>
          <a:ln/>
        </p:spPr>
        <p:txBody>
          <a:bodyPr wrap="square" rtlCol="0" anchor="ctr"/>
          <a:lstStyle/>
          <a:p>
            <a:pPr indent="0" marL="0">
              <a:buNone/>
            </a:pPr>
            <a:r>
              <a:rPr lang="en-US" sz="1400" b="1" dirty="0">
                <a:solidFill>
                  <a:srgbClr val="2563EB"/>
                </a:solidFill>
              </a:rPr>
              <a:t>📚 IAM 글로벌 조건키 전체 목록</a:t>
            </a:r>
            <a:endParaRPr lang="en-US" sz="1400" dirty="0"/>
          </a:p>
        </p:txBody>
      </p:sp>
      <p:sp>
        <p:nvSpPr>
          <p:cNvPr id="5" name="Text 3"/>
          <p:cNvSpPr/>
          <p:nvPr/>
        </p:nvSpPr>
        <p:spPr>
          <a:xfrm>
            <a:off x="640080" y="1664208"/>
            <a:ext cx="7863840" cy="274320"/>
          </a:xfrm>
          <a:prstGeom prst="rect">
            <a:avLst/>
          </a:prstGeom>
          <a:noFill/>
          <a:ln/>
        </p:spPr>
        <p:txBody>
          <a:bodyPr wrap="square" rtlCol="0" anchor="ctr"/>
          <a:lstStyle/>
          <a:p>
            <a:pPr indent="0" marL="0">
              <a:buNone/>
            </a:pPr>
            <a:r>
              <a:rPr lang="en-US" sz="1200" dirty="0">
                <a:solidFill>
                  <a:srgbClr val="64748B"/>
                </a:solidFill>
              </a:rPr>
              <a:t>AWS IAM User Guide - Condition Keys</a:t>
            </a:r>
            <a:endParaRPr lang="en-US" sz="1200" dirty="0"/>
          </a:p>
        </p:txBody>
      </p:sp>
      <p:sp>
        <p:nvSpPr>
          <p:cNvPr id="6" name="Shape 4"/>
          <p:cNvSpPr/>
          <p:nvPr/>
        </p:nvSpPr>
        <p:spPr>
          <a:xfrm>
            <a:off x="457200" y="2057400"/>
            <a:ext cx="8229600" cy="685800"/>
          </a:xfrm>
          <a:prstGeom prst="roundRect">
            <a:avLst/>
          </a:prstGeom>
          <a:solidFill>
            <a:srgbClr val="DBEAFE"/>
          </a:solidFill>
          <a:ln/>
        </p:spPr>
      </p:sp>
      <p:sp>
        <p:nvSpPr>
          <p:cNvPr id="7" name="Text 5"/>
          <p:cNvSpPr/>
          <p:nvPr/>
        </p:nvSpPr>
        <p:spPr>
          <a:xfrm>
            <a:off x="640080" y="2148840"/>
            <a:ext cx="7863840" cy="320040"/>
          </a:xfrm>
          <a:prstGeom prst="rect">
            <a:avLst/>
          </a:prstGeom>
          <a:noFill/>
          <a:ln/>
        </p:spPr>
        <p:txBody>
          <a:bodyPr wrap="square" rtlCol="0" anchor="ctr"/>
          <a:lstStyle/>
          <a:p>
            <a:pPr indent="0" marL="0">
              <a:buNone/>
            </a:pPr>
            <a:r>
              <a:rPr lang="en-US" sz="1400" b="1" dirty="0">
                <a:solidFill>
                  <a:srgbClr val="2563EB"/>
                </a:solidFill>
              </a:rPr>
              <a:t>📚 서비스별 Actions, Resources, Condition Keys</a:t>
            </a:r>
            <a:endParaRPr lang="en-US" sz="1400" dirty="0"/>
          </a:p>
        </p:txBody>
      </p:sp>
      <p:sp>
        <p:nvSpPr>
          <p:cNvPr id="8" name="Text 6"/>
          <p:cNvSpPr/>
          <p:nvPr/>
        </p:nvSpPr>
        <p:spPr>
          <a:xfrm>
            <a:off x="640080" y="2441448"/>
            <a:ext cx="7863840" cy="274320"/>
          </a:xfrm>
          <a:prstGeom prst="rect">
            <a:avLst/>
          </a:prstGeom>
          <a:noFill/>
          <a:ln/>
        </p:spPr>
        <p:txBody>
          <a:bodyPr wrap="square" rtlCol="0" anchor="ctr"/>
          <a:lstStyle/>
          <a:p>
            <a:pPr indent="0" marL="0">
              <a:buNone/>
            </a:pPr>
            <a:r>
              <a:rPr lang="en-US" sz="1200" dirty="0">
                <a:solidFill>
                  <a:srgbClr val="64748B"/>
                </a:solidFill>
              </a:rPr>
              <a:t>Service Authorization Reference</a:t>
            </a:r>
            <a:endParaRPr lang="en-US" sz="1200" dirty="0"/>
          </a:p>
        </p:txBody>
      </p:sp>
      <p:sp>
        <p:nvSpPr>
          <p:cNvPr id="9" name="Shape 7"/>
          <p:cNvSpPr/>
          <p:nvPr/>
        </p:nvSpPr>
        <p:spPr>
          <a:xfrm>
            <a:off x="457200" y="2834640"/>
            <a:ext cx="8229600" cy="685800"/>
          </a:xfrm>
          <a:prstGeom prst="roundRect">
            <a:avLst/>
          </a:prstGeom>
          <a:solidFill>
            <a:srgbClr val="DBEAFE"/>
          </a:solidFill>
          <a:ln/>
        </p:spPr>
      </p:sp>
      <p:sp>
        <p:nvSpPr>
          <p:cNvPr id="10" name="Text 8"/>
          <p:cNvSpPr/>
          <p:nvPr/>
        </p:nvSpPr>
        <p:spPr>
          <a:xfrm>
            <a:off x="640080" y="2926080"/>
            <a:ext cx="7863840" cy="320040"/>
          </a:xfrm>
          <a:prstGeom prst="rect">
            <a:avLst/>
          </a:prstGeom>
          <a:noFill/>
          <a:ln/>
        </p:spPr>
        <p:txBody>
          <a:bodyPr wrap="square" rtlCol="0" anchor="ctr"/>
          <a:lstStyle/>
          <a:p>
            <a:pPr indent="0" marL="0">
              <a:buNone/>
            </a:pPr>
            <a:r>
              <a:rPr lang="en-US" sz="1400" b="1" dirty="0">
                <a:solidFill>
                  <a:srgbClr val="2563EB"/>
                </a:solidFill>
              </a:rPr>
              <a:t>📚 IAM Policy Simulator</a:t>
            </a:r>
            <a:endParaRPr lang="en-US" sz="1400" dirty="0"/>
          </a:p>
        </p:txBody>
      </p:sp>
      <p:sp>
        <p:nvSpPr>
          <p:cNvPr id="11" name="Text 9"/>
          <p:cNvSpPr/>
          <p:nvPr/>
        </p:nvSpPr>
        <p:spPr>
          <a:xfrm>
            <a:off x="640080" y="3218688"/>
            <a:ext cx="7863840" cy="274320"/>
          </a:xfrm>
          <a:prstGeom prst="rect">
            <a:avLst/>
          </a:prstGeom>
          <a:noFill/>
          <a:ln/>
        </p:spPr>
        <p:txBody>
          <a:bodyPr wrap="square" rtlCol="0" anchor="ctr"/>
          <a:lstStyle/>
          <a:p>
            <a:pPr indent="0" marL="0">
              <a:buNone/>
            </a:pPr>
            <a:r>
              <a:rPr lang="en-US" sz="1200" dirty="0">
                <a:solidFill>
                  <a:srgbClr val="64748B"/>
                </a:solidFill>
              </a:rPr>
              <a:t>policysim.aws.amazon.com</a:t>
            </a:r>
            <a:endParaRPr lang="en-US" sz="1200" dirty="0"/>
          </a:p>
        </p:txBody>
      </p:sp>
      <p:sp>
        <p:nvSpPr>
          <p:cNvPr id="12" name="Shape 10"/>
          <p:cNvSpPr/>
          <p:nvPr/>
        </p:nvSpPr>
        <p:spPr>
          <a:xfrm>
            <a:off x="457200" y="3611880"/>
            <a:ext cx="8229600" cy="685800"/>
          </a:xfrm>
          <a:prstGeom prst="roundRect">
            <a:avLst/>
          </a:prstGeom>
          <a:solidFill>
            <a:srgbClr val="DBEAFE"/>
          </a:solidFill>
          <a:ln/>
        </p:spPr>
      </p:sp>
      <p:sp>
        <p:nvSpPr>
          <p:cNvPr id="13" name="Text 11"/>
          <p:cNvSpPr/>
          <p:nvPr/>
        </p:nvSpPr>
        <p:spPr>
          <a:xfrm>
            <a:off x="640080" y="3703320"/>
            <a:ext cx="7863840" cy="320040"/>
          </a:xfrm>
          <a:prstGeom prst="rect">
            <a:avLst/>
          </a:prstGeom>
          <a:noFill/>
          <a:ln/>
        </p:spPr>
        <p:txBody>
          <a:bodyPr wrap="square" rtlCol="0" anchor="ctr"/>
          <a:lstStyle/>
          <a:p>
            <a:pPr indent="0" marL="0">
              <a:buNone/>
            </a:pPr>
            <a:r>
              <a:rPr lang="en-US" sz="1400" b="1" dirty="0">
                <a:solidFill>
                  <a:srgbClr val="2563EB"/>
                </a:solidFill>
              </a:rPr>
              <a:t>📚 AWS Access Analyzer</a:t>
            </a:r>
            <a:endParaRPr lang="en-US" sz="1400" dirty="0"/>
          </a:p>
        </p:txBody>
      </p:sp>
      <p:sp>
        <p:nvSpPr>
          <p:cNvPr id="14" name="Text 12"/>
          <p:cNvSpPr/>
          <p:nvPr/>
        </p:nvSpPr>
        <p:spPr>
          <a:xfrm>
            <a:off x="640080" y="3995928"/>
            <a:ext cx="7863840" cy="274320"/>
          </a:xfrm>
          <a:prstGeom prst="rect">
            <a:avLst/>
          </a:prstGeom>
          <a:noFill/>
          <a:ln/>
        </p:spPr>
        <p:txBody>
          <a:bodyPr wrap="square" rtlCol="0" anchor="ctr"/>
          <a:lstStyle/>
          <a:p>
            <a:pPr indent="0" marL="0">
              <a:buNone/>
            </a:pPr>
            <a:r>
              <a:rPr lang="en-US" sz="1200" dirty="0">
                <a:solidFill>
                  <a:srgbClr val="64748B"/>
                </a:solidFill>
              </a:rPr>
              <a:t>정책 검증 도구</a:t>
            </a:r>
            <a:endParaRPr lang="en-US" sz="1200" dirty="0"/>
          </a:p>
        </p:txBody>
      </p:sp>
      <p:sp>
        <p:nvSpPr>
          <p:cNvPr id="15" name="Shape 13"/>
          <p:cNvSpPr/>
          <p:nvPr/>
        </p:nvSpPr>
        <p:spPr>
          <a:xfrm>
            <a:off x="457200" y="4434840"/>
            <a:ext cx="8229600" cy="457200"/>
          </a:xfrm>
          <a:prstGeom prst="roundRect">
            <a:avLst/>
          </a:prstGeom>
          <a:solidFill>
            <a:srgbClr val="0F172A"/>
          </a:solidFill>
          <a:ln/>
        </p:spPr>
      </p:sp>
      <p:sp>
        <p:nvSpPr>
          <p:cNvPr id="16" name="Text 14"/>
          <p:cNvSpPr/>
          <p:nvPr/>
        </p:nvSpPr>
        <p:spPr>
          <a:xfrm>
            <a:off x="640080" y="4526280"/>
            <a:ext cx="7863840" cy="274320"/>
          </a:xfrm>
          <a:prstGeom prst="rect">
            <a:avLst/>
          </a:prstGeom>
          <a:noFill/>
          <a:ln/>
        </p:spPr>
        <p:txBody>
          <a:bodyPr wrap="square" rtlCol="0" anchor="ctr"/>
          <a:lstStyle/>
          <a:p>
            <a:pPr indent="0" marL="0">
              <a:buNone/>
            </a:pPr>
            <a:r>
              <a:rPr lang="en-US" sz="1200" b="1" dirty="0">
                <a:solidFill>
                  <a:srgbClr val="FFFFFF"/>
                </a:solidFill>
              </a:rPr>
              <a:t>새 정책 작성 시 반드시 공식 문서에서 해당 Action이 지원하는 조건키를 확인하세요!</a:t>
            </a:r>
            <a:endParaRPr lang="en-US" sz="1200" dirty="0"/>
          </a:p>
        </p:txBody>
      </p:sp>
      <p:sp>
        <p:nvSpPr>
          <p:cNvPr id="17" name="Text 15"/>
          <p:cNvSpPr/>
          <p:nvPr/>
        </p:nvSpPr>
        <p:spPr>
          <a:xfrm>
            <a:off x="6583680" y="4754880"/>
            <a:ext cx="2377440" cy="274320"/>
          </a:xfrm>
          <a:prstGeom prst="rect">
            <a:avLst/>
          </a:prstGeom>
          <a:noFill/>
          <a:ln/>
        </p:spPr>
        <p:txBody>
          <a:bodyPr wrap="square" rtlCol="0" anchor="ctr"/>
          <a:lstStyle/>
          <a:p>
            <a:pPr algn="r" indent="0" marL="0">
              <a:buNone/>
            </a:pPr>
            <a:r>
              <a:rPr lang="en-US" sz="900" dirty="0">
                <a:solidFill>
                  <a:srgbClr val="94A3B8"/>
                </a:solidFill>
              </a:rPr>
              <a:t>AWS IAM Policy Management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IAM 정책 관리 방법</dc:title>
  <dc:subject>IAM Policy Management</dc:subject>
  <dc:creator>NXT Cloud</dc:creator>
  <cp:lastModifiedBy>NXT Cloud</cp:lastModifiedBy>
  <cp:revision>1</cp:revision>
  <dcterms:created xsi:type="dcterms:W3CDTF">2026-01-26T03:26:58Z</dcterms:created>
  <dcterms:modified xsi:type="dcterms:W3CDTF">2026-01-26T03:26:58Z</dcterms:modified>
</cp:coreProperties>
</file>